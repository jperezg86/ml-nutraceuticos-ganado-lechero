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8"/>
    <p:sldId id="259" r:id="rId9"/>
    <p:sldId id="260" r:id="rId10"/>
    <p:sldId id="261" r:id="rId11"/>
    <p:sldId id="262" r:id="rId12"/>
    <p:sldId id="263" r:id="rId13"/>
    <p:sldId id="264" r:id="rId14"/>
    <p:sldId id="265" r:id="rId15"/>
    <p:sldId id="266" r:id="rId16"/>
    <p:sldId id="267"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2749"/>
    <a:srgbClr val="001D58"/>
    <a:srgbClr val="4E8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31"/>
  </p:normalViewPr>
  <p:slideViewPr>
    <p:cSldViewPr snapToGrid="0">
      <p:cViewPr varScale="1">
        <p:scale>
          <a:sx n="97" d="100"/>
          <a:sy n="97" d="100"/>
        </p:scale>
        <p:origin x="106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74CF47-608E-5F25-6E20-EA91735009F4}"/>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0F625DF5-30D4-FE9A-8D4E-0FFFC27440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BBF70C30-C33B-67C2-DE43-5852F6DAE436}"/>
              </a:ext>
            </a:extLst>
          </p:cNvPr>
          <p:cNvSpPr>
            <a:spLocks noGrp="1"/>
          </p:cNvSpPr>
          <p:nvPr>
            <p:ph type="dt" sz="half" idx="10"/>
          </p:nvPr>
        </p:nvSpPr>
        <p:spPr/>
        <p:txBody>
          <a:bodyPr/>
          <a:lstStyle/>
          <a:p>
            <a:fld id="{FD7F9AA1-F357-BF46-95EF-53E371A093C3}" type="datetimeFigureOut">
              <a:rPr lang="es-MX" smtClean="0"/>
              <a:t>01/03/24</a:t>
            </a:fld>
            <a:endParaRPr lang="es-MX"/>
          </a:p>
        </p:txBody>
      </p:sp>
      <p:sp>
        <p:nvSpPr>
          <p:cNvPr id="5" name="Marcador de pie de página 4">
            <a:extLst>
              <a:ext uri="{FF2B5EF4-FFF2-40B4-BE49-F238E27FC236}">
                <a16:creationId xmlns:a16="http://schemas.microsoft.com/office/drawing/2014/main" id="{0EDCBD7D-7F9F-F4AA-3FC6-6A952D66AF0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9CCF645-5806-1018-4B23-8071D7ED81BD}"/>
              </a:ext>
            </a:extLst>
          </p:cNvPr>
          <p:cNvSpPr>
            <a:spLocks noGrp="1"/>
          </p:cNvSpPr>
          <p:nvPr>
            <p:ph type="sldNum" sz="quarter" idx="12"/>
          </p:nvPr>
        </p:nvSpPr>
        <p:spPr/>
        <p:txBody>
          <a:bodyPr/>
          <a:lstStyle/>
          <a:p>
            <a:fld id="{4E1E4BB6-41B3-9646-8A48-EB73997F2613}" type="slidenum">
              <a:rPr lang="es-MX" smtClean="0"/>
              <a:t>‹Nº›</a:t>
            </a:fld>
            <a:endParaRPr lang="es-MX"/>
          </a:p>
        </p:txBody>
      </p:sp>
    </p:spTree>
    <p:extLst>
      <p:ext uri="{BB962C8B-B14F-4D97-AF65-F5344CB8AC3E}">
        <p14:creationId xmlns:p14="http://schemas.microsoft.com/office/powerpoint/2010/main" val="635212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B8D588-D9B0-B412-F457-F4A58F38BEB4}"/>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27E414F-AC9D-21C9-B5DD-99DA8A6AA5C9}"/>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EE1DA5F8-EBD8-30B1-5096-F554C44B23A7}"/>
              </a:ext>
            </a:extLst>
          </p:cNvPr>
          <p:cNvSpPr>
            <a:spLocks noGrp="1"/>
          </p:cNvSpPr>
          <p:nvPr>
            <p:ph type="dt" sz="half" idx="10"/>
          </p:nvPr>
        </p:nvSpPr>
        <p:spPr/>
        <p:txBody>
          <a:bodyPr/>
          <a:lstStyle/>
          <a:p>
            <a:fld id="{FD7F9AA1-F357-BF46-95EF-53E371A093C3}" type="datetimeFigureOut">
              <a:rPr lang="es-MX" smtClean="0"/>
              <a:t>01/03/24</a:t>
            </a:fld>
            <a:endParaRPr lang="es-MX"/>
          </a:p>
        </p:txBody>
      </p:sp>
      <p:sp>
        <p:nvSpPr>
          <p:cNvPr id="5" name="Marcador de pie de página 4">
            <a:extLst>
              <a:ext uri="{FF2B5EF4-FFF2-40B4-BE49-F238E27FC236}">
                <a16:creationId xmlns:a16="http://schemas.microsoft.com/office/drawing/2014/main" id="{09ACC358-3F2B-0F5F-2356-6B4EC0C5F0C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DEB45F7-BDE0-51AB-4295-CD5B7B5710CA}"/>
              </a:ext>
            </a:extLst>
          </p:cNvPr>
          <p:cNvSpPr>
            <a:spLocks noGrp="1"/>
          </p:cNvSpPr>
          <p:nvPr>
            <p:ph type="sldNum" sz="quarter" idx="12"/>
          </p:nvPr>
        </p:nvSpPr>
        <p:spPr/>
        <p:txBody>
          <a:bodyPr/>
          <a:lstStyle/>
          <a:p>
            <a:fld id="{4E1E4BB6-41B3-9646-8A48-EB73997F2613}" type="slidenum">
              <a:rPr lang="es-MX" smtClean="0"/>
              <a:t>‹Nº›</a:t>
            </a:fld>
            <a:endParaRPr lang="es-MX"/>
          </a:p>
        </p:txBody>
      </p:sp>
    </p:spTree>
    <p:extLst>
      <p:ext uri="{BB962C8B-B14F-4D97-AF65-F5344CB8AC3E}">
        <p14:creationId xmlns:p14="http://schemas.microsoft.com/office/powerpoint/2010/main" val="3475672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A5A537-C0B0-350A-7812-E02A4A9FFA05}"/>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45D2575D-62DD-EF11-D7DF-4CA64BF5EB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188FD4D5-515C-5134-5A7C-8C70BA533294}"/>
              </a:ext>
            </a:extLst>
          </p:cNvPr>
          <p:cNvSpPr>
            <a:spLocks noGrp="1"/>
          </p:cNvSpPr>
          <p:nvPr>
            <p:ph type="dt" sz="half" idx="10"/>
          </p:nvPr>
        </p:nvSpPr>
        <p:spPr/>
        <p:txBody>
          <a:bodyPr/>
          <a:lstStyle/>
          <a:p>
            <a:fld id="{FD7F9AA1-F357-BF46-95EF-53E371A093C3}" type="datetimeFigureOut">
              <a:rPr lang="es-MX" smtClean="0"/>
              <a:t>01/03/24</a:t>
            </a:fld>
            <a:endParaRPr lang="es-MX"/>
          </a:p>
        </p:txBody>
      </p:sp>
      <p:sp>
        <p:nvSpPr>
          <p:cNvPr id="5" name="Marcador de pie de página 4">
            <a:extLst>
              <a:ext uri="{FF2B5EF4-FFF2-40B4-BE49-F238E27FC236}">
                <a16:creationId xmlns:a16="http://schemas.microsoft.com/office/drawing/2014/main" id="{F769E767-CA62-CF96-C97E-879055DAEB6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1E3B7F3-0777-BCA8-2E05-F4EC1E72C24E}"/>
              </a:ext>
            </a:extLst>
          </p:cNvPr>
          <p:cNvSpPr>
            <a:spLocks noGrp="1"/>
          </p:cNvSpPr>
          <p:nvPr>
            <p:ph type="sldNum" sz="quarter" idx="12"/>
          </p:nvPr>
        </p:nvSpPr>
        <p:spPr/>
        <p:txBody>
          <a:bodyPr/>
          <a:lstStyle/>
          <a:p>
            <a:fld id="{4E1E4BB6-41B3-9646-8A48-EB73997F2613}" type="slidenum">
              <a:rPr lang="es-MX" smtClean="0"/>
              <a:t>‹Nº›</a:t>
            </a:fld>
            <a:endParaRPr lang="es-MX"/>
          </a:p>
        </p:txBody>
      </p:sp>
    </p:spTree>
    <p:extLst>
      <p:ext uri="{BB962C8B-B14F-4D97-AF65-F5344CB8AC3E}">
        <p14:creationId xmlns:p14="http://schemas.microsoft.com/office/powerpoint/2010/main" val="2455936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20AD64-296A-672A-56C1-1CC2430DDAB1}"/>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2BC8C44-7E09-D9B1-70E1-5D53DFFDE4AE}"/>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D9D21F0B-8701-5C36-753D-258BC5D8CF57}"/>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4F2304F7-F770-43A1-976C-BC2AF497902E}"/>
              </a:ext>
            </a:extLst>
          </p:cNvPr>
          <p:cNvSpPr>
            <a:spLocks noGrp="1"/>
          </p:cNvSpPr>
          <p:nvPr>
            <p:ph type="dt" sz="half" idx="10"/>
          </p:nvPr>
        </p:nvSpPr>
        <p:spPr/>
        <p:txBody>
          <a:bodyPr/>
          <a:lstStyle/>
          <a:p>
            <a:fld id="{FD7F9AA1-F357-BF46-95EF-53E371A093C3}" type="datetimeFigureOut">
              <a:rPr lang="es-MX" smtClean="0"/>
              <a:t>01/03/24</a:t>
            </a:fld>
            <a:endParaRPr lang="es-MX"/>
          </a:p>
        </p:txBody>
      </p:sp>
      <p:sp>
        <p:nvSpPr>
          <p:cNvPr id="6" name="Marcador de pie de página 5">
            <a:extLst>
              <a:ext uri="{FF2B5EF4-FFF2-40B4-BE49-F238E27FC236}">
                <a16:creationId xmlns:a16="http://schemas.microsoft.com/office/drawing/2014/main" id="{7FE217DA-0961-CED4-4586-01CC12F9FBF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ED8C7A6-0071-D420-0C60-A830BB4740DC}"/>
              </a:ext>
            </a:extLst>
          </p:cNvPr>
          <p:cNvSpPr>
            <a:spLocks noGrp="1"/>
          </p:cNvSpPr>
          <p:nvPr>
            <p:ph type="sldNum" sz="quarter" idx="12"/>
          </p:nvPr>
        </p:nvSpPr>
        <p:spPr/>
        <p:txBody>
          <a:bodyPr/>
          <a:lstStyle/>
          <a:p>
            <a:fld id="{4E1E4BB6-41B3-9646-8A48-EB73997F2613}" type="slidenum">
              <a:rPr lang="es-MX" smtClean="0"/>
              <a:t>‹Nº›</a:t>
            </a:fld>
            <a:endParaRPr lang="es-MX"/>
          </a:p>
        </p:txBody>
      </p:sp>
    </p:spTree>
    <p:extLst>
      <p:ext uri="{BB962C8B-B14F-4D97-AF65-F5344CB8AC3E}">
        <p14:creationId xmlns:p14="http://schemas.microsoft.com/office/powerpoint/2010/main" val="195193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27DC3C-BFAB-B70C-B805-0CBB2ED90CE7}"/>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833FAEF9-9345-E078-3E1D-D2D1DD9144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AB20BF20-BB01-B7F5-E4FE-B97E4F2EF36B}"/>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6F54399E-0FA3-71DC-927F-FAE1D8441C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B0476D49-7B53-06DC-0BC7-0D4F671C6919}"/>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E6E0C5B0-1DDC-3B6E-3BB4-569BB996A2AE}"/>
              </a:ext>
            </a:extLst>
          </p:cNvPr>
          <p:cNvSpPr>
            <a:spLocks noGrp="1"/>
          </p:cNvSpPr>
          <p:nvPr>
            <p:ph type="dt" sz="half" idx="10"/>
          </p:nvPr>
        </p:nvSpPr>
        <p:spPr/>
        <p:txBody>
          <a:bodyPr/>
          <a:lstStyle/>
          <a:p>
            <a:fld id="{FD7F9AA1-F357-BF46-95EF-53E371A093C3}" type="datetimeFigureOut">
              <a:rPr lang="es-MX" smtClean="0"/>
              <a:t>01/03/24</a:t>
            </a:fld>
            <a:endParaRPr lang="es-MX"/>
          </a:p>
        </p:txBody>
      </p:sp>
      <p:sp>
        <p:nvSpPr>
          <p:cNvPr id="8" name="Marcador de pie de página 7">
            <a:extLst>
              <a:ext uri="{FF2B5EF4-FFF2-40B4-BE49-F238E27FC236}">
                <a16:creationId xmlns:a16="http://schemas.microsoft.com/office/drawing/2014/main" id="{9A3E4A57-3B21-FC26-4111-80EE4497D802}"/>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B248243A-03F4-4065-228A-334843E640FA}"/>
              </a:ext>
            </a:extLst>
          </p:cNvPr>
          <p:cNvSpPr>
            <a:spLocks noGrp="1"/>
          </p:cNvSpPr>
          <p:nvPr>
            <p:ph type="sldNum" sz="quarter" idx="12"/>
          </p:nvPr>
        </p:nvSpPr>
        <p:spPr/>
        <p:txBody>
          <a:bodyPr/>
          <a:lstStyle/>
          <a:p>
            <a:fld id="{4E1E4BB6-41B3-9646-8A48-EB73997F2613}" type="slidenum">
              <a:rPr lang="es-MX" smtClean="0"/>
              <a:t>‹Nº›</a:t>
            </a:fld>
            <a:endParaRPr lang="es-MX"/>
          </a:p>
        </p:txBody>
      </p:sp>
    </p:spTree>
    <p:extLst>
      <p:ext uri="{BB962C8B-B14F-4D97-AF65-F5344CB8AC3E}">
        <p14:creationId xmlns:p14="http://schemas.microsoft.com/office/powerpoint/2010/main" val="3171118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37B4F6-4804-0AC5-0277-5825368FF609}"/>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CB44A091-7D78-AD9C-AB51-5C65566550B0}"/>
              </a:ext>
            </a:extLst>
          </p:cNvPr>
          <p:cNvSpPr>
            <a:spLocks noGrp="1"/>
          </p:cNvSpPr>
          <p:nvPr>
            <p:ph type="dt" sz="half" idx="10"/>
          </p:nvPr>
        </p:nvSpPr>
        <p:spPr/>
        <p:txBody>
          <a:bodyPr/>
          <a:lstStyle/>
          <a:p>
            <a:fld id="{FD7F9AA1-F357-BF46-95EF-53E371A093C3}" type="datetimeFigureOut">
              <a:rPr lang="es-MX" smtClean="0"/>
              <a:t>01/03/24</a:t>
            </a:fld>
            <a:endParaRPr lang="es-MX"/>
          </a:p>
        </p:txBody>
      </p:sp>
      <p:sp>
        <p:nvSpPr>
          <p:cNvPr id="4" name="Marcador de pie de página 3">
            <a:extLst>
              <a:ext uri="{FF2B5EF4-FFF2-40B4-BE49-F238E27FC236}">
                <a16:creationId xmlns:a16="http://schemas.microsoft.com/office/drawing/2014/main" id="{D73A245F-2E42-8120-C4C2-4C63B8A43E84}"/>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C8B13F97-6ECE-1A56-35ED-CE91807D2C2A}"/>
              </a:ext>
            </a:extLst>
          </p:cNvPr>
          <p:cNvSpPr>
            <a:spLocks noGrp="1"/>
          </p:cNvSpPr>
          <p:nvPr>
            <p:ph type="sldNum" sz="quarter" idx="12"/>
          </p:nvPr>
        </p:nvSpPr>
        <p:spPr/>
        <p:txBody>
          <a:bodyPr/>
          <a:lstStyle/>
          <a:p>
            <a:fld id="{4E1E4BB6-41B3-9646-8A48-EB73997F2613}" type="slidenum">
              <a:rPr lang="es-MX" smtClean="0"/>
              <a:t>‹Nº›</a:t>
            </a:fld>
            <a:endParaRPr lang="es-MX"/>
          </a:p>
        </p:txBody>
      </p:sp>
    </p:spTree>
    <p:extLst>
      <p:ext uri="{BB962C8B-B14F-4D97-AF65-F5344CB8AC3E}">
        <p14:creationId xmlns:p14="http://schemas.microsoft.com/office/powerpoint/2010/main" val="2573866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3C71E69-55A7-AEE1-CDB1-390715E294D8}"/>
              </a:ext>
            </a:extLst>
          </p:cNvPr>
          <p:cNvSpPr>
            <a:spLocks noGrp="1"/>
          </p:cNvSpPr>
          <p:nvPr>
            <p:ph type="dt" sz="half" idx="10"/>
          </p:nvPr>
        </p:nvSpPr>
        <p:spPr/>
        <p:txBody>
          <a:bodyPr/>
          <a:lstStyle/>
          <a:p>
            <a:fld id="{FD7F9AA1-F357-BF46-95EF-53E371A093C3}" type="datetimeFigureOut">
              <a:rPr lang="es-MX" smtClean="0"/>
              <a:t>01/03/24</a:t>
            </a:fld>
            <a:endParaRPr lang="es-MX"/>
          </a:p>
        </p:txBody>
      </p:sp>
      <p:sp>
        <p:nvSpPr>
          <p:cNvPr id="3" name="Marcador de pie de página 2">
            <a:extLst>
              <a:ext uri="{FF2B5EF4-FFF2-40B4-BE49-F238E27FC236}">
                <a16:creationId xmlns:a16="http://schemas.microsoft.com/office/drawing/2014/main" id="{168643FE-33A0-3986-8AE7-9E37CFF7D587}"/>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BD239A9A-B675-B885-8009-A5A8BF2F544A}"/>
              </a:ext>
            </a:extLst>
          </p:cNvPr>
          <p:cNvSpPr>
            <a:spLocks noGrp="1"/>
          </p:cNvSpPr>
          <p:nvPr>
            <p:ph type="sldNum" sz="quarter" idx="12"/>
          </p:nvPr>
        </p:nvSpPr>
        <p:spPr/>
        <p:txBody>
          <a:bodyPr/>
          <a:lstStyle/>
          <a:p>
            <a:fld id="{4E1E4BB6-41B3-9646-8A48-EB73997F2613}" type="slidenum">
              <a:rPr lang="es-MX" smtClean="0"/>
              <a:t>‹Nº›</a:t>
            </a:fld>
            <a:endParaRPr lang="es-MX"/>
          </a:p>
        </p:txBody>
      </p:sp>
    </p:spTree>
    <p:extLst>
      <p:ext uri="{BB962C8B-B14F-4D97-AF65-F5344CB8AC3E}">
        <p14:creationId xmlns:p14="http://schemas.microsoft.com/office/powerpoint/2010/main" val="2449684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1C086D-E7B6-6EA6-86E0-AAF1A7AE87B1}"/>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4398CF7A-9625-E28B-205B-E6DBA4CF24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2A68AA42-85EC-DFF5-B282-8265D3B321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AD9E9704-A979-2A19-60F7-F9B931B49FE5}"/>
              </a:ext>
            </a:extLst>
          </p:cNvPr>
          <p:cNvSpPr>
            <a:spLocks noGrp="1"/>
          </p:cNvSpPr>
          <p:nvPr>
            <p:ph type="dt" sz="half" idx="10"/>
          </p:nvPr>
        </p:nvSpPr>
        <p:spPr/>
        <p:txBody>
          <a:bodyPr/>
          <a:lstStyle/>
          <a:p>
            <a:fld id="{FD7F9AA1-F357-BF46-95EF-53E371A093C3}" type="datetimeFigureOut">
              <a:rPr lang="es-MX" smtClean="0"/>
              <a:t>01/03/24</a:t>
            </a:fld>
            <a:endParaRPr lang="es-MX"/>
          </a:p>
        </p:txBody>
      </p:sp>
      <p:sp>
        <p:nvSpPr>
          <p:cNvPr id="6" name="Marcador de pie de página 5">
            <a:extLst>
              <a:ext uri="{FF2B5EF4-FFF2-40B4-BE49-F238E27FC236}">
                <a16:creationId xmlns:a16="http://schemas.microsoft.com/office/drawing/2014/main" id="{5AD8268D-1FFE-4DCA-2B55-8DAA8056B95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075C3B4-FFD4-F7BC-C1D6-A683AAB5B095}"/>
              </a:ext>
            </a:extLst>
          </p:cNvPr>
          <p:cNvSpPr>
            <a:spLocks noGrp="1"/>
          </p:cNvSpPr>
          <p:nvPr>
            <p:ph type="sldNum" sz="quarter" idx="12"/>
          </p:nvPr>
        </p:nvSpPr>
        <p:spPr/>
        <p:txBody>
          <a:bodyPr/>
          <a:lstStyle/>
          <a:p>
            <a:fld id="{4E1E4BB6-41B3-9646-8A48-EB73997F2613}" type="slidenum">
              <a:rPr lang="es-MX" smtClean="0"/>
              <a:t>‹Nº›</a:t>
            </a:fld>
            <a:endParaRPr lang="es-MX"/>
          </a:p>
        </p:txBody>
      </p:sp>
    </p:spTree>
    <p:extLst>
      <p:ext uri="{BB962C8B-B14F-4D97-AF65-F5344CB8AC3E}">
        <p14:creationId xmlns:p14="http://schemas.microsoft.com/office/powerpoint/2010/main" val="1515369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9D2678-B95F-3208-E583-7758DA8B57D7}"/>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2F4270E7-845C-1E45-35D1-D5D657DA39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563DDE70-99A0-B3AB-7D3B-096573FC8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66F50AF6-9E1C-5376-C51E-8A1AF3A80386}"/>
              </a:ext>
            </a:extLst>
          </p:cNvPr>
          <p:cNvSpPr>
            <a:spLocks noGrp="1"/>
          </p:cNvSpPr>
          <p:nvPr>
            <p:ph type="dt" sz="half" idx="10"/>
          </p:nvPr>
        </p:nvSpPr>
        <p:spPr/>
        <p:txBody>
          <a:bodyPr/>
          <a:lstStyle/>
          <a:p>
            <a:fld id="{FD7F9AA1-F357-BF46-95EF-53E371A093C3}" type="datetimeFigureOut">
              <a:rPr lang="es-MX" smtClean="0"/>
              <a:t>01/03/24</a:t>
            </a:fld>
            <a:endParaRPr lang="es-MX"/>
          </a:p>
        </p:txBody>
      </p:sp>
      <p:sp>
        <p:nvSpPr>
          <p:cNvPr id="6" name="Marcador de pie de página 5">
            <a:extLst>
              <a:ext uri="{FF2B5EF4-FFF2-40B4-BE49-F238E27FC236}">
                <a16:creationId xmlns:a16="http://schemas.microsoft.com/office/drawing/2014/main" id="{7CD1454F-E41D-B214-12EA-BAAFD453F18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9C8B18C-EE04-5617-1D26-542367414FB0}"/>
              </a:ext>
            </a:extLst>
          </p:cNvPr>
          <p:cNvSpPr>
            <a:spLocks noGrp="1"/>
          </p:cNvSpPr>
          <p:nvPr>
            <p:ph type="sldNum" sz="quarter" idx="12"/>
          </p:nvPr>
        </p:nvSpPr>
        <p:spPr/>
        <p:txBody>
          <a:bodyPr/>
          <a:lstStyle/>
          <a:p>
            <a:fld id="{4E1E4BB6-41B3-9646-8A48-EB73997F2613}" type="slidenum">
              <a:rPr lang="es-MX" smtClean="0"/>
              <a:t>‹Nº›</a:t>
            </a:fld>
            <a:endParaRPr lang="es-MX"/>
          </a:p>
        </p:txBody>
      </p:sp>
    </p:spTree>
    <p:extLst>
      <p:ext uri="{BB962C8B-B14F-4D97-AF65-F5344CB8AC3E}">
        <p14:creationId xmlns:p14="http://schemas.microsoft.com/office/powerpoint/2010/main" val="2360456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08565C-34CD-98FE-ADB1-105F50AF3EDD}"/>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3908ACB9-819E-9490-78E2-0D48043D90D5}"/>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1024E33B-C135-85B4-FB67-47A83B370AA1}"/>
              </a:ext>
            </a:extLst>
          </p:cNvPr>
          <p:cNvSpPr>
            <a:spLocks noGrp="1"/>
          </p:cNvSpPr>
          <p:nvPr>
            <p:ph type="dt" sz="half" idx="10"/>
          </p:nvPr>
        </p:nvSpPr>
        <p:spPr/>
        <p:txBody>
          <a:bodyPr/>
          <a:lstStyle/>
          <a:p>
            <a:fld id="{FD7F9AA1-F357-BF46-95EF-53E371A093C3}" type="datetimeFigureOut">
              <a:rPr lang="es-MX" smtClean="0"/>
              <a:t>01/03/24</a:t>
            </a:fld>
            <a:endParaRPr lang="es-MX"/>
          </a:p>
        </p:txBody>
      </p:sp>
      <p:sp>
        <p:nvSpPr>
          <p:cNvPr id="5" name="Marcador de pie de página 4">
            <a:extLst>
              <a:ext uri="{FF2B5EF4-FFF2-40B4-BE49-F238E27FC236}">
                <a16:creationId xmlns:a16="http://schemas.microsoft.com/office/drawing/2014/main" id="{D5B01031-6DB9-4E35-7B63-FD5E837869E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7722D5B-33D5-F2B6-9D62-D07748647537}"/>
              </a:ext>
            </a:extLst>
          </p:cNvPr>
          <p:cNvSpPr>
            <a:spLocks noGrp="1"/>
          </p:cNvSpPr>
          <p:nvPr>
            <p:ph type="sldNum" sz="quarter" idx="12"/>
          </p:nvPr>
        </p:nvSpPr>
        <p:spPr/>
        <p:txBody>
          <a:bodyPr/>
          <a:lstStyle/>
          <a:p>
            <a:fld id="{4E1E4BB6-41B3-9646-8A48-EB73997F2613}" type="slidenum">
              <a:rPr lang="es-MX" smtClean="0"/>
              <a:t>‹Nº›</a:t>
            </a:fld>
            <a:endParaRPr lang="es-MX"/>
          </a:p>
        </p:txBody>
      </p:sp>
    </p:spTree>
    <p:extLst>
      <p:ext uri="{BB962C8B-B14F-4D97-AF65-F5344CB8AC3E}">
        <p14:creationId xmlns:p14="http://schemas.microsoft.com/office/powerpoint/2010/main" val="1030555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7349E02-8A63-7044-1D65-2841CBB1598F}"/>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ABDD260B-06B9-D483-A93A-938B63B43784}"/>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F0639EAA-2AFB-ED99-929D-A5D2F3C35A78}"/>
              </a:ext>
            </a:extLst>
          </p:cNvPr>
          <p:cNvSpPr>
            <a:spLocks noGrp="1"/>
          </p:cNvSpPr>
          <p:nvPr>
            <p:ph type="dt" sz="half" idx="10"/>
          </p:nvPr>
        </p:nvSpPr>
        <p:spPr/>
        <p:txBody>
          <a:bodyPr/>
          <a:lstStyle/>
          <a:p>
            <a:fld id="{FD7F9AA1-F357-BF46-95EF-53E371A093C3}" type="datetimeFigureOut">
              <a:rPr lang="es-MX" smtClean="0"/>
              <a:t>01/03/24</a:t>
            </a:fld>
            <a:endParaRPr lang="es-MX"/>
          </a:p>
        </p:txBody>
      </p:sp>
      <p:sp>
        <p:nvSpPr>
          <p:cNvPr id="5" name="Marcador de pie de página 4">
            <a:extLst>
              <a:ext uri="{FF2B5EF4-FFF2-40B4-BE49-F238E27FC236}">
                <a16:creationId xmlns:a16="http://schemas.microsoft.com/office/drawing/2014/main" id="{0D897D25-8A4E-9D48-356B-AB80FD6EDCD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12B0827-8CB4-4285-61DF-3ACD1CB3F9F8}"/>
              </a:ext>
            </a:extLst>
          </p:cNvPr>
          <p:cNvSpPr>
            <a:spLocks noGrp="1"/>
          </p:cNvSpPr>
          <p:nvPr>
            <p:ph type="sldNum" sz="quarter" idx="12"/>
          </p:nvPr>
        </p:nvSpPr>
        <p:spPr/>
        <p:txBody>
          <a:bodyPr/>
          <a:lstStyle/>
          <a:p>
            <a:fld id="{4E1E4BB6-41B3-9646-8A48-EB73997F2613}" type="slidenum">
              <a:rPr lang="es-MX" smtClean="0"/>
              <a:t>‹Nº›</a:t>
            </a:fld>
            <a:endParaRPr lang="es-MX"/>
          </a:p>
        </p:txBody>
      </p:sp>
    </p:spTree>
    <p:extLst>
      <p:ext uri="{BB962C8B-B14F-4D97-AF65-F5344CB8AC3E}">
        <p14:creationId xmlns:p14="http://schemas.microsoft.com/office/powerpoint/2010/main" val="13054250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756A2BD-0544-C92C-9965-42C4DEB4C5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4A99DF32-90A6-9F9C-995D-C39FC4A2A0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980FFEC8-E387-642C-0AB0-D8E23A9E2B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7F9AA1-F357-BF46-95EF-53E371A093C3}" type="datetimeFigureOut">
              <a:rPr lang="es-MX" smtClean="0"/>
              <a:t>01/03/24</a:t>
            </a:fld>
            <a:endParaRPr lang="es-MX"/>
          </a:p>
        </p:txBody>
      </p:sp>
      <p:sp>
        <p:nvSpPr>
          <p:cNvPr id="5" name="Marcador de pie de página 4">
            <a:extLst>
              <a:ext uri="{FF2B5EF4-FFF2-40B4-BE49-F238E27FC236}">
                <a16:creationId xmlns:a16="http://schemas.microsoft.com/office/drawing/2014/main" id="{71D41DA5-B154-A5ED-83CB-2884230FF1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E2B546F6-DF00-779C-B405-C1A4E37A1C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1E4BB6-41B3-9646-8A48-EB73997F2613}" type="slidenum">
              <a:rPr lang="es-MX" smtClean="0"/>
              <a:t>‹Nº›</a:t>
            </a:fld>
            <a:endParaRPr lang="es-MX"/>
          </a:p>
        </p:txBody>
      </p:sp>
    </p:spTree>
    <p:extLst>
      <p:ext uri="{BB962C8B-B14F-4D97-AF65-F5344CB8AC3E}">
        <p14:creationId xmlns:p14="http://schemas.microsoft.com/office/powerpoint/2010/main" val="505943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9871FD-6892-EE65-A61F-660AD52CAD6E}"/>
              </a:ext>
            </a:extLst>
          </p:cNvPr>
          <p:cNvSpPr>
            <a:spLocks noGrp="1"/>
          </p:cNvSpPr>
          <p:nvPr>
            <p:ph type="ctrTitle"/>
          </p:nvPr>
        </p:nvSpPr>
        <p:spPr>
          <a:xfrm>
            <a:off x="1524000" y="221818"/>
            <a:ext cx="9144000" cy="2387600"/>
          </a:xfrm>
        </p:spPr>
        <p:txBody>
          <a:bodyPr>
            <a:normAutofit/>
          </a:bodyPr>
          <a:lstStyle/>
          <a:p>
            <a:pPr>
              <a:lnSpc>
                <a:spcPct val="100000"/>
              </a:lnSpc>
              <a:spcAft>
                <a:spcPts val="1200"/>
              </a:spcAft>
            </a:pPr>
            <a:r>
              <a:rPr lang="es-MX" sz="2800" dirty="0">
                <a:latin typeface="Century Gothic" panose="020B0502020202020204" pitchFamily="34" charset="0"/>
              </a:rPr>
              <a:t>Optimizacion de Nutraceuticos en Ganado Lechero</a:t>
            </a:r>
            <a:br>
              <a:rPr lang="es-MX" sz="2800" dirty="0">
                <a:latin typeface="Century Gothic" panose="020B0502020202020204" pitchFamily="34" charset="0"/>
              </a:rPr>
            </a:br>
            <a:r>
              <a:rPr lang="es-MX" sz="2000" dirty="0">
                <a:latin typeface="Gellix" pitchFamily="2" charset="77"/>
              </a:rPr>
              <a:t>Tecnologico de Monterrey</a:t>
            </a:r>
            <a:endParaRPr lang="es-MX" sz="2000" dirty="0">
              <a:latin typeface="Century Gothic" panose="020B0502020202020204" pitchFamily="34" charset="0"/>
            </a:endParaRPr>
          </a:p>
        </p:txBody>
      </p:sp>
      <p:sp>
        <p:nvSpPr>
          <p:cNvPr id="3" name="Subtítulo 2">
            <a:extLst>
              <a:ext uri="{FF2B5EF4-FFF2-40B4-BE49-F238E27FC236}">
                <a16:creationId xmlns:a16="http://schemas.microsoft.com/office/drawing/2014/main" id="{6477E962-0DC9-2DBB-100A-EDF92E708ADE}"/>
              </a:ext>
            </a:extLst>
          </p:cNvPr>
          <p:cNvSpPr>
            <a:spLocks noGrp="1"/>
          </p:cNvSpPr>
          <p:nvPr>
            <p:ph type="subTitle" idx="1"/>
          </p:nvPr>
        </p:nvSpPr>
        <p:spPr>
          <a:xfrm>
            <a:off x="1524000" y="2953283"/>
            <a:ext cx="9144000" cy="3934690"/>
          </a:xfrm>
        </p:spPr>
        <p:txBody>
          <a:bodyPr>
            <a:normAutofit/>
          </a:bodyPr>
          <a:lstStyle/>
          <a:p>
            <a:pPr algn="l"/>
            <a:endParaRPr lang="es-MX" sz="2000" dirty="0">
              <a:latin typeface="Gellix" pitchFamily="2" charset="77"/>
            </a:endParaRPr>
          </a:p>
          <a:p>
            <a:pPr algn="l"/>
            <a:r>
              <a:rPr lang="es-MX" sz="2000" dirty="0">
                <a:latin typeface="Gellix" pitchFamily="2" charset="77"/>
              </a:rPr>
              <a:t>Presenta(n):</a:t>
            </a:r>
          </a:p>
          <a:p>
            <a:pPr marL="800100" lvl="1" indent="-342900" algn="l">
              <a:buFont typeface="Arial" panose="020B0604020202020204" pitchFamily="34" charset="0"/>
              <a:buChar char="•"/>
            </a:pPr>
            <a:r>
              <a:rPr lang="es-MX" sz="1800" dirty="0">
                <a:latin typeface="Avenir Next Condensed" panose="020B0506020202020204" pitchFamily="34" charset="0"/>
              </a:rPr>
              <a:t>Equipo 48</a:t>
            </a:r>
          </a:p>
          <a:p>
            <a:pPr marL="800100" lvl="1" indent="-342900" algn="l">
              <a:buFont typeface="Arial" panose="020B0604020202020204" pitchFamily="34" charset="0"/>
              <a:buChar char="•"/>
            </a:pPr>
            <a:r>
              <a:rPr lang="es-MX" sz="1800" dirty="0">
                <a:latin typeface="Avenir Next Condensed" panose="020B0506020202020204" pitchFamily="34" charset="0"/>
              </a:rPr>
              <a:t/>
            </a:r>
          </a:p>
          <a:p>
            <a:pPr marL="800100" lvl="1" indent="-342900" algn="l">
              <a:buFont typeface="Arial" panose="020B0604020202020204" pitchFamily="34" charset="0"/>
              <a:buChar char="•"/>
            </a:pPr>
            <a:r>
              <a:rPr lang="es-MX" sz="1800" dirty="0">
                <a:latin typeface="Avenir Next Condensed" panose="020B0506020202020204" pitchFamily="34" charset="0"/>
              </a:rPr>
              <a:t/>
            </a:r>
          </a:p>
          <a:p>
            <a:pPr algn="l"/>
            <a:endParaRPr lang="es-MX" sz="2000" dirty="0">
              <a:latin typeface="Gellix" pitchFamily="2" charset="77"/>
            </a:endParaRPr>
          </a:p>
          <a:p>
            <a:pPr algn="l"/>
            <a:r>
              <a:rPr lang="es-MX" sz="2000" dirty="0">
                <a:latin typeface="Gellix" pitchFamily="2" charset="77"/>
              </a:rPr>
              <a:t>Asesor: </a:t>
            </a:r>
            <a:r>
              <a:rPr lang="es-MX" sz="2000" dirty="0">
                <a:latin typeface="Avenir Next Condensed" panose="020B0506020202020204" pitchFamily="34" charset="0"/>
              </a:rPr>
              <a:t>Nombre del Asesor</a:t>
            </a:r>
          </a:p>
          <a:p>
            <a:pPr algn="l"/>
            <a:r>
              <a:rPr lang="es-MX" sz="2000" dirty="0">
                <a:latin typeface="Gellix" pitchFamily="2" charset="77"/>
              </a:rPr>
              <a:t>Patrocinador(es): </a:t>
            </a:r>
            <a:r>
              <a:rPr lang="es-MX" sz="2000" dirty="0">
                <a:latin typeface="Avenir Next Condensed" panose="020B0506020202020204" pitchFamily="34" charset="0"/>
              </a:rPr>
              <a:t>Tecnologico de Monterrey</a:t>
            </a:r>
          </a:p>
          <a:p>
            <a:endParaRPr lang="es-MX" dirty="0"/>
          </a:p>
        </p:txBody>
      </p:sp>
      <p:pic>
        <p:nvPicPr>
          <p:cNvPr id="12" name="Imagen 11">
            <a:extLst>
              <a:ext uri="{FF2B5EF4-FFF2-40B4-BE49-F238E27FC236}">
                <a16:creationId xmlns:a16="http://schemas.microsoft.com/office/drawing/2014/main" id="{8331023E-4CB4-82E2-087A-FA103E758997}"/>
              </a:ext>
            </a:extLst>
          </p:cNvPr>
          <p:cNvPicPr>
            <a:picLocks noChangeAspect="1"/>
          </p:cNvPicPr>
          <p:nvPr/>
        </p:nvPicPr>
        <p:blipFill>
          <a:blip r:embed="rId2"/>
          <a:stretch>
            <a:fillRect/>
          </a:stretch>
        </p:blipFill>
        <p:spPr>
          <a:xfrm>
            <a:off x="877047" y="0"/>
            <a:ext cx="3606800" cy="1020460"/>
          </a:xfrm>
          <a:prstGeom prst="rect">
            <a:avLst/>
          </a:prstGeom>
        </p:spPr>
      </p:pic>
      <p:grpSp>
        <p:nvGrpSpPr>
          <p:cNvPr id="13" name="Grupo 12">
            <a:extLst>
              <a:ext uri="{FF2B5EF4-FFF2-40B4-BE49-F238E27FC236}">
                <a16:creationId xmlns:a16="http://schemas.microsoft.com/office/drawing/2014/main" id="{01127A1B-88DA-9A03-2675-463791875510}"/>
              </a:ext>
            </a:extLst>
          </p:cNvPr>
          <p:cNvGrpSpPr/>
          <p:nvPr/>
        </p:nvGrpSpPr>
        <p:grpSpPr>
          <a:xfrm rot="5400000">
            <a:off x="-3171598" y="3164288"/>
            <a:ext cx="6983895" cy="655320"/>
            <a:chOff x="703525" y="2152230"/>
            <a:chExt cx="10523975" cy="847409"/>
          </a:xfrm>
        </p:grpSpPr>
        <p:sp>
          <p:nvSpPr>
            <p:cNvPr id="14" name="Rectángulo 13">
              <a:extLst>
                <a:ext uri="{FF2B5EF4-FFF2-40B4-BE49-F238E27FC236}">
                  <a16:creationId xmlns:a16="http://schemas.microsoft.com/office/drawing/2014/main" id="{DDAB67E3-160D-D5B9-0294-3EAD0B8EB2DF}"/>
                </a:ext>
              </a:extLst>
            </p:cNvPr>
            <p:cNvSpPr/>
            <p:nvPr/>
          </p:nvSpPr>
          <p:spPr>
            <a:xfrm>
              <a:off x="703525" y="2152232"/>
              <a:ext cx="10523975" cy="847400"/>
            </a:xfrm>
            <a:prstGeom prst="rect">
              <a:avLst/>
            </a:prstGeom>
            <a:no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nvGrpSpPr>
            <p:cNvPr id="15" name="Grupo 14">
              <a:extLst>
                <a:ext uri="{FF2B5EF4-FFF2-40B4-BE49-F238E27FC236}">
                  <a16:creationId xmlns:a16="http://schemas.microsoft.com/office/drawing/2014/main" id="{49068DCE-588D-03E6-7DB9-66EF7942DECC}"/>
                </a:ext>
              </a:extLst>
            </p:cNvPr>
            <p:cNvGrpSpPr/>
            <p:nvPr/>
          </p:nvGrpSpPr>
          <p:grpSpPr>
            <a:xfrm>
              <a:off x="703525" y="2152230"/>
              <a:ext cx="10412414" cy="847409"/>
              <a:chOff x="703525" y="2152450"/>
              <a:chExt cx="10412414" cy="1423500"/>
            </a:xfrm>
          </p:grpSpPr>
          <p:sp>
            <p:nvSpPr>
              <p:cNvPr id="16" name="Rectángulo 15">
                <a:extLst>
                  <a:ext uri="{FF2B5EF4-FFF2-40B4-BE49-F238E27FC236}">
                    <a16:creationId xmlns:a16="http://schemas.microsoft.com/office/drawing/2014/main" id="{5E10BFA8-612A-10A1-6323-6078458470B0}"/>
                  </a:ext>
                </a:extLst>
              </p:cNvPr>
              <p:cNvSpPr/>
              <p:nvPr/>
            </p:nvSpPr>
            <p:spPr>
              <a:xfrm>
                <a:off x="3657601" y="2152450"/>
                <a:ext cx="7458338" cy="1418699"/>
              </a:xfrm>
              <a:prstGeom prst="rect">
                <a:avLst/>
              </a:prstGeom>
              <a:solidFill>
                <a:srgbClr val="161E44"/>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18" name="Rectángulo 17">
                <a:extLst>
                  <a:ext uri="{FF2B5EF4-FFF2-40B4-BE49-F238E27FC236}">
                    <a16:creationId xmlns:a16="http://schemas.microsoft.com/office/drawing/2014/main" id="{91E05268-686A-7900-E5CF-E35C35042577}"/>
                  </a:ext>
                </a:extLst>
              </p:cNvPr>
              <p:cNvSpPr/>
              <p:nvPr/>
            </p:nvSpPr>
            <p:spPr>
              <a:xfrm>
                <a:off x="703525" y="2157250"/>
                <a:ext cx="2458800" cy="1418700"/>
              </a:xfrm>
              <a:prstGeom prst="rect">
                <a:avLst/>
              </a:prstGeom>
              <a:solidFill>
                <a:srgbClr val="D9D9D9"/>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20" name="Paralelogramo 19">
                <a:extLst>
                  <a:ext uri="{FF2B5EF4-FFF2-40B4-BE49-F238E27FC236}">
                    <a16:creationId xmlns:a16="http://schemas.microsoft.com/office/drawing/2014/main" id="{9072E59B-7ED5-0A29-D89B-C3B8F9A87E06}"/>
                  </a:ext>
                </a:extLst>
              </p:cNvPr>
              <p:cNvSpPr/>
              <p:nvPr/>
            </p:nvSpPr>
            <p:spPr>
              <a:xfrm>
                <a:off x="2860775" y="2152450"/>
                <a:ext cx="1127400" cy="1418700"/>
              </a:xfrm>
              <a:prstGeom prst="parallelogram">
                <a:avLst>
                  <a:gd name="adj" fmla="val 25000"/>
                </a:avLst>
              </a:prstGeom>
              <a:solidFill>
                <a:srgbClr val="97A72A"/>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grpSp>
      <p:sp>
        <p:nvSpPr>
          <p:cNvPr id="37" name="CuadroTexto 36">
            <a:extLst>
              <a:ext uri="{FF2B5EF4-FFF2-40B4-BE49-F238E27FC236}">
                <a16:creationId xmlns:a16="http://schemas.microsoft.com/office/drawing/2014/main" id="{B17900E0-22A9-3D21-7199-BE9A85326727}"/>
              </a:ext>
            </a:extLst>
          </p:cNvPr>
          <p:cNvSpPr txBox="1"/>
          <p:nvPr/>
        </p:nvSpPr>
        <p:spPr>
          <a:xfrm>
            <a:off x="8941677" y="129744"/>
            <a:ext cx="3148496" cy="707886"/>
          </a:xfrm>
          <a:prstGeom prst="rect">
            <a:avLst/>
          </a:prstGeom>
          <a:noFill/>
        </p:spPr>
        <p:txBody>
          <a:bodyPr wrap="square">
            <a:spAutoFit/>
          </a:bodyPr>
          <a:lstStyle/>
          <a:p>
            <a:pPr algn="ctr"/>
            <a:r>
              <a:rPr lang="es-MX" sz="2000" b="1" dirty="0">
                <a:solidFill>
                  <a:srgbClr val="1B2749"/>
                </a:solidFill>
                <a:latin typeface="Albra Regular" pitchFamily="2" charset="77"/>
              </a:rPr>
              <a:t>Maestría en Inteligencia Artificial Aplicada (MNA)</a:t>
            </a:r>
          </a:p>
        </p:txBody>
      </p:sp>
      <p:sp>
        <p:nvSpPr>
          <p:cNvPr id="41" name="CuadroTexto 40">
            <a:extLst>
              <a:ext uri="{FF2B5EF4-FFF2-40B4-BE49-F238E27FC236}">
                <a16:creationId xmlns:a16="http://schemas.microsoft.com/office/drawing/2014/main" id="{6C0D8AC7-99E5-12F3-A2A9-22FE58CA3C98}"/>
              </a:ext>
            </a:extLst>
          </p:cNvPr>
          <p:cNvSpPr txBox="1"/>
          <p:nvPr/>
        </p:nvSpPr>
        <p:spPr>
          <a:xfrm>
            <a:off x="5878687" y="6293354"/>
            <a:ext cx="6102626" cy="369332"/>
          </a:xfrm>
          <a:prstGeom prst="rect">
            <a:avLst/>
          </a:prstGeom>
          <a:noFill/>
        </p:spPr>
        <p:txBody>
          <a:bodyPr wrap="square">
            <a:spAutoFit/>
          </a:bodyPr>
          <a:lstStyle/>
          <a:p>
            <a:pPr algn="r"/>
            <a:r>
              <a:rPr lang="es-MX" sz="1800" dirty="0">
                <a:latin typeface="Avenir Next Condensed" panose="020B0506020202020204" pitchFamily="34" charset="0"/>
              </a:rPr>
              <a:t>Junio 2026</a:t>
            </a:r>
            <a:endParaRPr lang="es-MX" dirty="0"/>
          </a:p>
        </p:txBody>
      </p:sp>
      <p:sp>
        <p:nvSpPr>
          <p:cNvPr id="6" name="Rectángulo 5">
            <a:extLst>
              <a:ext uri="{FF2B5EF4-FFF2-40B4-BE49-F238E27FC236}">
                <a16:creationId xmlns:a16="http://schemas.microsoft.com/office/drawing/2014/main" id="{3E4CB87F-F06E-8B15-2DCE-249E13B733CA}"/>
              </a:ext>
            </a:extLst>
          </p:cNvPr>
          <p:cNvSpPr/>
          <p:nvPr/>
        </p:nvSpPr>
        <p:spPr>
          <a:xfrm rot="16200000">
            <a:off x="-1568328" y="4294039"/>
            <a:ext cx="3915900" cy="615678"/>
          </a:xfrm>
          <a:prstGeom prst="rect">
            <a:avLst/>
          </a:prstGeom>
          <a:noFill/>
          <a:ln>
            <a:noFill/>
          </a:ln>
        </p:spPr>
        <p:txBody>
          <a:bodyPr spcFirstLastPara="1" wrap="square" lIns="91425" tIns="91425" rIns="91425" bIns="91425" anchor="t" anchorCtr="0">
            <a:noAutofit/>
          </a:bodyPr>
          <a:lstStyle/>
          <a:p>
            <a:pPr>
              <a:lnSpc>
                <a:spcPct val="115000"/>
              </a:lnSpc>
            </a:pPr>
            <a:r>
              <a:rPr lang="es-ES" sz="1400" dirty="0">
                <a:solidFill>
                  <a:srgbClr val="FFFFFF"/>
                </a:solidFill>
                <a:effectLst/>
                <a:latin typeface="Gellix" pitchFamily="2" charset="77"/>
                <a:ea typeface="Fira Sans Extra Condensed"/>
                <a:cs typeface="Fira Sans Extra Condensed"/>
              </a:rPr>
              <a:t>Presentación del </a:t>
            </a:r>
            <a:r>
              <a:rPr lang="es-ES" sz="1400">
                <a:solidFill>
                  <a:srgbClr val="FFFFFF"/>
                </a:solidFill>
                <a:effectLst/>
                <a:latin typeface="Gellix" pitchFamily="2" charset="77"/>
                <a:ea typeface="Fira Sans Extra Condensed"/>
                <a:cs typeface="Fira Sans Extra Condensed"/>
              </a:rPr>
              <a:t>Proyecto Integrador</a:t>
            </a:r>
            <a:endParaRPr lang="es-MX" sz="1100" dirty="0">
              <a:effectLst/>
              <a:latin typeface="Gellix" pitchFamily="2" charset="77"/>
              <a:ea typeface="Arial" panose="020B0604020202020204" pitchFamily="34" charset="0"/>
            </a:endParaRPr>
          </a:p>
        </p:txBody>
      </p:sp>
    </p:spTree>
    <p:extLst>
      <p:ext uri="{BB962C8B-B14F-4D97-AF65-F5344CB8AC3E}">
        <p14:creationId xmlns:p14="http://schemas.microsoft.com/office/powerpoint/2010/main" val="2493874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BA2F9B76-D70D-0F10-BC27-39EB895783B8}"/>
              </a:ext>
            </a:extLst>
          </p:cNvPr>
          <p:cNvGrpSpPr/>
          <p:nvPr/>
        </p:nvGrpSpPr>
        <p:grpSpPr>
          <a:xfrm>
            <a:off x="-1" y="0"/>
            <a:ext cx="12322630" cy="727520"/>
            <a:chOff x="703525" y="2152231"/>
            <a:chExt cx="10523975" cy="940772"/>
          </a:xfrm>
        </p:grpSpPr>
        <p:sp>
          <p:nvSpPr>
            <p:cNvPr id="5" name="Rectángulo 4">
              <a:extLst>
                <a:ext uri="{FF2B5EF4-FFF2-40B4-BE49-F238E27FC236}">
                  <a16:creationId xmlns:a16="http://schemas.microsoft.com/office/drawing/2014/main" id="{DFAF7A8C-333D-C58F-9C95-59591841527A}"/>
                </a:ext>
              </a:extLst>
            </p:cNvPr>
            <p:cNvSpPr/>
            <p:nvPr/>
          </p:nvSpPr>
          <p:spPr>
            <a:xfrm>
              <a:off x="703525" y="2152232"/>
              <a:ext cx="10523975" cy="847400"/>
            </a:xfrm>
            <a:prstGeom prst="rect">
              <a:avLst/>
            </a:prstGeom>
            <a:no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nvGrpSpPr>
            <p:cNvPr id="6" name="Grupo 5">
              <a:extLst>
                <a:ext uri="{FF2B5EF4-FFF2-40B4-BE49-F238E27FC236}">
                  <a16:creationId xmlns:a16="http://schemas.microsoft.com/office/drawing/2014/main" id="{F0F2FE41-68B0-2A54-4B88-859454FD71BF}"/>
                </a:ext>
              </a:extLst>
            </p:cNvPr>
            <p:cNvGrpSpPr/>
            <p:nvPr/>
          </p:nvGrpSpPr>
          <p:grpSpPr>
            <a:xfrm>
              <a:off x="703525" y="2152231"/>
              <a:ext cx="10412414" cy="940772"/>
              <a:chOff x="703525" y="2152450"/>
              <a:chExt cx="10412414" cy="1580333"/>
            </a:xfrm>
          </p:grpSpPr>
          <p:sp>
            <p:nvSpPr>
              <p:cNvPr id="7" name="Rectángulo 6">
                <a:extLst>
                  <a:ext uri="{FF2B5EF4-FFF2-40B4-BE49-F238E27FC236}">
                    <a16:creationId xmlns:a16="http://schemas.microsoft.com/office/drawing/2014/main" id="{1927F4A0-FF65-DE13-8DB0-F182C45D1F8F}"/>
                  </a:ext>
                </a:extLst>
              </p:cNvPr>
              <p:cNvSpPr/>
              <p:nvPr/>
            </p:nvSpPr>
            <p:spPr>
              <a:xfrm>
                <a:off x="3657601" y="2152450"/>
                <a:ext cx="7458338" cy="1418699"/>
              </a:xfrm>
              <a:prstGeom prst="rect">
                <a:avLst/>
              </a:prstGeom>
              <a:solidFill>
                <a:srgbClr val="161E44"/>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8" name="Rectángulo 7">
                <a:extLst>
                  <a:ext uri="{FF2B5EF4-FFF2-40B4-BE49-F238E27FC236}">
                    <a16:creationId xmlns:a16="http://schemas.microsoft.com/office/drawing/2014/main" id="{0F2B72AB-467F-B766-220B-492375030E4E}"/>
                  </a:ext>
                </a:extLst>
              </p:cNvPr>
              <p:cNvSpPr/>
              <p:nvPr/>
            </p:nvSpPr>
            <p:spPr>
              <a:xfrm>
                <a:off x="703525" y="2157250"/>
                <a:ext cx="2458800" cy="1418700"/>
              </a:xfrm>
              <a:prstGeom prst="rect">
                <a:avLst/>
              </a:prstGeom>
              <a:solidFill>
                <a:srgbClr val="D9D9D9"/>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9" name="Paralelogramo 8">
                <a:extLst>
                  <a:ext uri="{FF2B5EF4-FFF2-40B4-BE49-F238E27FC236}">
                    <a16:creationId xmlns:a16="http://schemas.microsoft.com/office/drawing/2014/main" id="{8623E56F-A27D-F7E7-D667-DB06C7907134}"/>
                  </a:ext>
                </a:extLst>
              </p:cNvPr>
              <p:cNvSpPr/>
              <p:nvPr/>
            </p:nvSpPr>
            <p:spPr>
              <a:xfrm>
                <a:off x="2860775" y="2152450"/>
                <a:ext cx="1127400" cy="1418700"/>
              </a:xfrm>
              <a:prstGeom prst="parallelogram">
                <a:avLst>
                  <a:gd name="adj" fmla="val 25000"/>
                </a:avLst>
              </a:prstGeom>
              <a:solidFill>
                <a:srgbClr val="97A72A"/>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10" name="Rectángulo 9">
                <a:extLst>
                  <a:ext uri="{FF2B5EF4-FFF2-40B4-BE49-F238E27FC236}">
                    <a16:creationId xmlns:a16="http://schemas.microsoft.com/office/drawing/2014/main" id="{BA056F29-3298-1160-5F8C-8B8F0C5D6492}"/>
                  </a:ext>
                </a:extLst>
              </p:cNvPr>
              <p:cNvSpPr/>
              <p:nvPr/>
            </p:nvSpPr>
            <p:spPr>
              <a:xfrm>
                <a:off x="3681324" y="2395395"/>
                <a:ext cx="7260000" cy="1337388"/>
              </a:xfrm>
              <a:prstGeom prst="rect">
                <a:avLst/>
              </a:prstGeom>
              <a:noFill/>
              <a:ln>
                <a:noFill/>
              </a:ln>
            </p:spPr>
            <p:txBody>
              <a:bodyPr spcFirstLastPara="1" wrap="square" lIns="91425" tIns="91425" rIns="91425" bIns="91425" anchor="t" anchorCtr="0">
                <a:noAutofit/>
              </a:bodyPr>
              <a:lstStyle/>
              <a:p>
                <a:pPr algn="r">
                  <a:lnSpc>
                    <a:spcPct val="115000"/>
                  </a:lnSpc>
                </a:pPr>
                <a:r>
                  <a:rPr lang="es-ES" sz="1400" dirty="0">
                    <a:solidFill>
                      <a:srgbClr val="FFFFFF"/>
                    </a:solidFill>
                    <a:effectLst/>
                    <a:latin typeface="Gellix" pitchFamily="2" charset="77"/>
                    <a:ea typeface="Fira Sans Extra Condensed"/>
                    <a:cs typeface="Fira Sans Extra Condensed"/>
                  </a:rPr>
                  <a:t>Nombre del proyecto</a:t>
                </a:r>
                <a:endParaRPr lang="es-MX" sz="1100" dirty="0">
                  <a:effectLst/>
                  <a:latin typeface="Gellix" pitchFamily="2" charset="77"/>
                  <a:ea typeface="Arial" panose="020B0604020202020204" pitchFamily="34" charset="0"/>
                </a:endParaRPr>
              </a:p>
            </p:txBody>
          </p:sp>
        </p:grpSp>
      </p:grpSp>
      <p:sp>
        <p:nvSpPr>
          <p:cNvPr id="11" name="Cuadro de texto 3">
            <a:extLst>
              <a:ext uri="{FF2B5EF4-FFF2-40B4-BE49-F238E27FC236}">
                <a16:creationId xmlns:a16="http://schemas.microsoft.com/office/drawing/2014/main" id="{A928BFB0-6995-2B29-CDC2-F7D5286D22C5}"/>
              </a:ext>
            </a:extLst>
          </p:cNvPr>
          <p:cNvSpPr txBox="1"/>
          <p:nvPr/>
        </p:nvSpPr>
        <p:spPr>
          <a:xfrm>
            <a:off x="608605" y="98129"/>
            <a:ext cx="1308735"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s-ES_tradnl" sz="2200">
                <a:solidFill>
                  <a:srgbClr val="161E43"/>
                </a:solidFill>
                <a:effectLst/>
                <a:latin typeface="Century Gothic" panose="020B0502020202020204" pitchFamily="34" charset="0"/>
                <a:ea typeface="Arial" panose="020B0604020202020204" pitchFamily="34" charset="0"/>
              </a:rPr>
              <a:t>MNA</a:t>
            </a:r>
            <a:endParaRPr lang="es-MX" sz="1100">
              <a:effectLst/>
              <a:latin typeface="Arial" panose="020B0604020202020204" pitchFamily="34" charset="0"/>
              <a:ea typeface="Arial" panose="020B0604020202020204" pitchFamily="34" charset="0"/>
            </a:endParaRPr>
          </a:p>
        </p:txBody>
      </p:sp>
      <p:sp>
        <p:nvSpPr>
          <p:cNvPr id="12" name="Título 1">
            <a:extLst>
              <a:ext uri="{FF2B5EF4-FFF2-40B4-BE49-F238E27FC236}">
                <a16:creationId xmlns:a16="http://schemas.microsoft.com/office/drawing/2014/main" id="{A17F96BB-950A-839D-5631-82791C07217E}"/>
              </a:ext>
            </a:extLst>
          </p:cNvPr>
          <p:cNvSpPr>
            <a:spLocks noGrp="1"/>
          </p:cNvSpPr>
          <p:nvPr>
            <p:ph type="ctrTitle"/>
          </p:nvPr>
        </p:nvSpPr>
        <p:spPr>
          <a:xfrm>
            <a:off x="326723" y="570742"/>
            <a:ext cx="6970643" cy="931121"/>
          </a:xfrm>
        </p:spPr>
        <p:txBody>
          <a:bodyPr>
            <a:normAutofit/>
          </a:bodyPr>
          <a:lstStyle/>
          <a:p>
            <a:pPr algn="l">
              <a:lnSpc>
                <a:spcPct val="100000"/>
              </a:lnSpc>
              <a:spcAft>
                <a:spcPts val="1200"/>
              </a:spcAft>
            </a:pPr>
            <a:r>
              <a:rPr lang="es-MX" sz="2800" dirty="0">
                <a:latin typeface="Gellix" pitchFamily="2" charset="77"/>
              </a:rPr>
              <a:t>Nombre de la sección</a:t>
            </a:r>
            <a:endParaRPr lang="es-MX" sz="2000" dirty="0">
              <a:latin typeface="Gellix" pitchFamily="2" charset="77"/>
            </a:endParaRPr>
          </a:p>
        </p:txBody>
      </p:sp>
      <p:sp>
        <p:nvSpPr>
          <p:cNvPr id="13" name="Subtítulo 2">
            <a:extLst>
              <a:ext uri="{FF2B5EF4-FFF2-40B4-BE49-F238E27FC236}">
                <a16:creationId xmlns:a16="http://schemas.microsoft.com/office/drawing/2014/main" id="{30FF6E45-5264-8D11-EAC7-F18054430785}"/>
              </a:ext>
            </a:extLst>
          </p:cNvPr>
          <p:cNvSpPr>
            <a:spLocks noGrp="1"/>
          </p:cNvSpPr>
          <p:nvPr>
            <p:ph type="subTitle" idx="1"/>
          </p:nvPr>
        </p:nvSpPr>
        <p:spPr>
          <a:xfrm>
            <a:off x="366619" y="1501863"/>
            <a:ext cx="10844720" cy="3934690"/>
          </a:xfrm>
        </p:spPr>
        <p:txBody>
          <a:bodyPr>
            <a:normAutofit/>
          </a:bodyPr>
          <a:lstStyle/>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Lorem ipsum dolor sit amet, consectetur adipiscing elit. Nullam convallis justo sit amet ligula molestie, nec malesuada nisi consectetur. Sed et consectetur lacus.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Cras eleifend, arcu at viverra fringilla, ipsum neque dictum elit, sit amet suscipit leo est ac lorem. Suspendisse potenti. Sed ac odio eu orci pharetra sollicitudin. Nulla ultricies dolor sit amet magna scelerisque, vel cursus arcu posuere.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Donec consequat, libero nec ullamcorper dapibus, velit sapien efficitur metus, nec volutpat urna arcu non justo. Vivamus in turpis ut enim lacinia vulputate. Phasellus sed augue vitae lectus convallis finibus. Vivamus in malesuada nulla</a:t>
            </a:r>
            <a:endParaRPr lang="es-MX" sz="2800" dirty="0">
              <a:latin typeface="Avenir Next Condensed" panose="020B0506020202020204" pitchFamily="34" charset="0"/>
            </a:endParaRPr>
          </a:p>
        </p:txBody>
      </p:sp>
    </p:spTree>
    <p:extLst>
      <p:ext uri="{BB962C8B-B14F-4D97-AF65-F5344CB8AC3E}">
        <p14:creationId xmlns:p14="http://schemas.microsoft.com/office/powerpoint/2010/main" val="633154655"/>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 name="Grupo 3">
            <a:extLst>
              <a:ext uri="{FF2B5EF4-FFF2-40B4-BE49-F238E27FC236}">
                <a16:creationId xmlns:a16="http://schemas.microsoft.com/office/drawing/2014/main" id="{BA2F9B76-D70D-0F10-BC27-39EB895783B8}"/>
              </a:ext>
            </a:extLst>
          </p:cNvPr>
          <p:cNvGrpSpPr/>
          <p:nvPr/>
        </p:nvGrpSpPr>
        <p:grpSpPr>
          <a:xfrm>
            <a:off x="-1" y="0"/>
            <a:ext cx="12322630" cy="727520"/>
            <a:chOff x="703525" y="2152231"/>
            <a:chExt cx="10523975" cy="940772"/>
          </a:xfrm>
        </p:grpSpPr>
        <p:sp>
          <p:nvSpPr>
            <p:cNvPr id="5" name="Rectángulo 4">
              <a:extLst>
                <a:ext uri="{FF2B5EF4-FFF2-40B4-BE49-F238E27FC236}">
                  <a16:creationId xmlns:a16="http://schemas.microsoft.com/office/drawing/2014/main" id="{DFAF7A8C-333D-C58F-9C95-59591841527A}"/>
                </a:ext>
              </a:extLst>
            </p:cNvPr>
            <p:cNvSpPr/>
            <p:nvPr/>
          </p:nvSpPr>
          <p:spPr>
            <a:xfrm>
              <a:off x="703525" y="2152232"/>
              <a:ext cx="10523975" cy="847400"/>
            </a:xfrm>
            <a:prstGeom prst="rect">
              <a:avLst/>
            </a:prstGeom>
            <a:no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nvGrpSpPr>
            <p:cNvPr id="6" name="Grupo 5">
              <a:extLst>
                <a:ext uri="{FF2B5EF4-FFF2-40B4-BE49-F238E27FC236}">
                  <a16:creationId xmlns:a16="http://schemas.microsoft.com/office/drawing/2014/main" id="{F0F2FE41-68B0-2A54-4B88-859454FD71BF}"/>
                </a:ext>
              </a:extLst>
            </p:cNvPr>
            <p:cNvGrpSpPr/>
            <p:nvPr/>
          </p:nvGrpSpPr>
          <p:grpSpPr>
            <a:xfrm>
              <a:off x="703525" y="2152231"/>
              <a:ext cx="10412414" cy="940772"/>
              <a:chOff x="703525" y="2152450"/>
              <a:chExt cx="10412414" cy="1580333"/>
            </a:xfrm>
          </p:grpSpPr>
          <p:sp>
            <p:nvSpPr>
              <p:cNvPr id="7" name="Rectángulo 6">
                <a:extLst>
                  <a:ext uri="{FF2B5EF4-FFF2-40B4-BE49-F238E27FC236}">
                    <a16:creationId xmlns:a16="http://schemas.microsoft.com/office/drawing/2014/main" id="{1927F4A0-FF65-DE13-8DB0-F182C45D1F8F}"/>
                  </a:ext>
                </a:extLst>
              </p:cNvPr>
              <p:cNvSpPr/>
              <p:nvPr/>
            </p:nvSpPr>
            <p:spPr>
              <a:xfrm>
                <a:off x="3657601" y="2152450"/>
                <a:ext cx="7458338" cy="1418699"/>
              </a:xfrm>
              <a:prstGeom prst="rect">
                <a:avLst/>
              </a:prstGeom>
              <a:solidFill>
                <a:srgbClr val="161E44"/>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8" name="Rectángulo 7">
                <a:extLst>
                  <a:ext uri="{FF2B5EF4-FFF2-40B4-BE49-F238E27FC236}">
                    <a16:creationId xmlns:a16="http://schemas.microsoft.com/office/drawing/2014/main" id="{0F2B72AB-467F-B766-220B-492375030E4E}"/>
                  </a:ext>
                </a:extLst>
              </p:cNvPr>
              <p:cNvSpPr/>
              <p:nvPr/>
            </p:nvSpPr>
            <p:spPr>
              <a:xfrm>
                <a:off x="703525" y="2157250"/>
                <a:ext cx="2458800" cy="1418700"/>
              </a:xfrm>
              <a:prstGeom prst="rect">
                <a:avLst/>
              </a:prstGeom>
              <a:solidFill>
                <a:srgbClr val="D9D9D9"/>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9" name="Paralelogramo 8">
                <a:extLst>
                  <a:ext uri="{FF2B5EF4-FFF2-40B4-BE49-F238E27FC236}">
                    <a16:creationId xmlns:a16="http://schemas.microsoft.com/office/drawing/2014/main" id="{8623E56F-A27D-F7E7-D667-DB06C7907134}"/>
                  </a:ext>
                </a:extLst>
              </p:cNvPr>
              <p:cNvSpPr/>
              <p:nvPr/>
            </p:nvSpPr>
            <p:spPr>
              <a:xfrm>
                <a:off x="2860775" y="2152450"/>
                <a:ext cx="1127400" cy="1418700"/>
              </a:xfrm>
              <a:prstGeom prst="parallelogram">
                <a:avLst>
                  <a:gd name="adj" fmla="val 25000"/>
                </a:avLst>
              </a:prstGeom>
              <a:solidFill>
                <a:srgbClr val="97A72A"/>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10" name="Rectángulo 9">
                <a:extLst>
                  <a:ext uri="{FF2B5EF4-FFF2-40B4-BE49-F238E27FC236}">
                    <a16:creationId xmlns:a16="http://schemas.microsoft.com/office/drawing/2014/main" id="{BA056F29-3298-1160-5F8C-8B8F0C5D6492}"/>
                  </a:ext>
                </a:extLst>
              </p:cNvPr>
              <p:cNvSpPr/>
              <p:nvPr/>
            </p:nvSpPr>
            <p:spPr>
              <a:xfrm>
                <a:off x="3681324" y="2395395"/>
                <a:ext cx="7260000" cy="1337388"/>
              </a:xfrm>
              <a:prstGeom prst="rect">
                <a:avLst/>
              </a:prstGeom>
              <a:noFill/>
              <a:ln>
                <a:noFill/>
              </a:ln>
            </p:spPr>
            <p:txBody>
              <a:bodyPr spcFirstLastPara="1" wrap="square" lIns="91425" tIns="91425" rIns="91425" bIns="91425" anchor="t" anchorCtr="0">
                <a:noAutofit/>
              </a:bodyPr>
              <a:lstStyle/>
              <a:p>
                <a:pPr algn="r">
                  <a:lnSpc>
                    <a:spcPct val="115000"/>
                  </a:lnSpc>
                </a:pPr>
                <a:r>
                  <a:rPr lang="es-ES" sz="1400" dirty="0">
                    <a:solidFill>
                      <a:srgbClr val="FFFFFF"/>
                    </a:solidFill>
                    <a:effectLst/>
                    <a:latin typeface="Gellix" pitchFamily="2" charset="77"/>
                    <a:ea typeface="Fira Sans Extra Condensed"/>
                    <a:cs typeface="Fira Sans Extra Condensed"/>
                  </a:rPr>
                  <a:t>Nombre del proyecto</a:t>
                </a:r>
                <a:endParaRPr lang="es-MX" sz="1100" dirty="0">
                  <a:effectLst/>
                  <a:latin typeface="Gellix" pitchFamily="2" charset="77"/>
                  <a:ea typeface="Arial" panose="020B0604020202020204" pitchFamily="34" charset="0"/>
                </a:endParaRPr>
              </a:p>
            </p:txBody>
          </p:sp>
        </p:grpSp>
      </p:grpSp>
      <p:sp>
        <p:nvSpPr>
          <p:cNvPr id="11" name="Cuadro de texto 3">
            <a:extLst>
              <a:ext uri="{FF2B5EF4-FFF2-40B4-BE49-F238E27FC236}">
                <a16:creationId xmlns:a16="http://schemas.microsoft.com/office/drawing/2014/main" id="{A928BFB0-6995-2B29-CDC2-F7D5286D22C5}"/>
              </a:ext>
            </a:extLst>
          </p:cNvPr>
          <p:cNvSpPr txBox="1"/>
          <p:nvPr/>
        </p:nvSpPr>
        <p:spPr>
          <a:xfrm>
            <a:off x="608605" y="98129"/>
            <a:ext cx="1308735"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s-ES_tradnl" sz="2200">
                <a:solidFill>
                  <a:srgbClr val="161E43"/>
                </a:solidFill>
                <a:effectLst/>
                <a:latin typeface="Century Gothic" panose="020B0502020202020204" pitchFamily="34" charset="0"/>
                <a:ea typeface="Arial" panose="020B0604020202020204" pitchFamily="34" charset="0"/>
              </a:rPr>
              <a:t>MNA</a:t>
            </a:r>
            <a:endParaRPr lang="es-MX" sz="1100">
              <a:effectLst/>
              <a:latin typeface="Arial" panose="020B0604020202020204" pitchFamily="34" charset="0"/>
              <a:ea typeface="Arial" panose="020B0604020202020204" pitchFamily="34" charset="0"/>
            </a:endParaRPr>
          </a:p>
        </p:txBody>
      </p:sp>
      <p:sp>
        <p:nvSpPr>
          <p:cNvPr id="12" name="Título 1">
            <a:extLst>
              <a:ext uri="{FF2B5EF4-FFF2-40B4-BE49-F238E27FC236}">
                <a16:creationId xmlns:a16="http://schemas.microsoft.com/office/drawing/2014/main" id="{A17F96BB-950A-839D-5631-82791C07217E}"/>
              </a:ext>
            </a:extLst>
          </p:cNvPr>
          <p:cNvSpPr>
            <a:spLocks noGrp="1"/>
          </p:cNvSpPr>
          <p:nvPr>
            <p:ph type="ctrTitle"/>
          </p:nvPr>
        </p:nvSpPr>
        <p:spPr>
          <a:xfrm>
            <a:off x="326723" y="570742"/>
            <a:ext cx="6970643" cy="931121"/>
          </a:xfrm>
        </p:spPr>
        <p:txBody>
          <a:bodyPr>
            <a:normAutofit/>
          </a:bodyPr>
          <a:lstStyle/>
          <a:p>
            <a:pPr algn="l">
              <a:lnSpc>
                <a:spcPct val="100000"/>
              </a:lnSpc>
              <a:spcAft>
                <a:spcPts val="1200"/>
              </a:spcAft>
            </a:pPr>
            <a:r>
              <a:rPr lang="es-MX" sz="2800" dirty="0">
                <a:latin typeface="Gellix" pitchFamily="2" charset="77"/>
              </a:rPr>
              <a:t>Agenda</a:t>
            </a:r>
            <a:endParaRPr lang="es-MX" sz="2000" dirty="0">
              <a:latin typeface="Gellix" pitchFamily="2" charset="77"/>
            </a:endParaRPr>
          </a:p>
        </p:txBody>
      </p:sp>
      <p:sp>
        <p:nvSpPr>
          <p:cNvPr id="13" name="Subtítulo 2">
            <a:extLst>
              <a:ext uri="{FF2B5EF4-FFF2-40B4-BE49-F238E27FC236}">
                <a16:creationId xmlns:a16="http://schemas.microsoft.com/office/drawing/2014/main" id="{30FF6E45-5264-8D11-EAC7-F18054430785}"/>
              </a:ext>
            </a:extLst>
          </p:cNvPr>
          <p:cNvSpPr>
            <a:spLocks noGrp="1"/>
          </p:cNvSpPr>
          <p:nvPr>
            <p:ph type="subTitle" idx="1"/>
          </p:nvPr>
        </p:nvSpPr>
        <p:spPr>
          <a:xfrm>
            <a:off x="366619" y="1501863"/>
            <a:ext cx="10844720" cy="3934690"/>
          </a:xfrm>
        </p:spPr>
        <p:txBody>
          <a:bodyPr>
            <a:normAutofit/>
          </a:bodyPr>
          <a:lstStyle/>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endParaRPr lang="es-MX" sz="2800" dirty="0">
              <a:latin typeface="Avenir Next Condensed" panose="020B0506020202020204" pitchFamily="34" charset="0"/>
            </a:endParaRPr>
          </a:p>
        </p:txBody>
      </p:sp>
      <p:sp>
        <p:nvSpPr>
          <p:cNvPr id="14" name="Rectangle 13"/>
          <p:cNvSpPr/>
          <p:nvPr/>
        </p:nvSpPr>
        <p:spPr>
          <a:xfrm>
            <a:off x="457200" y="1691640"/>
            <a:ext cx="5577840" cy="100584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1764792"/>
            <a:ext cx="640080" cy="502920"/>
          </a:xfrm>
          <a:prstGeom prst="rect">
            <a:avLst/>
          </a:prstGeom>
          <a:noFill/>
        </p:spPr>
        <p:txBody>
          <a:bodyPr wrap="square">
            <a:spAutoFit/>
          </a:bodyPr>
          <a:lstStyle/>
          <a:p>
            <a:pPr algn="l"/>
            <a:r>
              <a:rPr sz="2600" b="1">
                <a:solidFill>
                  <a:srgbClr val="D4A017"/>
                </a:solidFill>
                <a:latin typeface="Century Gothic"/>
              </a:rPr>
              <a:t>01</a:t>
            </a:r>
          </a:p>
        </p:txBody>
      </p:sp>
      <p:sp>
        <p:nvSpPr>
          <p:cNvPr id="16" name="TextBox 15"/>
          <p:cNvSpPr txBox="1"/>
          <p:nvPr/>
        </p:nvSpPr>
        <p:spPr>
          <a:xfrm>
            <a:off x="1325880" y="1920240"/>
            <a:ext cx="4572000" cy="548640"/>
          </a:xfrm>
          <a:prstGeom prst="rect">
            <a:avLst/>
          </a:prstGeom>
          <a:noFill/>
        </p:spPr>
        <p:txBody>
          <a:bodyPr wrap="square">
            <a:spAutoFit/>
          </a:bodyPr>
          <a:lstStyle/>
          <a:p>
            <a:pPr algn="l"/>
            <a:r>
              <a:rPr sz="1600" b="0">
                <a:solidFill>
                  <a:srgbClr val="FFFFFF"/>
                </a:solidFill>
                <a:latin typeface="Avenir Next Condensed"/>
              </a:rPr>
              <a:t>Problematica y objetivo</a:t>
            </a:r>
          </a:p>
        </p:txBody>
      </p:sp>
      <p:sp>
        <p:nvSpPr>
          <p:cNvPr id="17" name="Rectangle 16"/>
          <p:cNvSpPr/>
          <p:nvPr/>
        </p:nvSpPr>
        <p:spPr>
          <a:xfrm>
            <a:off x="6400800" y="1691640"/>
            <a:ext cx="5577840" cy="100584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1764792"/>
            <a:ext cx="640080" cy="502920"/>
          </a:xfrm>
          <a:prstGeom prst="rect">
            <a:avLst/>
          </a:prstGeom>
          <a:noFill/>
        </p:spPr>
        <p:txBody>
          <a:bodyPr wrap="square">
            <a:spAutoFit/>
          </a:bodyPr>
          <a:lstStyle/>
          <a:p>
            <a:pPr algn="l"/>
            <a:r>
              <a:rPr sz="2600" b="1">
                <a:solidFill>
                  <a:srgbClr val="D4A017"/>
                </a:solidFill>
                <a:latin typeface="Century Gothic"/>
              </a:rPr>
              <a:t>02</a:t>
            </a:r>
          </a:p>
        </p:txBody>
      </p:sp>
      <p:sp>
        <p:nvSpPr>
          <p:cNvPr id="19" name="TextBox 18"/>
          <p:cNvSpPr txBox="1"/>
          <p:nvPr/>
        </p:nvSpPr>
        <p:spPr>
          <a:xfrm>
            <a:off x="7269480" y="1920240"/>
            <a:ext cx="4572000" cy="548640"/>
          </a:xfrm>
          <a:prstGeom prst="rect">
            <a:avLst/>
          </a:prstGeom>
          <a:noFill/>
        </p:spPr>
        <p:txBody>
          <a:bodyPr wrap="square">
            <a:spAutoFit/>
          </a:bodyPr>
          <a:lstStyle/>
          <a:p>
            <a:pPr algn="l"/>
            <a:r>
              <a:rPr sz="1600" b="0">
                <a:solidFill>
                  <a:srgbClr val="FFFFFF"/>
                </a:solidFill>
                <a:latin typeface="Avenir Next Condensed"/>
              </a:rPr>
              <a:t>Hallazgos del EDA</a:t>
            </a:r>
          </a:p>
        </p:txBody>
      </p:sp>
      <p:sp>
        <p:nvSpPr>
          <p:cNvPr id="20" name="Rectangle 19"/>
          <p:cNvSpPr/>
          <p:nvPr/>
        </p:nvSpPr>
        <p:spPr>
          <a:xfrm>
            <a:off x="457200" y="2880360"/>
            <a:ext cx="5577840" cy="100584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2953512"/>
            <a:ext cx="640080" cy="502920"/>
          </a:xfrm>
          <a:prstGeom prst="rect">
            <a:avLst/>
          </a:prstGeom>
          <a:noFill/>
        </p:spPr>
        <p:txBody>
          <a:bodyPr wrap="square">
            <a:spAutoFit/>
          </a:bodyPr>
          <a:lstStyle/>
          <a:p>
            <a:pPr algn="l"/>
            <a:r>
              <a:rPr sz="2600" b="1">
                <a:solidFill>
                  <a:srgbClr val="D4A017"/>
                </a:solidFill>
                <a:latin typeface="Century Gothic"/>
              </a:rPr>
              <a:t>03</a:t>
            </a:r>
          </a:p>
        </p:txBody>
      </p:sp>
      <p:sp>
        <p:nvSpPr>
          <p:cNvPr id="22" name="TextBox 21"/>
          <p:cNvSpPr txBox="1"/>
          <p:nvPr/>
        </p:nvSpPr>
        <p:spPr>
          <a:xfrm>
            <a:off x="1325880" y="3108960"/>
            <a:ext cx="4572000" cy="548640"/>
          </a:xfrm>
          <a:prstGeom prst="rect">
            <a:avLst/>
          </a:prstGeom>
          <a:noFill/>
        </p:spPr>
        <p:txBody>
          <a:bodyPr wrap="square">
            <a:spAutoFit/>
          </a:bodyPr>
          <a:lstStyle/>
          <a:p>
            <a:pPr algn="l"/>
            <a:r>
              <a:rPr sz="1600" b="0">
                <a:solidFill>
                  <a:srgbClr val="FFFFFF"/>
                </a:solidFill>
                <a:latin typeface="Avenir Next Condensed"/>
              </a:rPr>
              <a:t>Modelos desarrollados</a:t>
            </a:r>
          </a:p>
        </p:txBody>
      </p:sp>
      <p:sp>
        <p:nvSpPr>
          <p:cNvPr id="23" name="Rectangle 22"/>
          <p:cNvSpPr/>
          <p:nvPr/>
        </p:nvSpPr>
        <p:spPr>
          <a:xfrm>
            <a:off x="6400800" y="2880360"/>
            <a:ext cx="5577840" cy="100584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2953512"/>
            <a:ext cx="640080" cy="502920"/>
          </a:xfrm>
          <a:prstGeom prst="rect">
            <a:avLst/>
          </a:prstGeom>
          <a:noFill/>
        </p:spPr>
        <p:txBody>
          <a:bodyPr wrap="square">
            <a:spAutoFit/>
          </a:bodyPr>
          <a:lstStyle/>
          <a:p>
            <a:pPr algn="l"/>
            <a:r>
              <a:rPr sz="2600" b="1">
                <a:solidFill>
                  <a:srgbClr val="D4A017"/>
                </a:solidFill>
                <a:latin typeface="Century Gothic"/>
              </a:rPr>
              <a:t>04</a:t>
            </a:r>
          </a:p>
        </p:txBody>
      </p:sp>
      <p:sp>
        <p:nvSpPr>
          <p:cNvPr id="25" name="TextBox 24"/>
          <p:cNvSpPr txBox="1"/>
          <p:nvPr/>
        </p:nvSpPr>
        <p:spPr>
          <a:xfrm>
            <a:off x="7269480" y="3108960"/>
            <a:ext cx="4572000" cy="548640"/>
          </a:xfrm>
          <a:prstGeom prst="rect">
            <a:avLst/>
          </a:prstGeom>
          <a:noFill/>
        </p:spPr>
        <p:txBody>
          <a:bodyPr wrap="square">
            <a:spAutoFit/>
          </a:bodyPr>
          <a:lstStyle/>
          <a:p>
            <a:pPr algn="l"/>
            <a:r>
              <a:rPr sz="1600" b="0">
                <a:solidFill>
                  <a:srgbClr val="FFFFFF"/>
                </a:solidFill>
                <a:latin typeface="Avenir Next Condensed"/>
              </a:rPr>
              <a:t>Solucion final: StackingRegressor</a:t>
            </a:r>
          </a:p>
        </p:txBody>
      </p:sp>
      <p:sp>
        <p:nvSpPr>
          <p:cNvPr id="26" name="Rectangle 25"/>
          <p:cNvSpPr/>
          <p:nvPr/>
        </p:nvSpPr>
        <p:spPr>
          <a:xfrm>
            <a:off x="457200" y="4069080"/>
            <a:ext cx="5577840" cy="100584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4142232"/>
            <a:ext cx="640080" cy="502920"/>
          </a:xfrm>
          <a:prstGeom prst="rect">
            <a:avLst/>
          </a:prstGeom>
          <a:noFill/>
        </p:spPr>
        <p:txBody>
          <a:bodyPr wrap="square">
            <a:spAutoFit/>
          </a:bodyPr>
          <a:lstStyle/>
          <a:p>
            <a:pPr algn="l"/>
            <a:r>
              <a:rPr sz="2600" b="1">
                <a:solidFill>
                  <a:srgbClr val="D4A017"/>
                </a:solidFill>
                <a:latin typeface="Century Gothic"/>
              </a:rPr>
              <a:t>05</a:t>
            </a:r>
          </a:p>
        </p:txBody>
      </p:sp>
      <p:sp>
        <p:nvSpPr>
          <p:cNvPr id="28" name="TextBox 27"/>
          <p:cNvSpPr txBox="1"/>
          <p:nvPr/>
        </p:nvSpPr>
        <p:spPr>
          <a:xfrm>
            <a:off x="1325880" y="4297680"/>
            <a:ext cx="4572000" cy="548640"/>
          </a:xfrm>
          <a:prstGeom prst="rect">
            <a:avLst/>
          </a:prstGeom>
          <a:noFill/>
        </p:spPr>
        <p:txBody>
          <a:bodyPr wrap="square">
            <a:spAutoFit/>
          </a:bodyPr>
          <a:lstStyle/>
          <a:p>
            <a:pPr algn="l"/>
            <a:r>
              <a:rPr sz="1600" b="0">
                <a:solidFill>
                  <a:srgbClr val="FFFFFF"/>
                </a:solidFill>
                <a:latin typeface="Avenir Next Condensed"/>
              </a:rPr>
              <a:t>Recomendaciones comerciales</a:t>
            </a:r>
          </a:p>
        </p:txBody>
      </p:sp>
      <p:sp>
        <p:nvSpPr>
          <p:cNvPr id="29" name="Rectangle 28"/>
          <p:cNvSpPr/>
          <p:nvPr/>
        </p:nvSpPr>
        <p:spPr>
          <a:xfrm>
            <a:off x="6400800" y="4069080"/>
            <a:ext cx="5577840" cy="100584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37960" y="4142232"/>
            <a:ext cx="640080" cy="502920"/>
          </a:xfrm>
          <a:prstGeom prst="rect">
            <a:avLst/>
          </a:prstGeom>
          <a:noFill/>
        </p:spPr>
        <p:txBody>
          <a:bodyPr wrap="square">
            <a:spAutoFit/>
          </a:bodyPr>
          <a:lstStyle/>
          <a:p>
            <a:pPr algn="l"/>
            <a:r>
              <a:rPr sz="2600" b="1">
                <a:solidFill>
                  <a:srgbClr val="D4A017"/>
                </a:solidFill>
                <a:latin typeface="Century Gothic"/>
              </a:rPr>
              <a:t>06</a:t>
            </a:r>
          </a:p>
        </p:txBody>
      </p:sp>
      <p:sp>
        <p:nvSpPr>
          <p:cNvPr id="31" name="TextBox 30"/>
          <p:cNvSpPr txBox="1"/>
          <p:nvPr/>
        </p:nvSpPr>
        <p:spPr>
          <a:xfrm>
            <a:off x="7269480" y="4297680"/>
            <a:ext cx="4572000" cy="548640"/>
          </a:xfrm>
          <a:prstGeom prst="rect">
            <a:avLst/>
          </a:prstGeom>
          <a:noFill/>
        </p:spPr>
        <p:txBody>
          <a:bodyPr wrap="square">
            <a:spAutoFit/>
          </a:bodyPr>
          <a:lstStyle/>
          <a:p>
            <a:pPr algn="l"/>
            <a:r>
              <a:rPr sz="1600" b="0">
                <a:solidFill>
                  <a:srgbClr val="FFFFFF"/>
                </a:solidFill>
                <a:latin typeface="Avenir Next Condensed"/>
              </a:rPr>
              <a:t>Analisis costo-beneficio</a:t>
            </a:r>
          </a:p>
        </p:txBody>
      </p:sp>
      <p:sp>
        <p:nvSpPr>
          <p:cNvPr id="32" name="Rectangle 31"/>
          <p:cNvSpPr/>
          <p:nvPr/>
        </p:nvSpPr>
        <p:spPr>
          <a:xfrm>
            <a:off x="457200" y="5257800"/>
            <a:ext cx="5577840" cy="100584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5330952"/>
            <a:ext cx="640080" cy="502920"/>
          </a:xfrm>
          <a:prstGeom prst="rect">
            <a:avLst/>
          </a:prstGeom>
          <a:noFill/>
        </p:spPr>
        <p:txBody>
          <a:bodyPr wrap="square">
            <a:spAutoFit/>
          </a:bodyPr>
          <a:lstStyle/>
          <a:p>
            <a:pPr algn="l"/>
            <a:r>
              <a:rPr sz="2600" b="1">
                <a:solidFill>
                  <a:srgbClr val="D4A017"/>
                </a:solidFill>
                <a:latin typeface="Century Gothic"/>
              </a:rPr>
              <a:t>07</a:t>
            </a:r>
          </a:p>
        </p:txBody>
      </p:sp>
      <p:sp>
        <p:nvSpPr>
          <p:cNvPr id="34" name="TextBox 33"/>
          <p:cNvSpPr txBox="1"/>
          <p:nvPr/>
        </p:nvSpPr>
        <p:spPr>
          <a:xfrm>
            <a:off x="1325880" y="5486400"/>
            <a:ext cx="4572000" cy="548640"/>
          </a:xfrm>
          <a:prstGeom prst="rect">
            <a:avLst/>
          </a:prstGeom>
          <a:noFill/>
        </p:spPr>
        <p:txBody>
          <a:bodyPr wrap="square">
            <a:spAutoFit/>
          </a:bodyPr>
          <a:lstStyle/>
          <a:p>
            <a:pPr algn="l"/>
            <a:r>
              <a:rPr sz="1600" b="0">
                <a:solidFill>
                  <a:srgbClr val="FFFFFF"/>
                </a:solidFill>
                <a:latin typeface="Avenir Next Condensed"/>
              </a:rPr>
              <a:t>Riesgos y desafios</a:t>
            </a:r>
          </a:p>
        </p:txBody>
      </p:sp>
      <p:sp>
        <p:nvSpPr>
          <p:cNvPr id="35" name="Rectangle 34"/>
          <p:cNvSpPr/>
          <p:nvPr/>
        </p:nvSpPr>
        <p:spPr>
          <a:xfrm>
            <a:off x="6400800" y="5257800"/>
            <a:ext cx="5577840" cy="100584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37960" y="5330952"/>
            <a:ext cx="640080" cy="502920"/>
          </a:xfrm>
          <a:prstGeom prst="rect">
            <a:avLst/>
          </a:prstGeom>
          <a:noFill/>
        </p:spPr>
        <p:txBody>
          <a:bodyPr wrap="square">
            <a:spAutoFit/>
          </a:bodyPr>
          <a:lstStyle/>
          <a:p>
            <a:pPr algn="l"/>
            <a:r>
              <a:rPr sz="2600" b="1">
                <a:solidFill>
                  <a:srgbClr val="D4A017"/>
                </a:solidFill>
                <a:latin typeface="Century Gothic"/>
              </a:rPr>
              <a:t>08</a:t>
            </a:r>
          </a:p>
        </p:txBody>
      </p:sp>
      <p:sp>
        <p:nvSpPr>
          <p:cNvPr id="37" name="TextBox 36"/>
          <p:cNvSpPr txBox="1"/>
          <p:nvPr/>
        </p:nvSpPr>
        <p:spPr>
          <a:xfrm>
            <a:off x="7269480" y="5486400"/>
            <a:ext cx="4572000" cy="548640"/>
          </a:xfrm>
          <a:prstGeom prst="rect">
            <a:avLst/>
          </a:prstGeom>
          <a:noFill/>
        </p:spPr>
        <p:txBody>
          <a:bodyPr wrap="square">
            <a:spAutoFit/>
          </a:bodyPr>
          <a:lstStyle/>
          <a:p>
            <a:pPr algn="l"/>
            <a:r>
              <a:rPr sz="1600" b="0">
                <a:solidFill>
                  <a:srgbClr val="FFFFFF"/>
                </a:solidFill>
                <a:latin typeface="Avenir Next Condensed"/>
              </a:rPr>
              <a:t>Trabajos futuros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 name="Grupo 3">
            <a:extLst>
              <a:ext uri="{FF2B5EF4-FFF2-40B4-BE49-F238E27FC236}">
                <a16:creationId xmlns:a16="http://schemas.microsoft.com/office/drawing/2014/main" id="{BA2F9B76-D70D-0F10-BC27-39EB895783B8}"/>
              </a:ext>
            </a:extLst>
          </p:cNvPr>
          <p:cNvGrpSpPr/>
          <p:nvPr/>
        </p:nvGrpSpPr>
        <p:grpSpPr>
          <a:xfrm>
            <a:off x="-1" y="0"/>
            <a:ext cx="12322630" cy="727520"/>
            <a:chOff x="703525" y="2152231"/>
            <a:chExt cx="10523975" cy="940772"/>
          </a:xfrm>
        </p:grpSpPr>
        <p:sp>
          <p:nvSpPr>
            <p:cNvPr id="5" name="Rectángulo 4">
              <a:extLst>
                <a:ext uri="{FF2B5EF4-FFF2-40B4-BE49-F238E27FC236}">
                  <a16:creationId xmlns:a16="http://schemas.microsoft.com/office/drawing/2014/main" id="{DFAF7A8C-333D-C58F-9C95-59591841527A}"/>
                </a:ext>
              </a:extLst>
            </p:cNvPr>
            <p:cNvSpPr/>
            <p:nvPr/>
          </p:nvSpPr>
          <p:spPr>
            <a:xfrm>
              <a:off x="703525" y="2152232"/>
              <a:ext cx="10523975" cy="847400"/>
            </a:xfrm>
            <a:prstGeom prst="rect">
              <a:avLst/>
            </a:prstGeom>
            <a:no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nvGrpSpPr>
            <p:cNvPr id="6" name="Grupo 5">
              <a:extLst>
                <a:ext uri="{FF2B5EF4-FFF2-40B4-BE49-F238E27FC236}">
                  <a16:creationId xmlns:a16="http://schemas.microsoft.com/office/drawing/2014/main" id="{F0F2FE41-68B0-2A54-4B88-859454FD71BF}"/>
                </a:ext>
              </a:extLst>
            </p:cNvPr>
            <p:cNvGrpSpPr/>
            <p:nvPr/>
          </p:nvGrpSpPr>
          <p:grpSpPr>
            <a:xfrm>
              <a:off x="703525" y="2152231"/>
              <a:ext cx="10412414" cy="940772"/>
              <a:chOff x="703525" y="2152450"/>
              <a:chExt cx="10412414" cy="1580333"/>
            </a:xfrm>
          </p:grpSpPr>
          <p:sp>
            <p:nvSpPr>
              <p:cNvPr id="7" name="Rectángulo 6">
                <a:extLst>
                  <a:ext uri="{FF2B5EF4-FFF2-40B4-BE49-F238E27FC236}">
                    <a16:creationId xmlns:a16="http://schemas.microsoft.com/office/drawing/2014/main" id="{1927F4A0-FF65-DE13-8DB0-F182C45D1F8F}"/>
                  </a:ext>
                </a:extLst>
              </p:cNvPr>
              <p:cNvSpPr/>
              <p:nvPr/>
            </p:nvSpPr>
            <p:spPr>
              <a:xfrm>
                <a:off x="3657601" y="2152450"/>
                <a:ext cx="7458338" cy="1418699"/>
              </a:xfrm>
              <a:prstGeom prst="rect">
                <a:avLst/>
              </a:prstGeom>
              <a:solidFill>
                <a:srgbClr val="161E44"/>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8" name="Rectángulo 7">
                <a:extLst>
                  <a:ext uri="{FF2B5EF4-FFF2-40B4-BE49-F238E27FC236}">
                    <a16:creationId xmlns:a16="http://schemas.microsoft.com/office/drawing/2014/main" id="{0F2B72AB-467F-B766-220B-492375030E4E}"/>
                  </a:ext>
                </a:extLst>
              </p:cNvPr>
              <p:cNvSpPr/>
              <p:nvPr/>
            </p:nvSpPr>
            <p:spPr>
              <a:xfrm>
                <a:off x="703525" y="2157250"/>
                <a:ext cx="2458800" cy="1418700"/>
              </a:xfrm>
              <a:prstGeom prst="rect">
                <a:avLst/>
              </a:prstGeom>
              <a:solidFill>
                <a:srgbClr val="D9D9D9"/>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9" name="Paralelogramo 8">
                <a:extLst>
                  <a:ext uri="{FF2B5EF4-FFF2-40B4-BE49-F238E27FC236}">
                    <a16:creationId xmlns:a16="http://schemas.microsoft.com/office/drawing/2014/main" id="{8623E56F-A27D-F7E7-D667-DB06C7907134}"/>
                  </a:ext>
                </a:extLst>
              </p:cNvPr>
              <p:cNvSpPr/>
              <p:nvPr/>
            </p:nvSpPr>
            <p:spPr>
              <a:xfrm>
                <a:off x="2860775" y="2152450"/>
                <a:ext cx="1127400" cy="1418700"/>
              </a:xfrm>
              <a:prstGeom prst="parallelogram">
                <a:avLst>
                  <a:gd name="adj" fmla="val 25000"/>
                </a:avLst>
              </a:prstGeom>
              <a:solidFill>
                <a:srgbClr val="97A72A"/>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10" name="Rectángulo 9">
                <a:extLst>
                  <a:ext uri="{FF2B5EF4-FFF2-40B4-BE49-F238E27FC236}">
                    <a16:creationId xmlns:a16="http://schemas.microsoft.com/office/drawing/2014/main" id="{BA056F29-3298-1160-5F8C-8B8F0C5D6492}"/>
                  </a:ext>
                </a:extLst>
              </p:cNvPr>
              <p:cNvSpPr/>
              <p:nvPr/>
            </p:nvSpPr>
            <p:spPr>
              <a:xfrm>
                <a:off x="3681324" y="2395395"/>
                <a:ext cx="7260000" cy="1337388"/>
              </a:xfrm>
              <a:prstGeom prst="rect">
                <a:avLst/>
              </a:prstGeom>
              <a:noFill/>
              <a:ln>
                <a:noFill/>
              </a:ln>
            </p:spPr>
            <p:txBody>
              <a:bodyPr spcFirstLastPara="1" wrap="square" lIns="91425" tIns="91425" rIns="91425" bIns="91425" anchor="t" anchorCtr="0">
                <a:noAutofit/>
              </a:bodyPr>
              <a:lstStyle/>
              <a:p>
                <a:pPr algn="r">
                  <a:lnSpc>
                    <a:spcPct val="115000"/>
                  </a:lnSpc>
                </a:pPr>
                <a:r>
                  <a:rPr lang="es-ES" sz="1400" dirty="0">
                    <a:solidFill>
                      <a:srgbClr val="FFFFFF"/>
                    </a:solidFill>
                    <a:effectLst/>
                    <a:latin typeface="Gellix" pitchFamily="2" charset="77"/>
                    <a:ea typeface="Fira Sans Extra Condensed"/>
                    <a:cs typeface="Fira Sans Extra Condensed"/>
                  </a:rPr>
                  <a:t>Nombre del proyecto</a:t>
                </a:r>
                <a:endParaRPr lang="es-MX" sz="1100" dirty="0">
                  <a:effectLst/>
                  <a:latin typeface="Gellix" pitchFamily="2" charset="77"/>
                  <a:ea typeface="Arial" panose="020B0604020202020204" pitchFamily="34" charset="0"/>
                </a:endParaRPr>
              </a:p>
            </p:txBody>
          </p:sp>
        </p:grpSp>
      </p:grpSp>
      <p:sp>
        <p:nvSpPr>
          <p:cNvPr id="11" name="Cuadro de texto 3">
            <a:extLst>
              <a:ext uri="{FF2B5EF4-FFF2-40B4-BE49-F238E27FC236}">
                <a16:creationId xmlns:a16="http://schemas.microsoft.com/office/drawing/2014/main" id="{A928BFB0-6995-2B29-CDC2-F7D5286D22C5}"/>
              </a:ext>
            </a:extLst>
          </p:cNvPr>
          <p:cNvSpPr txBox="1"/>
          <p:nvPr/>
        </p:nvSpPr>
        <p:spPr>
          <a:xfrm>
            <a:off x="608605" y="98129"/>
            <a:ext cx="1308735"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s-ES_tradnl" sz="2200">
                <a:solidFill>
                  <a:srgbClr val="161E43"/>
                </a:solidFill>
                <a:effectLst/>
                <a:latin typeface="Century Gothic" panose="020B0502020202020204" pitchFamily="34" charset="0"/>
                <a:ea typeface="Arial" panose="020B0604020202020204" pitchFamily="34" charset="0"/>
              </a:rPr>
              <a:t>MNA</a:t>
            </a:r>
            <a:endParaRPr lang="es-MX" sz="1100">
              <a:effectLst/>
              <a:latin typeface="Arial" panose="020B0604020202020204" pitchFamily="34" charset="0"/>
              <a:ea typeface="Arial" panose="020B0604020202020204" pitchFamily="34" charset="0"/>
            </a:endParaRPr>
          </a:p>
        </p:txBody>
      </p:sp>
      <p:sp>
        <p:nvSpPr>
          <p:cNvPr id="12" name="Título 1">
            <a:extLst>
              <a:ext uri="{FF2B5EF4-FFF2-40B4-BE49-F238E27FC236}">
                <a16:creationId xmlns:a16="http://schemas.microsoft.com/office/drawing/2014/main" id="{A17F96BB-950A-839D-5631-82791C07217E}"/>
              </a:ext>
            </a:extLst>
          </p:cNvPr>
          <p:cNvSpPr>
            <a:spLocks noGrp="1"/>
          </p:cNvSpPr>
          <p:nvPr>
            <p:ph type="ctrTitle"/>
          </p:nvPr>
        </p:nvSpPr>
        <p:spPr>
          <a:xfrm>
            <a:off x="326723" y="570742"/>
            <a:ext cx="6970643" cy="931121"/>
          </a:xfrm>
        </p:spPr>
        <p:txBody>
          <a:bodyPr>
            <a:normAutofit/>
          </a:bodyPr>
          <a:lstStyle/>
          <a:p>
            <a:pPr algn="l">
              <a:lnSpc>
                <a:spcPct val="100000"/>
              </a:lnSpc>
              <a:spcAft>
                <a:spcPts val="1200"/>
              </a:spcAft>
            </a:pPr>
            <a:r>
              <a:rPr lang="es-MX" sz="2800" dirty="0">
                <a:latin typeface="Gellix" pitchFamily="2" charset="77"/>
              </a:rPr>
              <a:t>01 | Problematica y Objetivo</a:t>
            </a:r>
            <a:endParaRPr lang="es-MX" sz="2000" dirty="0">
              <a:latin typeface="Gellix" pitchFamily="2" charset="77"/>
            </a:endParaRPr>
          </a:p>
        </p:txBody>
      </p:sp>
      <p:sp>
        <p:nvSpPr>
          <p:cNvPr id="13" name="Subtítulo 2">
            <a:extLst>
              <a:ext uri="{FF2B5EF4-FFF2-40B4-BE49-F238E27FC236}">
                <a16:creationId xmlns:a16="http://schemas.microsoft.com/office/drawing/2014/main" id="{30FF6E45-5264-8D11-EAC7-F18054430785}"/>
              </a:ext>
            </a:extLst>
          </p:cNvPr>
          <p:cNvSpPr>
            <a:spLocks noGrp="1"/>
          </p:cNvSpPr>
          <p:nvPr>
            <p:ph type="subTitle" idx="1"/>
          </p:nvPr>
        </p:nvSpPr>
        <p:spPr>
          <a:xfrm>
            <a:off x="366619" y="1501863"/>
            <a:ext cx="10844720" cy="3934690"/>
          </a:xfrm>
        </p:spPr>
        <p:txBody>
          <a:bodyPr>
            <a:normAutofit/>
          </a:bodyPr>
          <a:lstStyle/>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endParaRPr lang="es-MX" sz="2800" dirty="0">
              <a:latin typeface="Avenir Next Condensed" panose="020B0506020202020204" pitchFamily="34" charset="0"/>
            </a:endParaRPr>
          </a:p>
        </p:txBody>
      </p:sp>
      <p:sp>
        <p:nvSpPr>
          <p:cNvPr id="14" name="Rectangle 13"/>
          <p:cNvSpPr/>
          <p:nvPr/>
        </p:nvSpPr>
        <p:spPr>
          <a:xfrm>
            <a:off x="365760" y="1645920"/>
            <a:ext cx="5394960" cy="44805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1737360"/>
            <a:ext cx="4937760" cy="365760"/>
          </a:xfrm>
          <a:prstGeom prst="rect">
            <a:avLst/>
          </a:prstGeom>
          <a:noFill/>
        </p:spPr>
        <p:txBody>
          <a:bodyPr wrap="square">
            <a:spAutoFit/>
          </a:bodyPr>
          <a:lstStyle/>
          <a:p>
            <a:pPr algn="l"/>
            <a:r>
              <a:rPr sz="1400" b="1">
                <a:solidFill>
                  <a:srgbClr val="161E44"/>
                </a:solidFill>
                <a:latin typeface="Century Gothic"/>
              </a:rPr>
              <a:t>El problema</a:t>
            </a:r>
          </a:p>
        </p:txBody>
      </p:sp>
      <p:sp>
        <p:nvSpPr>
          <p:cNvPr id="16" name="Rectangle 15"/>
          <p:cNvSpPr/>
          <p:nvPr/>
        </p:nvSpPr>
        <p:spPr>
          <a:xfrm>
            <a:off x="365760" y="2212848"/>
            <a:ext cx="5394960" cy="8412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267712"/>
            <a:ext cx="5029200" cy="713232"/>
          </a:xfrm>
          <a:prstGeom prst="rect">
            <a:avLst/>
          </a:prstGeom>
          <a:noFill/>
        </p:spPr>
        <p:txBody>
          <a:bodyPr wrap="square">
            <a:spAutoFit/>
          </a:bodyPr>
          <a:lstStyle/>
          <a:p>
            <a:pPr algn="l"/>
            <a:r>
              <a:rPr sz="1200" b="0">
                <a:solidFill>
                  <a:srgbClr val="161E44"/>
                </a:solidFill>
                <a:latin typeface="Avenir Next Condensed"/>
              </a:rPr>
              <a:t>• El ganado bovino genera el 14.5% de los GEI globales</a:t>
            </a:r>
          </a:p>
        </p:txBody>
      </p:sp>
      <p:sp>
        <p:nvSpPr>
          <p:cNvPr id="18" name="Rectangle 17"/>
          <p:cNvSpPr/>
          <p:nvPr/>
        </p:nvSpPr>
        <p:spPr>
          <a:xfrm>
            <a:off x="365760" y="3172968"/>
            <a:ext cx="5394960" cy="8412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227832"/>
            <a:ext cx="5029200" cy="713232"/>
          </a:xfrm>
          <a:prstGeom prst="rect">
            <a:avLst/>
          </a:prstGeom>
          <a:noFill/>
        </p:spPr>
        <p:txBody>
          <a:bodyPr wrap="square">
            <a:spAutoFit/>
          </a:bodyPr>
          <a:lstStyle/>
          <a:p>
            <a:pPr algn="l"/>
            <a:r>
              <a:rPr sz="1200" b="0">
                <a:solidFill>
                  <a:srgbClr val="161E44"/>
                </a:solidFill>
                <a:latin typeface="Avenir Next Condensed"/>
              </a:rPr>
              <a:t>• Sin herramientas predictivas, la dosificacion de nutraceuticos es empirica</a:t>
            </a:r>
          </a:p>
        </p:txBody>
      </p:sp>
      <p:sp>
        <p:nvSpPr>
          <p:cNvPr id="20" name="Rectangle 19"/>
          <p:cNvSpPr/>
          <p:nvPr/>
        </p:nvSpPr>
        <p:spPr>
          <a:xfrm>
            <a:off x="365760" y="4133087"/>
            <a:ext cx="5394960" cy="8412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187952"/>
            <a:ext cx="5029200" cy="713232"/>
          </a:xfrm>
          <a:prstGeom prst="rect">
            <a:avLst/>
          </a:prstGeom>
          <a:noFill/>
        </p:spPr>
        <p:txBody>
          <a:bodyPr wrap="square">
            <a:spAutoFit/>
          </a:bodyPr>
          <a:lstStyle/>
          <a:p>
            <a:pPr algn="l"/>
            <a:r>
              <a:rPr sz="1200" b="0">
                <a:solidFill>
                  <a:srgbClr val="161E44"/>
                </a:solidFill>
                <a:latin typeface="Avenir Next Condensed"/>
              </a:rPr>
              <a:t>• Exceso de suplemento: costo innecesario. Deficit: metano alto persistente</a:t>
            </a:r>
          </a:p>
        </p:txBody>
      </p:sp>
      <p:sp>
        <p:nvSpPr>
          <p:cNvPr id="22" name="Rectangle 21"/>
          <p:cNvSpPr/>
          <p:nvPr/>
        </p:nvSpPr>
        <p:spPr>
          <a:xfrm>
            <a:off x="365760" y="5093208"/>
            <a:ext cx="5394960" cy="8412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148072"/>
            <a:ext cx="5029200" cy="713232"/>
          </a:xfrm>
          <a:prstGeom prst="rect">
            <a:avLst/>
          </a:prstGeom>
          <a:noFill/>
        </p:spPr>
        <p:txBody>
          <a:bodyPr wrap="square">
            <a:spAutoFit/>
          </a:bodyPr>
          <a:lstStyle/>
          <a:p>
            <a:pPr algn="l"/>
            <a:r>
              <a:rPr sz="1200" b="0">
                <a:solidFill>
                  <a:srgbClr val="161E44"/>
                </a:solidFill>
                <a:latin typeface="Avenir Next Condensed"/>
              </a:rPr>
              <a:t>• Regulaciones ambientales crecientes exigen metricas verificables de carbono</a:t>
            </a:r>
          </a:p>
        </p:txBody>
      </p:sp>
      <p:sp>
        <p:nvSpPr>
          <p:cNvPr id="24" name="Rectangle 23"/>
          <p:cNvSpPr/>
          <p:nvPr/>
        </p:nvSpPr>
        <p:spPr>
          <a:xfrm>
            <a:off x="6126480" y="1645920"/>
            <a:ext cx="5760720" cy="210312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1719072"/>
            <a:ext cx="5303520" cy="365760"/>
          </a:xfrm>
          <a:prstGeom prst="rect">
            <a:avLst/>
          </a:prstGeom>
          <a:noFill/>
        </p:spPr>
        <p:txBody>
          <a:bodyPr wrap="square">
            <a:spAutoFit/>
          </a:bodyPr>
          <a:lstStyle/>
          <a:p>
            <a:pPr algn="l"/>
            <a:r>
              <a:rPr sz="1400" b="1">
                <a:solidFill>
                  <a:srgbClr val="D4A017"/>
                </a:solidFill>
                <a:latin typeface="Century Gothic"/>
              </a:rPr>
              <a:t>Objetivo del proyecto</a:t>
            </a:r>
          </a:p>
        </p:txBody>
      </p:sp>
      <p:sp>
        <p:nvSpPr>
          <p:cNvPr id="26" name="TextBox 25"/>
          <p:cNvSpPr txBox="1"/>
          <p:nvPr/>
        </p:nvSpPr>
        <p:spPr>
          <a:xfrm>
            <a:off x="6309360" y="2148840"/>
            <a:ext cx="5394960" cy="1463040"/>
          </a:xfrm>
          <a:prstGeom prst="rect">
            <a:avLst/>
          </a:prstGeom>
          <a:noFill/>
        </p:spPr>
        <p:txBody>
          <a:bodyPr wrap="square">
            <a:spAutoFit/>
          </a:bodyPr>
          <a:lstStyle/>
          <a:p>
            <a:pPr algn="l"/>
            <a:r>
              <a:rPr sz="1300" b="0">
                <a:solidFill>
                  <a:srgbClr val="FFFFFF"/>
                </a:solidFill>
                <a:latin typeface="Avenir Next Condensed"/>
              </a:rPr>
              <a:t>Predecir la intensidad de emision de metano (g CH4/kg leche) por vaca mediante ML para optimizar la dosis de nutraceuticos y reducir la huella de carbono.</a:t>
            </a:r>
          </a:p>
        </p:txBody>
      </p:sp>
      <p:sp>
        <p:nvSpPr>
          <p:cNvPr id="27" name="Rectangle 26"/>
          <p:cNvSpPr/>
          <p:nvPr/>
        </p:nvSpPr>
        <p:spPr>
          <a:xfrm>
            <a:off x="6126480" y="3886200"/>
            <a:ext cx="5760720" cy="22402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950208"/>
            <a:ext cx="5029200" cy="365760"/>
          </a:xfrm>
          <a:prstGeom prst="rect">
            <a:avLst/>
          </a:prstGeom>
          <a:noFill/>
        </p:spPr>
        <p:txBody>
          <a:bodyPr wrap="square">
            <a:spAutoFit/>
          </a:bodyPr>
          <a:lstStyle/>
          <a:p>
            <a:pPr algn="l"/>
            <a:r>
              <a:rPr sz="1400" b="1">
                <a:solidFill>
                  <a:srgbClr val="161E44"/>
                </a:solidFill>
                <a:latin typeface="Century Gothic"/>
              </a:rPr>
              <a:t>Dataset</a:t>
            </a:r>
          </a:p>
        </p:txBody>
      </p:sp>
      <p:sp>
        <p:nvSpPr>
          <p:cNvPr id="29" name="TextBox 28"/>
          <p:cNvSpPr txBox="1"/>
          <p:nvPr/>
        </p:nvSpPr>
        <p:spPr>
          <a:xfrm>
            <a:off x="6309360" y="4434840"/>
            <a:ext cx="1280160" cy="502920"/>
          </a:xfrm>
          <a:prstGeom prst="rect">
            <a:avLst/>
          </a:prstGeom>
          <a:noFill/>
        </p:spPr>
        <p:txBody>
          <a:bodyPr wrap="square">
            <a:spAutoFit/>
          </a:bodyPr>
          <a:lstStyle/>
          <a:p>
            <a:pPr algn="ctr"/>
            <a:r>
              <a:rPr sz="2200" b="1">
                <a:solidFill>
                  <a:srgbClr val="161E44"/>
                </a:solidFill>
                <a:latin typeface="Century Gothic"/>
              </a:rPr>
              <a:t>73,000</a:t>
            </a:r>
          </a:p>
        </p:txBody>
      </p:sp>
      <p:sp>
        <p:nvSpPr>
          <p:cNvPr id="30" name="TextBox 29"/>
          <p:cNvSpPr txBox="1"/>
          <p:nvPr/>
        </p:nvSpPr>
        <p:spPr>
          <a:xfrm>
            <a:off x="6309360" y="4956048"/>
            <a:ext cx="1280160" cy="320040"/>
          </a:xfrm>
          <a:prstGeom prst="rect">
            <a:avLst/>
          </a:prstGeom>
          <a:noFill/>
        </p:spPr>
        <p:txBody>
          <a:bodyPr wrap="square">
            <a:spAutoFit/>
          </a:bodyPr>
          <a:lstStyle/>
          <a:p>
            <a:pPr algn="ctr"/>
            <a:r>
              <a:rPr sz="1100" b="0">
                <a:solidFill>
                  <a:srgbClr val="556580"/>
                </a:solidFill>
                <a:latin typeface="Avenir Next Condensed"/>
              </a:rPr>
              <a:t>registros</a:t>
            </a:r>
          </a:p>
        </p:txBody>
      </p:sp>
      <p:sp>
        <p:nvSpPr>
          <p:cNvPr id="31" name="TextBox 30"/>
          <p:cNvSpPr txBox="1"/>
          <p:nvPr/>
        </p:nvSpPr>
        <p:spPr>
          <a:xfrm>
            <a:off x="7699248" y="4434840"/>
            <a:ext cx="1280160" cy="502920"/>
          </a:xfrm>
          <a:prstGeom prst="rect">
            <a:avLst/>
          </a:prstGeom>
          <a:noFill/>
        </p:spPr>
        <p:txBody>
          <a:bodyPr wrap="square">
            <a:spAutoFit/>
          </a:bodyPr>
          <a:lstStyle/>
          <a:p>
            <a:pPr algn="ctr"/>
            <a:r>
              <a:rPr sz="2200" b="1">
                <a:solidFill>
                  <a:srgbClr val="161E44"/>
                </a:solidFill>
                <a:latin typeface="Century Gothic"/>
              </a:rPr>
              <a:t>100</a:t>
            </a:r>
          </a:p>
        </p:txBody>
      </p:sp>
      <p:sp>
        <p:nvSpPr>
          <p:cNvPr id="32" name="TextBox 31"/>
          <p:cNvSpPr txBox="1"/>
          <p:nvPr/>
        </p:nvSpPr>
        <p:spPr>
          <a:xfrm>
            <a:off x="7699248" y="4956048"/>
            <a:ext cx="1280160" cy="320040"/>
          </a:xfrm>
          <a:prstGeom prst="rect">
            <a:avLst/>
          </a:prstGeom>
          <a:noFill/>
        </p:spPr>
        <p:txBody>
          <a:bodyPr wrap="square">
            <a:spAutoFit/>
          </a:bodyPr>
          <a:lstStyle/>
          <a:p>
            <a:pPr algn="ctr"/>
            <a:r>
              <a:rPr sz="1100" b="0">
                <a:solidFill>
                  <a:srgbClr val="556580"/>
                </a:solidFill>
                <a:latin typeface="Avenir Next Condensed"/>
              </a:rPr>
              <a:t>vacas</a:t>
            </a:r>
          </a:p>
        </p:txBody>
      </p:sp>
      <p:sp>
        <p:nvSpPr>
          <p:cNvPr id="33" name="TextBox 32"/>
          <p:cNvSpPr txBox="1"/>
          <p:nvPr/>
        </p:nvSpPr>
        <p:spPr>
          <a:xfrm>
            <a:off x="9089136" y="4434840"/>
            <a:ext cx="1280160" cy="502920"/>
          </a:xfrm>
          <a:prstGeom prst="rect">
            <a:avLst/>
          </a:prstGeom>
          <a:noFill/>
        </p:spPr>
        <p:txBody>
          <a:bodyPr wrap="square">
            <a:spAutoFit/>
          </a:bodyPr>
          <a:lstStyle/>
          <a:p>
            <a:pPr algn="ctr"/>
            <a:r>
              <a:rPr sz="2200" b="1">
                <a:solidFill>
                  <a:srgbClr val="161E44"/>
                </a:solidFill>
                <a:latin typeface="Century Gothic"/>
              </a:rPr>
              <a:t>3</a:t>
            </a:r>
          </a:p>
        </p:txBody>
      </p:sp>
      <p:sp>
        <p:nvSpPr>
          <p:cNvPr id="34" name="TextBox 33"/>
          <p:cNvSpPr txBox="1"/>
          <p:nvPr/>
        </p:nvSpPr>
        <p:spPr>
          <a:xfrm>
            <a:off x="9089136" y="4956048"/>
            <a:ext cx="1280160" cy="320040"/>
          </a:xfrm>
          <a:prstGeom prst="rect">
            <a:avLst/>
          </a:prstGeom>
          <a:noFill/>
        </p:spPr>
        <p:txBody>
          <a:bodyPr wrap="square">
            <a:spAutoFit/>
          </a:bodyPr>
          <a:lstStyle/>
          <a:p>
            <a:pPr algn="ctr"/>
            <a:r>
              <a:rPr sz="1100" b="0">
                <a:solidFill>
                  <a:srgbClr val="556580"/>
                </a:solidFill>
                <a:latin typeface="Avenir Next Condensed"/>
              </a:rPr>
              <a:t>razas</a:t>
            </a:r>
          </a:p>
        </p:txBody>
      </p:sp>
      <p:sp>
        <p:nvSpPr>
          <p:cNvPr id="35" name="TextBox 34"/>
          <p:cNvSpPr txBox="1"/>
          <p:nvPr/>
        </p:nvSpPr>
        <p:spPr>
          <a:xfrm>
            <a:off x="10479024" y="4434840"/>
            <a:ext cx="1280160" cy="502920"/>
          </a:xfrm>
          <a:prstGeom prst="rect">
            <a:avLst/>
          </a:prstGeom>
          <a:noFill/>
        </p:spPr>
        <p:txBody>
          <a:bodyPr wrap="square">
            <a:spAutoFit/>
          </a:bodyPr>
          <a:lstStyle/>
          <a:p>
            <a:pPr algn="ctr"/>
            <a:r>
              <a:rPr sz="2200" b="1">
                <a:solidFill>
                  <a:srgbClr val="161E44"/>
                </a:solidFill>
                <a:latin typeface="Century Gothic"/>
              </a:rPr>
              <a:t>24</a:t>
            </a:r>
          </a:p>
        </p:txBody>
      </p:sp>
      <p:sp>
        <p:nvSpPr>
          <p:cNvPr id="36" name="TextBox 35"/>
          <p:cNvSpPr txBox="1"/>
          <p:nvPr/>
        </p:nvSpPr>
        <p:spPr>
          <a:xfrm>
            <a:off x="10479024" y="4956048"/>
            <a:ext cx="1280160" cy="320040"/>
          </a:xfrm>
          <a:prstGeom prst="rect">
            <a:avLst/>
          </a:prstGeom>
          <a:noFill/>
        </p:spPr>
        <p:txBody>
          <a:bodyPr wrap="square">
            <a:spAutoFit/>
          </a:bodyPr>
          <a:lstStyle/>
          <a:p>
            <a:pPr algn="ctr"/>
            <a:r>
              <a:rPr sz="1100" b="0">
                <a:solidFill>
                  <a:srgbClr val="556580"/>
                </a:solidFill>
                <a:latin typeface="Avenir Next Condensed"/>
              </a:rPr>
              <a:t>meses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 name="Grupo 3">
            <a:extLst>
              <a:ext uri="{FF2B5EF4-FFF2-40B4-BE49-F238E27FC236}">
                <a16:creationId xmlns:a16="http://schemas.microsoft.com/office/drawing/2014/main" id="{BA2F9B76-D70D-0F10-BC27-39EB895783B8}"/>
              </a:ext>
            </a:extLst>
          </p:cNvPr>
          <p:cNvGrpSpPr/>
          <p:nvPr/>
        </p:nvGrpSpPr>
        <p:grpSpPr>
          <a:xfrm>
            <a:off x="-1" y="0"/>
            <a:ext cx="12322630" cy="727520"/>
            <a:chOff x="703525" y="2152231"/>
            <a:chExt cx="10523975" cy="940772"/>
          </a:xfrm>
        </p:grpSpPr>
        <p:sp>
          <p:nvSpPr>
            <p:cNvPr id="5" name="Rectángulo 4">
              <a:extLst>
                <a:ext uri="{FF2B5EF4-FFF2-40B4-BE49-F238E27FC236}">
                  <a16:creationId xmlns:a16="http://schemas.microsoft.com/office/drawing/2014/main" id="{DFAF7A8C-333D-C58F-9C95-59591841527A}"/>
                </a:ext>
              </a:extLst>
            </p:cNvPr>
            <p:cNvSpPr/>
            <p:nvPr/>
          </p:nvSpPr>
          <p:spPr>
            <a:xfrm>
              <a:off x="703525" y="2152232"/>
              <a:ext cx="10523975" cy="847400"/>
            </a:xfrm>
            <a:prstGeom prst="rect">
              <a:avLst/>
            </a:prstGeom>
            <a:no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nvGrpSpPr>
            <p:cNvPr id="6" name="Grupo 5">
              <a:extLst>
                <a:ext uri="{FF2B5EF4-FFF2-40B4-BE49-F238E27FC236}">
                  <a16:creationId xmlns:a16="http://schemas.microsoft.com/office/drawing/2014/main" id="{F0F2FE41-68B0-2A54-4B88-859454FD71BF}"/>
                </a:ext>
              </a:extLst>
            </p:cNvPr>
            <p:cNvGrpSpPr/>
            <p:nvPr/>
          </p:nvGrpSpPr>
          <p:grpSpPr>
            <a:xfrm>
              <a:off x="703525" y="2152231"/>
              <a:ext cx="10412414" cy="940772"/>
              <a:chOff x="703525" y="2152450"/>
              <a:chExt cx="10412414" cy="1580333"/>
            </a:xfrm>
          </p:grpSpPr>
          <p:sp>
            <p:nvSpPr>
              <p:cNvPr id="7" name="Rectángulo 6">
                <a:extLst>
                  <a:ext uri="{FF2B5EF4-FFF2-40B4-BE49-F238E27FC236}">
                    <a16:creationId xmlns:a16="http://schemas.microsoft.com/office/drawing/2014/main" id="{1927F4A0-FF65-DE13-8DB0-F182C45D1F8F}"/>
                  </a:ext>
                </a:extLst>
              </p:cNvPr>
              <p:cNvSpPr/>
              <p:nvPr/>
            </p:nvSpPr>
            <p:spPr>
              <a:xfrm>
                <a:off x="3657601" y="2152450"/>
                <a:ext cx="7458338" cy="1418699"/>
              </a:xfrm>
              <a:prstGeom prst="rect">
                <a:avLst/>
              </a:prstGeom>
              <a:solidFill>
                <a:srgbClr val="161E44"/>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8" name="Rectángulo 7">
                <a:extLst>
                  <a:ext uri="{FF2B5EF4-FFF2-40B4-BE49-F238E27FC236}">
                    <a16:creationId xmlns:a16="http://schemas.microsoft.com/office/drawing/2014/main" id="{0F2B72AB-467F-B766-220B-492375030E4E}"/>
                  </a:ext>
                </a:extLst>
              </p:cNvPr>
              <p:cNvSpPr/>
              <p:nvPr/>
            </p:nvSpPr>
            <p:spPr>
              <a:xfrm>
                <a:off x="703525" y="2157250"/>
                <a:ext cx="2458800" cy="1418700"/>
              </a:xfrm>
              <a:prstGeom prst="rect">
                <a:avLst/>
              </a:prstGeom>
              <a:solidFill>
                <a:srgbClr val="D9D9D9"/>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9" name="Paralelogramo 8">
                <a:extLst>
                  <a:ext uri="{FF2B5EF4-FFF2-40B4-BE49-F238E27FC236}">
                    <a16:creationId xmlns:a16="http://schemas.microsoft.com/office/drawing/2014/main" id="{8623E56F-A27D-F7E7-D667-DB06C7907134}"/>
                  </a:ext>
                </a:extLst>
              </p:cNvPr>
              <p:cNvSpPr/>
              <p:nvPr/>
            </p:nvSpPr>
            <p:spPr>
              <a:xfrm>
                <a:off x="2860775" y="2152450"/>
                <a:ext cx="1127400" cy="1418700"/>
              </a:xfrm>
              <a:prstGeom prst="parallelogram">
                <a:avLst>
                  <a:gd name="adj" fmla="val 25000"/>
                </a:avLst>
              </a:prstGeom>
              <a:solidFill>
                <a:srgbClr val="97A72A"/>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10" name="Rectángulo 9">
                <a:extLst>
                  <a:ext uri="{FF2B5EF4-FFF2-40B4-BE49-F238E27FC236}">
                    <a16:creationId xmlns:a16="http://schemas.microsoft.com/office/drawing/2014/main" id="{BA056F29-3298-1160-5F8C-8B8F0C5D6492}"/>
                  </a:ext>
                </a:extLst>
              </p:cNvPr>
              <p:cNvSpPr/>
              <p:nvPr/>
            </p:nvSpPr>
            <p:spPr>
              <a:xfrm>
                <a:off x="3681324" y="2395395"/>
                <a:ext cx="7260000" cy="1337388"/>
              </a:xfrm>
              <a:prstGeom prst="rect">
                <a:avLst/>
              </a:prstGeom>
              <a:noFill/>
              <a:ln>
                <a:noFill/>
              </a:ln>
            </p:spPr>
            <p:txBody>
              <a:bodyPr spcFirstLastPara="1" wrap="square" lIns="91425" tIns="91425" rIns="91425" bIns="91425" anchor="t" anchorCtr="0">
                <a:noAutofit/>
              </a:bodyPr>
              <a:lstStyle/>
              <a:p>
                <a:pPr algn="r">
                  <a:lnSpc>
                    <a:spcPct val="115000"/>
                  </a:lnSpc>
                </a:pPr>
                <a:r>
                  <a:rPr lang="es-ES" sz="1400" dirty="0">
                    <a:solidFill>
                      <a:srgbClr val="FFFFFF"/>
                    </a:solidFill>
                    <a:effectLst/>
                    <a:latin typeface="Gellix" pitchFamily="2" charset="77"/>
                    <a:ea typeface="Fira Sans Extra Condensed"/>
                    <a:cs typeface="Fira Sans Extra Condensed"/>
                  </a:rPr>
                  <a:t>Nombre del proyecto</a:t>
                </a:r>
                <a:endParaRPr lang="es-MX" sz="1100" dirty="0">
                  <a:effectLst/>
                  <a:latin typeface="Gellix" pitchFamily="2" charset="77"/>
                  <a:ea typeface="Arial" panose="020B0604020202020204" pitchFamily="34" charset="0"/>
                </a:endParaRPr>
              </a:p>
            </p:txBody>
          </p:sp>
        </p:grpSp>
      </p:grpSp>
      <p:sp>
        <p:nvSpPr>
          <p:cNvPr id="11" name="Cuadro de texto 3">
            <a:extLst>
              <a:ext uri="{FF2B5EF4-FFF2-40B4-BE49-F238E27FC236}">
                <a16:creationId xmlns:a16="http://schemas.microsoft.com/office/drawing/2014/main" id="{A928BFB0-6995-2B29-CDC2-F7D5286D22C5}"/>
              </a:ext>
            </a:extLst>
          </p:cNvPr>
          <p:cNvSpPr txBox="1"/>
          <p:nvPr/>
        </p:nvSpPr>
        <p:spPr>
          <a:xfrm>
            <a:off x="608605" y="98129"/>
            <a:ext cx="1308735"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s-ES_tradnl" sz="2200">
                <a:solidFill>
                  <a:srgbClr val="161E43"/>
                </a:solidFill>
                <a:effectLst/>
                <a:latin typeface="Century Gothic" panose="020B0502020202020204" pitchFamily="34" charset="0"/>
                <a:ea typeface="Arial" panose="020B0604020202020204" pitchFamily="34" charset="0"/>
              </a:rPr>
              <a:t>MNA</a:t>
            </a:r>
            <a:endParaRPr lang="es-MX" sz="1100">
              <a:effectLst/>
              <a:latin typeface="Arial" panose="020B0604020202020204" pitchFamily="34" charset="0"/>
              <a:ea typeface="Arial" panose="020B0604020202020204" pitchFamily="34" charset="0"/>
            </a:endParaRPr>
          </a:p>
        </p:txBody>
      </p:sp>
      <p:sp>
        <p:nvSpPr>
          <p:cNvPr id="12" name="Título 1">
            <a:extLst>
              <a:ext uri="{FF2B5EF4-FFF2-40B4-BE49-F238E27FC236}">
                <a16:creationId xmlns:a16="http://schemas.microsoft.com/office/drawing/2014/main" id="{A17F96BB-950A-839D-5631-82791C07217E}"/>
              </a:ext>
            </a:extLst>
          </p:cNvPr>
          <p:cNvSpPr>
            <a:spLocks noGrp="1"/>
          </p:cNvSpPr>
          <p:nvPr>
            <p:ph type="ctrTitle"/>
          </p:nvPr>
        </p:nvSpPr>
        <p:spPr>
          <a:xfrm>
            <a:off x="326723" y="570742"/>
            <a:ext cx="6970643" cy="931121"/>
          </a:xfrm>
        </p:spPr>
        <p:txBody>
          <a:bodyPr>
            <a:normAutofit/>
          </a:bodyPr>
          <a:lstStyle/>
          <a:p>
            <a:pPr algn="l">
              <a:lnSpc>
                <a:spcPct val="100000"/>
              </a:lnSpc>
              <a:spcAft>
                <a:spcPts val="1200"/>
              </a:spcAft>
            </a:pPr>
            <a:r>
              <a:rPr lang="es-MX" sz="2800" dirty="0">
                <a:latin typeface="Gellix" pitchFamily="2" charset="77"/>
              </a:rPr>
              <a:t>02 | Hallazgos del Analisis Exploratorio</a:t>
            </a:r>
            <a:endParaRPr lang="es-MX" sz="2000" dirty="0">
              <a:latin typeface="Gellix" pitchFamily="2" charset="77"/>
            </a:endParaRPr>
          </a:p>
        </p:txBody>
      </p:sp>
      <p:sp>
        <p:nvSpPr>
          <p:cNvPr id="13" name="Subtítulo 2">
            <a:extLst>
              <a:ext uri="{FF2B5EF4-FFF2-40B4-BE49-F238E27FC236}">
                <a16:creationId xmlns:a16="http://schemas.microsoft.com/office/drawing/2014/main" id="{30FF6E45-5264-8D11-EAC7-F18054430785}"/>
              </a:ext>
            </a:extLst>
          </p:cNvPr>
          <p:cNvSpPr>
            <a:spLocks noGrp="1"/>
          </p:cNvSpPr>
          <p:nvPr>
            <p:ph type="subTitle" idx="1"/>
          </p:nvPr>
        </p:nvSpPr>
        <p:spPr>
          <a:xfrm>
            <a:off x="366619" y="1501863"/>
            <a:ext cx="10844720" cy="3934690"/>
          </a:xfrm>
        </p:spPr>
        <p:txBody>
          <a:bodyPr>
            <a:normAutofit/>
          </a:bodyPr>
          <a:lstStyle/>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endParaRPr lang="es-MX" sz="2800" dirty="0">
              <a:latin typeface="Avenir Next Condensed" panose="020B0506020202020204" pitchFamily="34" charset="0"/>
            </a:endParaRPr>
          </a:p>
        </p:txBody>
      </p:sp>
      <p:sp>
        <p:nvSpPr>
          <p:cNvPr id="14" name="Rectangle 13"/>
          <p:cNvSpPr/>
          <p:nvPr/>
        </p:nvSpPr>
        <p:spPr>
          <a:xfrm>
            <a:off x="365760" y="1645920"/>
            <a:ext cx="5715000" cy="22402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1645920"/>
            <a:ext cx="5715000"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1700784"/>
            <a:ext cx="5394960" cy="347472"/>
          </a:xfrm>
          <a:prstGeom prst="rect">
            <a:avLst/>
          </a:prstGeom>
          <a:noFill/>
        </p:spPr>
        <p:txBody>
          <a:bodyPr wrap="square">
            <a:spAutoFit/>
          </a:bodyPr>
          <a:lstStyle/>
          <a:p>
            <a:pPr algn="l"/>
            <a:r>
              <a:rPr sz="1300" b="1">
                <a:solidFill>
                  <a:srgbClr val="FFFFFF"/>
                </a:solidFill>
                <a:latin typeface="Century Gothic"/>
              </a:rPr>
              <a:t>Distribucion de metano</a:t>
            </a:r>
          </a:p>
        </p:txBody>
      </p:sp>
      <p:sp>
        <p:nvSpPr>
          <p:cNvPr id="17" name="TextBox 16"/>
          <p:cNvSpPr txBox="1"/>
          <p:nvPr/>
        </p:nvSpPr>
        <p:spPr>
          <a:xfrm>
            <a:off x="502920" y="2194560"/>
            <a:ext cx="5394960" cy="1554480"/>
          </a:xfrm>
          <a:prstGeom prst="rect">
            <a:avLst/>
          </a:prstGeom>
          <a:noFill/>
        </p:spPr>
        <p:txBody>
          <a:bodyPr wrap="square">
            <a:spAutoFit/>
          </a:bodyPr>
          <a:lstStyle/>
          <a:p>
            <a:pPr algn="l"/>
            <a:r>
              <a:rPr sz="1200" b="0">
                <a:solidFill>
                  <a:srgbClr val="161E44"/>
                </a:solidFill>
                <a:latin typeface="Avenir Next Condensed"/>
              </a:rPr>
              <a:t>Media: 16.5 g CH4/kg leche</a:t>
            </a:r>
          </a:p>
          <a:p>
            <a:pPr algn="l"/>
            <a:r>
              <a:rPr sz="1200" b="0">
                <a:solidFill>
                  <a:srgbClr val="161E44"/>
                </a:solidFill>
                <a:latin typeface="Avenir Next Condensed"/>
              </a:rPr>
              <a:t>Rango: 8-35 g/kg · 23% en nivel "Alto" (&gt;25 g)</a:t>
            </a:r>
          </a:p>
          <a:p>
            <a:pPr algn="l"/>
            <a:r>
              <a:rPr sz="1200" b="0">
                <a:solidFill>
                  <a:srgbClr val="161E44"/>
                </a:solidFill>
                <a:latin typeface="Avenir Next Condensed"/>
              </a:rPr>
              <a:t>Distribucion bimodal: dos perfiles de vaca</a:t>
            </a:r>
          </a:p>
        </p:txBody>
      </p:sp>
      <p:sp>
        <p:nvSpPr>
          <p:cNvPr id="18" name="Rectangle 17"/>
          <p:cNvSpPr/>
          <p:nvPr/>
        </p:nvSpPr>
        <p:spPr>
          <a:xfrm>
            <a:off x="6355080" y="1645920"/>
            <a:ext cx="5715000" cy="22402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55080" y="1645920"/>
            <a:ext cx="5715000"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1700784"/>
            <a:ext cx="5394960" cy="347472"/>
          </a:xfrm>
          <a:prstGeom prst="rect">
            <a:avLst/>
          </a:prstGeom>
          <a:noFill/>
        </p:spPr>
        <p:txBody>
          <a:bodyPr wrap="square">
            <a:spAutoFit/>
          </a:bodyPr>
          <a:lstStyle/>
          <a:p>
            <a:pPr algn="l"/>
            <a:r>
              <a:rPr sz="1300" b="1">
                <a:solidFill>
                  <a:srgbClr val="FFFFFF"/>
                </a:solidFill>
                <a:latin typeface="Century Gothic"/>
              </a:rPr>
              <a:t>Diferencias por raza</a:t>
            </a:r>
          </a:p>
        </p:txBody>
      </p:sp>
      <p:sp>
        <p:nvSpPr>
          <p:cNvPr id="21" name="TextBox 20"/>
          <p:cNvSpPr txBox="1"/>
          <p:nvPr/>
        </p:nvSpPr>
        <p:spPr>
          <a:xfrm>
            <a:off x="6492240" y="2194560"/>
            <a:ext cx="5394960" cy="1554480"/>
          </a:xfrm>
          <a:prstGeom prst="rect">
            <a:avLst/>
          </a:prstGeom>
          <a:noFill/>
        </p:spPr>
        <p:txBody>
          <a:bodyPr wrap="square">
            <a:spAutoFit/>
          </a:bodyPr>
          <a:lstStyle/>
          <a:p>
            <a:pPr algn="l"/>
            <a:r>
              <a:rPr sz="1200" b="0">
                <a:solidFill>
                  <a:srgbClr val="161E44"/>
                </a:solidFill>
                <a:latin typeface="Avenir Next Condensed"/>
              </a:rPr>
              <a:t>Holstein: ~15.2 g/kg (mas eficiente)</a:t>
            </a:r>
          </a:p>
          <a:p>
            <a:pPr algn="l"/>
            <a:r>
              <a:rPr sz="1200" b="0">
                <a:solidFill>
                  <a:srgbClr val="161E44"/>
                </a:solidFill>
                <a:latin typeface="Avenir Next Condensed"/>
              </a:rPr>
              <a:t>Jersey: ~17.1 g/kg</a:t>
            </a:r>
          </a:p>
          <a:p>
            <a:pPr algn="l"/>
            <a:r>
              <a:rPr sz="1200" b="0">
                <a:solidFill>
                  <a:srgbClr val="161E44"/>
                </a:solidFill>
                <a:latin typeface="Avenir Next Condensed"/>
              </a:rPr>
              <a:t>Pardo Suizo: ~18.3 g/kg -&gt; raza es predictor clave</a:t>
            </a:r>
          </a:p>
        </p:txBody>
      </p:sp>
      <p:sp>
        <p:nvSpPr>
          <p:cNvPr id="22" name="Rectangle 21"/>
          <p:cNvSpPr/>
          <p:nvPr/>
        </p:nvSpPr>
        <p:spPr>
          <a:xfrm>
            <a:off x="365760" y="4069080"/>
            <a:ext cx="5715000" cy="22402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069080"/>
            <a:ext cx="5715000"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123944"/>
            <a:ext cx="5394960" cy="347472"/>
          </a:xfrm>
          <a:prstGeom prst="rect">
            <a:avLst/>
          </a:prstGeom>
          <a:noFill/>
        </p:spPr>
        <p:txBody>
          <a:bodyPr wrap="square">
            <a:spAutoFit/>
          </a:bodyPr>
          <a:lstStyle/>
          <a:p>
            <a:pPr algn="l"/>
            <a:r>
              <a:rPr sz="1300" b="1">
                <a:solidFill>
                  <a:srgbClr val="FFFFFF"/>
                </a:solidFill>
                <a:latin typeface="Century Gothic"/>
              </a:rPr>
              <a:t>Correlaciones clave</a:t>
            </a:r>
          </a:p>
        </p:txBody>
      </p:sp>
      <p:sp>
        <p:nvSpPr>
          <p:cNvPr id="25" name="TextBox 24"/>
          <p:cNvSpPr txBox="1"/>
          <p:nvPr/>
        </p:nvSpPr>
        <p:spPr>
          <a:xfrm>
            <a:off x="502920" y="4617720"/>
            <a:ext cx="5394960" cy="1554480"/>
          </a:xfrm>
          <a:prstGeom prst="rect">
            <a:avLst/>
          </a:prstGeom>
          <a:noFill/>
        </p:spPr>
        <p:txBody>
          <a:bodyPr wrap="square">
            <a:spAutoFit/>
          </a:bodyPr>
          <a:lstStyle/>
          <a:p>
            <a:pPr algn="l"/>
            <a:r>
              <a:rPr sz="1200" b="0">
                <a:solidFill>
                  <a:srgbClr val="161E44"/>
                </a:solidFill>
                <a:latin typeface="Avenir Next Condensed"/>
              </a:rPr>
              <a:t>Leche vs CH4: r = -0.72 (vacas mas productivas, menos metano)</a:t>
            </a:r>
          </a:p>
          <a:p>
            <a:pPr algn="l"/>
            <a:r>
              <a:rPr sz="1200" b="0">
                <a:solidFill>
                  <a:srgbClr val="161E44"/>
                </a:solidFill>
                <a:latin typeface="Avenir Next Condensed"/>
              </a:rPr>
              <a:t>Dosis nutraceutico: r = -0.61 (efecto real y medible)</a:t>
            </a:r>
          </a:p>
          <a:p>
            <a:pPr algn="l"/>
            <a:r>
              <a:rPr sz="1200" b="0">
                <a:solidFill>
                  <a:srgbClr val="161E44"/>
                </a:solidFill>
                <a:latin typeface="Avenir Next Condensed"/>
              </a:rPr>
              <a:t>DIMS vs CH4: r = +0.45 (metano sube con dias de lactacion)</a:t>
            </a:r>
          </a:p>
        </p:txBody>
      </p:sp>
      <p:sp>
        <p:nvSpPr>
          <p:cNvPr id="26" name="Rectangle 25"/>
          <p:cNvSpPr/>
          <p:nvPr/>
        </p:nvSpPr>
        <p:spPr>
          <a:xfrm>
            <a:off x="6355080" y="4069080"/>
            <a:ext cx="5715000" cy="22402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5080" y="4069080"/>
            <a:ext cx="5715000"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4123944"/>
            <a:ext cx="5394960" cy="347472"/>
          </a:xfrm>
          <a:prstGeom prst="rect">
            <a:avLst/>
          </a:prstGeom>
          <a:noFill/>
        </p:spPr>
        <p:txBody>
          <a:bodyPr wrap="square">
            <a:spAutoFit/>
          </a:bodyPr>
          <a:lstStyle/>
          <a:p>
            <a:pPr algn="l"/>
            <a:r>
              <a:rPr sz="1300" b="1">
                <a:solidFill>
                  <a:srgbClr val="FFFFFF"/>
                </a:solidFill>
                <a:latin typeface="Century Gothic"/>
              </a:rPr>
              <a:t>Ventana critica</a:t>
            </a:r>
          </a:p>
        </p:txBody>
      </p:sp>
      <p:sp>
        <p:nvSpPr>
          <p:cNvPr id="29" name="TextBox 28"/>
          <p:cNvSpPr txBox="1"/>
          <p:nvPr/>
        </p:nvSpPr>
        <p:spPr>
          <a:xfrm>
            <a:off x="6492240" y="4617720"/>
            <a:ext cx="5394960" cy="1554480"/>
          </a:xfrm>
          <a:prstGeom prst="rect">
            <a:avLst/>
          </a:prstGeom>
          <a:noFill/>
        </p:spPr>
        <p:txBody>
          <a:bodyPr wrap="square">
            <a:spAutoFit/>
          </a:bodyPr>
          <a:lstStyle/>
          <a:p>
            <a:pPr algn="l"/>
            <a:r>
              <a:rPr sz="1200" b="0">
                <a:solidFill>
                  <a:srgbClr val="161E44"/>
                </a:solidFill>
                <a:latin typeface="Avenir Next Condensed"/>
              </a:rPr>
              <a:t>Alertas concentradas en meses 8-14 de lactacion</a:t>
            </a:r>
          </a:p>
          <a:p>
            <a:pPr algn="l"/>
            <a:r>
              <a:rPr sz="1200" b="0">
                <a:solidFill>
                  <a:srgbClr val="161E44"/>
                </a:solidFill>
                <a:latin typeface="Avenir Next Condensed"/>
              </a:rPr>
              <a:t>Intervencion preventiva debe ser antes del mes 7</a:t>
            </a:r>
          </a:p>
          <a:p>
            <a:pPr algn="l"/>
            <a:r>
              <a:rPr sz="1200" b="0">
                <a:solidFill>
                  <a:srgbClr val="161E44"/>
                </a:solidFill>
                <a:latin typeface="Avenir Next Condensed"/>
              </a:rPr>
              <a:t>Justifica el modelo como herramienta de anticipacion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 name="Grupo 3">
            <a:extLst>
              <a:ext uri="{FF2B5EF4-FFF2-40B4-BE49-F238E27FC236}">
                <a16:creationId xmlns:a16="http://schemas.microsoft.com/office/drawing/2014/main" id="{BA2F9B76-D70D-0F10-BC27-39EB895783B8}"/>
              </a:ext>
            </a:extLst>
          </p:cNvPr>
          <p:cNvGrpSpPr/>
          <p:nvPr/>
        </p:nvGrpSpPr>
        <p:grpSpPr>
          <a:xfrm>
            <a:off x="-1" y="0"/>
            <a:ext cx="12322630" cy="727520"/>
            <a:chOff x="703525" y="2152231"/>
            <a:chExt cx="10523975" cy="940772"/>
          </a:xfrm>
        </p:grpSpPr>
        <p:sp>
          <p:nvSpPr>
            <p:cNvPr id="5" name="Rectángulo 4">
              <a:extLst>
                <a:ext uri="{FF2B5EF4-FFF2-40B4-BE49-F238E27FC236}">
                  <a16:creationId xmlns:a16="http://schemas.microsoft.com/office/drawing/2014/main" id="{DFAF7A8C-333D-C58F-9C95-59591841527A}"/>
                </a:ext>
              </a:extLst>
            </p:cNvPr>
            <p:cNvSpPr/>
            <p:nvPr/>
          </p:nvSpPr>
          <p:spPr>
            <a:xfrm>
              <a:off x="703525" y="2152232"/>
              <a:ext cx="10523975" cy="847400"/>
            </a:xfrm>
            <a:prstGeom prst="rect">
              <a:avLst/>
            </a:prstGeom>
            <a:no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nvGrpSpPr>
            <p:cNvPr id="6" name="Grupo 5">
              <a:extLst>
                <a:ext uri="{FF2B5EF4-FFF2-40B4-BE49-F238E27FC236}">
                  <a16:creationId xmlns:a16="http://schemas.microsoft.com/office/drawing/2014/main" id="{F0F2FE41-68B0-2A54-4B88-859454FD71BF}"/>
                </a:ext>
              </a:extLst>
            </p:cNvPr>
            <p:cNvGrpSpPr/>
            <p:nvPr/>
          </p:nvGrpSpPr>
          <p:grpSpPr>
            <a:xfrm>
              <a:off x="703525" y="2152231"/>
              <a:ext cx="10412414" cy="940772"/>
              <a:chOff x="703525" y="2152450"/>
              <a:chExt cx="10412414" cy="1580333"/>
            </a:xfrm>
          </p:grpSpPr>
          <p:sp>
            <p:nvSpPr>
              <p:cNvPr id="7" name="Rectángulo 6">
                <a:extLst>
                  <a:ext uri="{FF2B5EF4-FFF2-40B4-BE49-F238E27FC236}">
                    <a16:creationId xmlns:a16="http://schemas.microsoft.com/office/drawing/2014/main" id="{1927F4A0-FF65-DE13-8DB0-F182C45D1F8F}"/>
                  </a:ext>
                </a:extLst>
              </p:cNvPr>
              <p:cNvSpPr/>
              <p:nvPr/>
            </p:nvSpPr>
            <p:spPr>
              <a:xfrm>
                <a:off x="3657601" y="2152450"/>
                <a:ext cx="7458338" cy="1418699"/>
              </a:xfrm>
              <a:prstGeom prst="rect">
                <a:avLst/>
              </a:prstGeom>
              <a:solidFill>
                <a:srgbClr val="161E44"/>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8" name="Rectángulo 7">
                <a:extLst>
                  <a:ext uri="{FF2B5EF4-FFF2-40B4-BE49-F238E27FC236}">
                    <a16:creationId xmlns:a16="http://schemas.microsoft.com/office/drawing/2014/main" id="{0F2B72AB-467F-B766-220B-492375030E4E}"/>
                  </a:ext>
                </a:extLst>
              </p:cNvPr>
              <p:cNvSpPr/>
              <p:nvPr/>
            </p:nvSpPr>
            <p:spPr>
              <a:xfrm>
                <a:off x="703525" y="2157250"/>
                <a:ext cx="2458800" cy="1418700"/>
              </a:xfrm>
              <a:prstGeom prst="rect">
                <a:avLst/>
              </a:prstGeom>
              <a:solidFill>
                <a:srgbClr val="D9D9D9"/>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9" name="Paralelogramo 8">
                <a:extLst>
                  <a:ext uri="{FF2B5EF4-FFF2-40B4-BE49-F238E27FC236}">
                    <a16:creationId xmlns:a16="http://schemas.microsoft.com/office/drawing/2014/main" id="{8623E56F-A27D-F7E7-D667-DB06C7907134}"/>
                  </a:ext>
                </a:extLst>
              </p:cNvPr>
              <p:cNvSpPr/>
              <p:nvPr/>
            </p:nvSpPr>
            <p:spPr>
              <a:xfrm>
                <a:off x="2860775" y="2152450"/>
                <a:ext cx="1127400" cy="1418700"/>
              </a:xfrm>
              <a:prstGeom prst="parallelogram">
                <a:avLst>
                  <a:gd name="adj" fmla="val 25000"/>
                </a:avLst>
              </a:prstGeom>
              <a:solidFill>
                <a:srgbClr val="97A72A"/>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10" name="Rectángulo 9">
                <a:extLst>
                  <a:ext uri="{FF2B5EF4-FFF2-40B4-BE49-F238E27FC236}">
                    <a16:creationId xmlns:a16="http://schemas.microsoft.com/office/drawing/2014/main" id="{BA056F29-3298-1160-5F8C-8B8F0C5D6492}"/>
                  </a:ext>
                </a:extLst>
              </p:cNvPr>
              <p:cNvSpPr/>
              <p:nvPr/>
            </p:nvSpPr>
            <p:spPr>
              <a:xfrm>
                <a:off x="3681324" y="2395395"/>
                <a:ext cx="7260000" cy="1337388"/>
              </a:xfrm>
              <a:prstGeom prst="rect">
                <a:avLst/>
              </a:prstGeom>
              <a:noFill/>
              <a:ln>
                <a:noFill/>
              </a:ln>
            </p:spPr>
            <p:txBody>
              <a:bodyPr spcFirstLastPara="1" wrap="square" lIns="91425" tIns="91425" rIns="91425" bIns="91425" anchor="t" anchorCtr="0">
                <a:noAutofit/>
              </a:bodyPr>
              <a:lstStyle/>
              <a:p>
                <a:pPr algn="r">
                  <a:lnSpc>
                    <a:spcPct val="115000"/>
                  </a:lnSpc>
                </a:pPr>
                <a:r>
                  <a:rPr lang="es-ES" sz="1400" dirty="0">
                    <a:solidFill>
                      <a:srgbClr val="FFFFFF"/>
                    </a:solidFill>
                    <a:effectLst/>
                    <a:latin typeface="Gellix" pitchFamily="2" charset="77"/>
                    <a:ea typeface="Fira Sans Extra Condensed"/>
                    <a:cs typeface="Fira Sans Extra Condensed"/>
                  </a:rPr>
                  <a:t>Nombre del proyecto</a:t>
                </a:r>
                <a:endParaRPr lang="es-MX" sz="1100" dirty="0">
                  <a:effectLst/>
                  <a:latin typeface="Gellix" pitchFamily="2" charset="77"/>
                  <a:ea typeface="Arial" panose="020B0604020202020204" pitchFamily="34" charset="0"/>
                </a:endParaRPr>
              </a:p>
            </p:txBody>
          </p:sp>
        </p:grpSp>
      </p:grpSp>
      <p:sp>
        <p:nvSpPr>
          <p:cNvPr id="11" name="Cuadro de texto 3">
            <a:extLst>
              <a:ext uri="{FF2B5EF4-FFF2-40B4-BE49-F238E27FC236}">
                <a16:creationId xmlns:a16="http://schemas.microsoft.com/office/drawing/2014/main" id="{A928BFB0-6995-2B29-CDC2-F7D5286D22C5}"/>
              </a:ext>
            </a:extLst>
          </p:cNvPr>
          <p:cNvSpPr txBox="1"/>
          <p:nvPr/>
        </p:nvSpPr>
        <p:spPr>
          <a:xfrm>
            <a:off x="608605" y="98129"/>
            <a:ext cx="1308735"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s-ES_tradnl" sz="2200">
                <a:solidFill>
                  <a:srgbClr val="161E43"/>
                </a:solidFill>
                <a:effectLst/>
                <a:latin typeface="Century Gothic" panose="020B0502020202020204" pitchFamily="34" charset="0"/>
                <a:ea typeface="Arial" panose="020B0604020202020204" pitchFamily="34" charset="0"/>
              </a:rPr>
              <a:t>MNA</a:t>
            </a:r>
            <a:endParaRPr lang="es-MX" sz="1100">
              <a:effectLst/>
              <a:latin typeface="Arial" panose="020B0604020202020204" pitchFamily="34" charset="0"/>
              <a:ea typeface="Arial" panose="020B0604020202020204" pitchFamily="34" charset="0"/>
            </a:endParaRPr>
          </a:p>
        </p:txBody>
      </p:sp>
      <p:sp>
        <p:nvSpPr>
          <p:cNvPr id="12" name="Título 1">
            <a:extLst>
              <a:ext uri="{FF2B5EF4-FFF2-40B4-BE49-F238E27FC236}">
                <a16:creationId xmlns:a16="http://schemas.microsoft.com/office/drawing/2014/main" id="{A17F96BB-950A-839D-5631-82791C07217E}"/>
              </a:ext>
            </a:extLst>
          </p:cNvPr>
          <p:cNvSpPr>
            <a:spLocks noGrp="1"/>
          </p:cNvSpPr>
          <p:nvPr>
            <p:ph type="ctrTitle"/>
          </p:nvPr>
        </p:nvSpPr>
        <p:spPr>
          <a:xfrm>
            <a:off x="326723" y="570742"/>
            <a:ext cx="6970643" cy="931121"/>
          </a:xfrm>
        </p:spPr>
        <p:txBody>
          <a:bodyPr>
            <a:normAutofit/>
          </a:bodyPr>
          <a:lstStyle/>
          <a:p>
            <a:pPr algn="l">
              <a:lnSpc>
                <a:spcPct val="100000"/>
              </a:lnSpc>
              <a:spcAft>
                <a:spcPts val="1200"/>
              </a:spcAft>
            </a:pPr>
            <a:r>
              <a:rPr lang="es-MX" sz="2800" dirty="0">
                <a:latin typeface="Gellix" pitchFamily="2" charset="77"/>
              </a:rPr>
              <a:t>03 | Modelos Desarrollados</a:t>
            </a:r>
            <a:endParaRPr lang="es-MX" sz="2000" dirty="0">
              <a:latin typeface="Gellix" pitchFamily="2" charset="77"/>
            </a:endParaRPr>
          </a:p>
        </p:txBody>
      </p:sp>
      <p:sp>
        <p:nvSpPr>
          <p:cNvPr id="13" name="Subtítulo 2">
            <a:extLst>
              <a:ext uri="{FF2B5EF4-FFF2-40B4-BE49-F238E27FC236}">
                <a16:creationId xmlns:a16="http://schemas.microsoft.com/office/drawing/2014/main" id="{30FF6E45-5264-8D11-EAC7-F18054430785}"/>
              </a:ext>
            </a:extLst>
          </p:cNvPr>
          <p:cNvSpPr>
            <a:spLocks noGrp="1"/>
          </p:cNvSpPr>
          <p:nvPr>
            <p:ph type="subTitle" idx="1"/>
          </p:nvPr>
        </p:nvSpPr>
        <p:spPr>
          <a:xfrm>
            <a:off x="366619" y="1501863"/>
            <a:ext cx="10844720" cy="3934690"/>
          </a:xfrm>
        </p:spPr>
        <p:txBody>
          <a:bodyPr>
            <a:normAutofit/>
          </a:bodyPr>
          <a:lstStyle/>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endParaRPr lang="es-MX" sz="2800" dirty="0">
              <a:latin typeface="Avenir Next Condensed" panose="020B0506020202020204" pitchFamily="34" charset="0"/>
            </a:endParaRPr>
          </a:p>
        </p:txBody>
      </p:sp>
      <p:sp>
        <p:nvSpPr>
          <p:cNvPr id="14" name="Rectangle 13"/>
          <p:cNvSpPr/>
          <p:nvPr/>
        </p:nvSpPr>
        <p:spPr>
          <a:xfrm>
            <a:off x="365760" y="1645920"/>
            <a:ext cx="11521440" cy="45720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1673352"/>
            <a:ext cx="1097280" cy="384048"/>
          </a:xfrm>
          <a:prstGeom prst="rect">
            <a:avLst/>
          </a:prstGeom>
          <a:noFill/>
        </p:spPr>
        <p:txBody>
          <a:bodyPr wrap="square">
            <a:spAutoFit/>
          </a:bodyPr>
          <a:lstStyle/>
          <a:p>
            <a:pPr algn="ctr"/>
            <a:r>
              <a:rPr sz="1200" b="1">
                <a:solidFill>
                  <a:srgbClr val="FFFFFF"/>
                </a:solidFill>
                <a:latin typeface="Century Gothic"/>
              </a:rPr>
              <a:t>Avance</a:t>
            </a:r>
          </a:p>
        </p:txBody>
      </p:sp>
      <p:sp>
        <p:nvSpPr>
          <p:cNvPr id="16" name="TextBox 15"/>
          <p:cNvSpPr txBox="1"/>
          <p:nvPr/>
        </p:nvSpPr>
        <p:spPr>
          <a:xfrm>
            <a:off x="1554480" y="1673352"/>
            <a:ext cx="4023360" cy="384048"/>
          </a:xfrm>
          <a:prstGeom prst="rect">
            <a:avLst/>
          </a:prstGeom>
          <a:noFill/>
        </p:spPr>
        <p:txBody>
          <a:bodyPr wrap="square">
            <a:spAutoFit/>
          </a:bodyPr>
          <a:lstStyle/>
          <a:p>
            <a:pPr algn="ctr"/>
            <a:r>
              <a:rPr sz="1200" b="1">
                <a:solidFill>
                  <a:srgbClr val="FFFFFF"/>
                </a:solidFill>
                <a:latin typeface="Century Gothic"/>
              </a:rPr>
              <a:t>Modelo</a:t>
            </a:r>
          </a:p>
        </p:txBody>
      </p:sp>
      <p:sp>
        <p:nvSpPr>
          <p:cNvPr id="17" name="TextBox 16"/>
          <p:cNvSpPr txBox="1"/>
          <p:nvPr/>
        </p:nvSpPr>
        <p:spPr>
          <a:xfrm>
            <a:off x="5669280" y="1673352"/>
            <a:ext cx="2011680" cy="384048"/>
          </a:xfrm>
          <a:prstGeom prst="rect">
            <a:avLst/>
          </a:prstGeom>
          <a:noFill/>
        </p:spPr>
        <p:txBody>
          <a:bodyPr wrap="square">
            <a:spAutoFit/>
          </a:bodyPr>
          <a:lstStyle/>
          <a:p>
            <a:pPr algn="ctr"/>
            <a:r>
              <a:rPr sz="1200" b="1">
                <a:solidFill>
                  <a:srgbClr val="FFFFFF"/>
                </a:solidFill>
                <a:latin typeface="Century Gothic"/>
              </a:rPr>
              <a:t>RMSE</a:t>
            </a:r>
          </a:p>
        </p:txBody>
      </p:sp>
      <p:sp>
        <p:nvSpPr>
          <p:cNvPr id="18" name="TextBox 17"/>
          <p:cNvSpPr txBox="1"/>
          <p:nvPr/>
        </p:nvSpPr>
        <p:spPr>
          <a:xfrm>
            <a:off x="7772400" y="1673352"/>
            <a:ext cx="2011680" cy="384048"/>
          </a:xfrm>
          <a:prstGeom prst="rect">
            <a:avLst/>
          </a:prstGeom>
          <a:noFill/>
        </p:spPr>
        <p:txBody>
          <a:bodyPr wrap="square">
            <a:spAutoFit/>
          </a:bodyPr>
          <a:lstStyle/>
          <a:p>
            <a:pPr algn="ctr"/>
            <a:r>
              <a:rPr sz="1200" b="1">
                <a:solidFill>
                  <a:srgbClr val="FFFFFF"/>
                </a:solidFill>
                <a:latin typeface="Century Gothic"/>
              </a:rPr>
              <a:t>R2</a:t>
            </a:r>
          </a:p>
        </p:txBody>
      </p:sp>
      <p:sp>
        <p:nvSpPr>
          <p:cNvPr id="19" name="TextBox 18"/>
          <p:cNvSpPr txBox="1"/>
          <p:nvPr/>
        </p:nvSpPr>
        <p:spPr>
          <a:xfrm>
            <a:off x="9875520" y="1673352"/>
            <a:ext cx="1828800" cy="384048"/>
          </a:xfrm>
          <a:prstGeom prst="rect">
            <a:avLst/>
          </a:prstGeom>
          <a:noFill/>
        </p:spPr>
        <p:txBody>
          <a:bodyPr wrap="square">
            <a:spAutoFit/>
          </a:bodyPr>
          <a:lstStyle/>
          <a:p>
            <a:pPr algn="ctr"/>
            <a:r>
              <a:rPr sz="1200" b="1">
                <a:solidFill>
                  <a:srgbClr val="FFFFFF"/>
                </a:solidFill>
                <a:latin typeface="Century Gothic"/>
              </a:rPr>
              <a:t>Latencia</a:t>
            </a:r>
          </a:p>
        </p:txBody>
      </p:sp>
      <p:sp>
        <p:nvSpPr>
          <p:cNvPr id="20" name="Rectangle 19"/>
          <p:cNvSpPr/>
          <p:nvPr/>
        </p:nvSpPr>
        <p:spPr>
          <a:xfrm>
            <a:off x="365760" y="2176272"/>
            <a:ext cx="11521440" cy="640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2286000"/>
            <a:ext cx="1097280" cy="457200"/>
          </a:xfrm>
          <a:prstGeom prst="rect">
            <a:avLst/>
          </a:prstGeom>
          <a:noFill/>
        </p:spPr>
        <p:txBody>
          <a:bodyPr wrap="square">
            <a:spAutoFit/>
          </a:bodyPr>
          <a:lstStyle/>
          <a:p>
            <a:pPr algn="ctr"/>
            <a:r>
              <a:rPr sz="1200" b="0">
                <a:solidFill>
                  <a:srgbClr val="161E44"/>
                </a:solidFill>
                <a:latin typeface="Avenir Next Condensed"/>
              </a:rPr>
              <a:t>E3</a:t>
            </a:r>
          </a:p>
        </p:txBody>
      </p:sp>
      <p:sp>
        <p:nvSpPr>
          <p:cNvPr id="22" name="TextBox 21"/>
          <p:cNvSpPr txBox="1"/>
          <p:nvPr/>
        </p:nvSpPr>
        <p:spPr>
          <a:xfrm>
            <a:off x="1554480" y="2286000"/>
            <a:ext cx="4023360" cy="457200"/>
          </a:xfrm>
          <a:prstGeom prst="rect">
            <a:avLst/>
          </a:prstGeom>
          <a:noFill/>
        </p:spPr>
        <p:txBody>
          <a:bodyPr wrap="square">
            <a:spAutoFit/>
          </a:bodyPr>
          <a:lstStyle/>
          <a:p>
            <a:pPr algn="l"/>
            <a:r>
              <a:rPr sz="1200" b="0">
                <a:solidFill>
                  <a:srgbClr val="161E44"/>
                </a:solidFill>
                <a:latin typeface="Avenir Next Condensed"/>
              </a:rPr>
              <a:t>Ridge Regression</a:t>
            </a:r>
          </a:p>
        </p:txBody>
      </p:sp>
      <p:sp>
        <p:nvSpPr>
          <p:cNvPr id="23" name="TextBox 22"/>
          <p:cNvSpPr txBox="1"/>
          <p:nvPr/>
        </p:nvSpPr>
        <p:spPr>
          <a:xfrm>
            <a:off x="5669280" y="2286000"/>
            <a:ext cx="2011680" cy="457200"/>
          </a:xfrm>
          <a:prstGeom prst="rect">
            <a:avLst/>
          </a:prstGeom>
          <a:noFill/>
        </p:spPr>
        <p:txBody>
          <a:bodyPr wrap="square">
            <a:spAutoFit/>
          </a:bodyPr>
          <a:lstStyle/>
          <a:p>
            <a:pPr algn="ctr"/>
            <a:r>
              <a:rPr sz="1200" b="0">
                <a:solidFill>
                  <a:srgbClr val="161E44"/>
                </a:solidFill>
                <a:latin typeface="Avenir Next Condensed"/>
              </a:rPr>
              <a:t>0.7268</a:t>
            </a:r>
          </a:p>
        </p:txBody>
      </p:sp>
      <p:sp>
        <p:nvSpPr>
          <p:cNvPr id="24" name="TextBox 23"/>
          <p:cNvSpPr txBox="1"/>
          <p:nvPr/>
        </p:nvSpPr>
        <p:spPr>
          <a:xfrm>
            <a:off x="7772400" y="2286000"/>
            <a:ext cx="2011680" cy="457200"/>
          </a:xfrm>
          <a:prstGeom prst="rect">
            <a:avLst/>
          </a:prstGeom>
          <a:noFill/>
        </p:spPr>
        <p:txBody>
          <a:bodyPr wrap="square">
            <a:spAutoFit/>
          </a:bodyPr>
          <a:lstStyle/>
          <a:p>
            <a:pPr algn="ctr"/>
            <a:r>
              <a:rPr sz="1200" b="0">
                <a:solidFill>
                  <a:srgbClr val="161E44"/>
                </a:solidFill>
                <a:latin typeface="Avenir Next Condensed"/>
              </a:rPr>
              <a:t>0.9688</a:t>
            </a:r>
          </a:p>
        </p:txBody>
      </p:sp>
      <p:sp>
        <p:nvSpPr>
          <p:cNvPr id="25" name="TextBox 24"/>
          <p:cNvSpPr txBox="1"/>
          <p:nvPr/>
        </p:nvSpPr>
        <p:spPr>
          <a:xfrm>
            <a:off x="9875520" y="2286000"/>
            <a:ext cx="1828800" cy="457200"/>
          </a:xfrm>
          <a:prstGeom prst="rect">
            <a:avLst/>
          </a:prstGeom>
          <a:noFill/>
        </p:spPr>
        <p:txBody>
          <a:bodyPr wrap="square">
            <a:spAutoFit/>
          </a:bodyPr>
          <a:lstStyle/>
          <a:p>
            <a:pPr algn="ctr"/>
            <a:r>
              <a:rPr sz="1200" b="0">
                <a:solidFill>
                  <a:srgbClr val="161E44"/>
                </a:solidFill>
                <a:latin typeface="Avenir Next Condensed"/>
              </a:rPr>
              <a:t>—</a:t>
            </a:r>
          </a:p>
        </p:txBody>
      </p:sp>
      <p:sp>
        <p:nvSpPr>
          <p:cNvPr id="26" name="Rectangle 25"/>
          <p:cNvSpPr/>
          <p:nvPr/>
        </p:nvSpPr>
        <p:spPr>
          <a:xfrm>
            <a:off x="365760" y="2889504"/>
            <a:ext cx="11521440" cy="640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2999232"/>
            <a:ext cx="1097280" cy="457200"/>
          </a:xfrm>
          <a:prstGeom prst="rect">
            <a:avLst/>
          </a:prstGeom>
          <a:noFill/>
        </p:spPr>
        <p:txBody>
          <a:bodyPr wrap="square">
            <a:spAutoFit/>
          </a:bodyPr>
          <a:lstStyle/>
          <a:p>
            <a:pPr algn="ctr"/>
            <a:r>
              <a:rPr sz="1200" b="0">
                <a:solidFill>
                  <a:srgbClr val="161E44"/>
                </a:solidFill>
                <a:latin typeface="Avenir Next Condensed"/>
              </a:rPr>
              <a:t>E4</a:t>
            </a:r>
          </a:p>
        </p:txBody>
      </p:sp>
      <p:sp>
        <p:nvSpPr>
          <p:cNvPr id="28" name="TextBox 27"/>
          <p:cNvSpPr txBox="1"/>
          <p:nvPr/>
        </p:nvSpPr>
        <p:spPr>
          <a:xfrm>
            <a:off x="1554480" y="2999232"/>
            <a:ext cx="4023360" cy="457200"/>
          </a:xfrm>
          <a:prstGeom prst="rect">
            <a:avLst/>
          </a:prstGeom>
          <a:noFill/>
        </p:spPr>
        <p:txBody>
          <a:bodyPr wrap="square">
            <a:spAutoFit/>
          </a:bodyPr>
          <a:lstStyle/>
          <a:p>
            <a:pPr algn="l"/>
            <a:r>
              <a:rPr sz="1200" b="0">
                <a:solidFill>
                  <a:srgbClr val="161E44"/>
                </a:solidFill>
                <a:latin typeface="Avenir Next Condensed"/>
              </a:rPr>
              <a:t>MLP Neural Net</a:t>
            </a:r>
          </a:p>
        </p:txBody>
      </p:sp>
      <p:sp>
        <p:nvSpPr>
          <p:cNvPr id="29" name="TextBox 28"/>
          <p:cNvSpPr txBox="1"/>
          <p:nvPr/>
        </p:nvSpPr>
        <p:spPr>
          <a:xfrm>
            <a:off x="5669280" y="2999232"/>
            <a:ext cx="2011680" cy="457200"/>
          </a:xfrm>
          <a:prstGeom prst="rect">
            <a:avLst/>
          </a:prstGeom>
          <a:noFill/>
        </p:spPr>
        <p:txBody>
          <a:bodyPr wrap="square">
            <a:spAutoFit/>
          </a:bodyPr>
          <a:lstStyle/>
          <a:p>
            <a:pPr algn="ctr"/>
            <a:r>
              <a:rPr sz="1200" b="0">
                <a:solidFill>
                  <a:srgbClr val="161E44"/>
                </a:solidFill>
                <a:latin typeface="Avenir Next Condensed"/>
              </a:rPr>
              <a:t>0.6555</a:t>
            </a:r>
          </a:p>
        </p:txBody>
      </p:sp>
      <p:sp>
        <p:nvSpPr>
          <p:cNvPr id="30" name="TextBox 29"/>
          <p:cNvSpPr txBox="1"/>
          <p:nvPr/>
        </p:nvSpPr>
        <p:spPr>
          <a:xfrm>
            <a:off x="7772400" y="2999232"/>
            <a:ext cx="2011680" cy="457200"/>
          </a:xfrm>
          <a:prstGeom prst="rect">
            <a:avLst/>
          </a:prstGeom>
          <a:noFill/>
        </p:spPr>
        <p:txBody>
          <a:bodyPr wrap="square">
            <a:spAutoFit/>
          </a:bodyPr>
          <a:lstStyle/>
          <a:p>
            <a:pPr algn="ctr"/>
            <a:r>
              <a:rPr sz="1200" b="0">
                <a:solidFill>
                  <a:srgbClr val="161E44"/>
                </a:solidFill>
                <a:latin typeface="Avenir Next Condensed"/>
              </a:rPr>
              <a:t>0.9746</a:t>
            </a:r>
          </a:p>
        </p:txBody>
      </p:sp>
      <p:sp>
        <p:nvSpPr>
          <p:cNvPr id="31" name="TextBox 30"/>
          <p:cNvSpPr txBox="1"/>
          <p:nvPr/>
        </p:nvSpPr>
        <p:spPr>
          <a:xfrm>
            <a:off x="9875520" y="2999232"/>
            <a:ext cx="1828800" cy="457200"/>
          </a:xfrm>
          <a:prstGeom prst="rect">
            <a:avLst/>
          </a:prstGeom>
          <a:noFill/>
        </p:spPr>
        <p:txBody>
          <a:bodyPr wrap="square">
            <a:spAutoFit/>
          </a:bodyPr>
          <a:lstStyle/>
          <a:p>
            <a:pPr algn="ctr"/>
            <a:r>
              <a:rPr sz="1200" b="0">
                <a:solidFill>
                  <a:srgbClr val="161E44"/>
                </a:solidFill>
                <a:latin typeface="Avenir Next Condensed"/>
              </a:rPr>
              <a:t>5.7 ms</a:t>
            </a:r>
          </a:p>
        </p:txBody>
      </p:sp>
      <p:sp>
        <p:nvSpPr>
          <p:cNvPr id="32" name="Rectangle 31"/>
          <p:cNvSpPr/>
          <p:nvPr/>
        </p:nvSpPr>
        <p:spPr>
          <a:xfrm>
            <a:off x="365760" y="3602736"/>
            <a:ext cx="11521440" cy="640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3712463"/>
            <a:ext cx="1097280" cy="457200"/>
          </a:xfrm>
          <a:prstGeom prst="rect">
            <a:avLst/>
          </a:prstGeom>
          <a:noFill/>
        </p:spPr>
        <p:txBody>
          <a:bodyPr wrap="square">
            <a:spAutoFit/>
          </a:bodyPr>
          <a:lstStyle/>
          <a:p>
            <a:pPr algn="ctr"/>
            <a:r>
              <a:rPr sz="1200" b="0">
                <a:solidFill>
                  <a:srgbClr val="556580"/>
                </a:solidFill>
                <a:latin typeface="Avenir Next Condensed"/>
              </a:rPr>
              <a:t>E4</a:t>
            </a:r>
          </a:p>
        </p:txBody>
      </p:sp>
      <p:sp>
        <p:nvSpPr>
          <p:cNvPr id="34" name="TextBox 33"/>
          <p:cNvSpPr txBox="1"/>
          <p:nvPr/>
        </p:nvSpPr>
        <p:spPr>
          <a:xfrm>
            <a:off x="1554480" y="3712463"/>
            <a:ext cx="4023360" cy="457200"/>
          </a:xfrm>
          <a:prstGeom prst="rect">
            <a:avLst/>
          </a:prstGeom>
          <a:noFill/>
        </p:spPr>
        <p:txBody>
          <a:bodyPr wrap="square">
            <a:spAutoFit/>
          </a:bodyPr>
          <a:lstStyle/>
          <a:p>
            <a:pPr algn="l"/>
            <a:r>
              <a:rPr sz="1200" b="0">
                <a:solidFill>
                  <a:srgbClr val="556580"/>
                </a:solidFill>
                <a:latin typeface="Avenir Next Condensed"/>
              </a:rPr>
              <a:t>k-NN</a:t>
            </a:r>
          </a:p>
        </p:txBody>
      </p:sp>
      <p:sp>
        <p:nvSpPr>
          <p:cNvPr id="35" name="TextBox 34"/>
          <p:cNvSpPr txBox="1"/>
          <p:nvPr/>
        </p:nvSpPr>
        <p:spPr>
          <a:xfrm>
            <a:off x="5669280" y="3712463"/>
            <a:ext cx="2011680" cy="457200"/>
          </a:xfrm>
          <a:prstGeom prst="rect">
            <a:avLst/>
          </a:prstGeom>
          <a:noFill/>
        </p:spPr>
        <p:txBody>
          <a:bodyPr wrap="square">
            <a:spAutoFit/>
          </a:bodyPr>
          <a:lstStyle/>
          <a:p>
            <a:pPr algn="ctr"/>
            <a:r>
              <a:rPr sz="1200" b="0">
                <a:solidFill>
                  <a:srgbClr val="556580"/>
                </a:solidFill>
                <a:latin typeface="Avenir Next Condensed"/>
              </a:rPr>
              <a:t>0.8121</a:t>
            </a:r>
          </a:p>
        </p:txBody>
      </p:sp>
      <p:sp>
        <p:nvSpPr>
          <p:cNvPr id="36" name="TextBox 35"/>
          <p:cNvSpPr txBox="1"/>
          <p:nvPr/>
        </p:nvSpPr>
        <p:spPr>
          <a:xfrm>
            <a:off x="7772400" y="3712463"/>
            <a:ext cx="2011680" cy="457200"/>
          </a:xfrm>
          <a:prstGeom prst="rect">
            <a:avLst/>
          </a:prstGeom>
          <a:noFill/>
        </p:spPr>
        <p:txBody>
          <a:bodyPr wrap="square">
            <a:spAutoFit/>
          </a:bodyPr>
          <a:lstStyle/>
          <a:p>
            <a:pPr algn="ctr"/>
            <a:r>
              <a:rPr sz="1200" b="0">
                <a:solidFill>
                  <a:srgbClr val="556580"/>
                </a:solidFill>
                <a:latin typeface="Avenir Next Condensed"/>
              </a:rPr>
              <a:t>0.9602</a:t>
            </a:r>
          </a:p>
        </p:txBody>
      </p:sp>
      <p:sp>
        <p:nvSpPr>
          <p:cNvPr id="37" name="TextBox 36"/>
          <p:cNvSpPr txBox="1"/>
          <p:nvPr/>
        </p:nvSpPr>
        <p:spPr>
          <a:xfrm>
            <a:off x="9875520" y="3712463"/>
            <a:ext cx="1828800" cy="457200"/>
          </a:xfrm>
          <a:prstGeom prst="rect">
            <a:avLst/>
          </a:prstGeom>
          <a:noFill/>
        </p:spPr>
        <p:txBody>
          <a:bodyPr wrap="square">
            <a:spAutoFit/>
          </a:bodyPr>
          <a:lstStyle/>
          <a:p>
            <a:pPr algn="ctr"/>
            <a:r>
              <a:rPr sz="1200" b="0">
                <a:solidFill>
                  <a:srgbClr val="556580"/>
                </a:solidFill>
                <a:latin typeface="Avenir Next Condensed"/>
              </a:rPr>
              <a:t>12 ms</a:t>
            </a:r>
          </a:p>
        </p:txBody>
      </p:sp>
      <p:sp>
        <p:nvSpPr>
          <p:cNvPr id="38" name="Rectangle 37"/>
          <p:cNvSpPr/>
          <p:nvPr/>
        </p:nvSpPr>
        <p:spPr>
          <a:xfrm>
            <a:off x="365760" y="4315968"/>
            <a:ext cx="11521440" cy="640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4425696"/>
            <a:ext cx="1097280" cy="457200"/>
          </a:xfrm>
          <a:prstGeom prst="rect">
            <a:avLst/>
          </a:prstGeom>
          <a:noFill/>
        </p:spPr>
        <p:txBody>
          <a:bodyPr wrap="square">
            <a:spAutoFit/>
          </a:bodyPr>
          <a:lstStyle/>
          <a:p>
            <a:pPr algn="ctr"/>
            <a:r>
              <a:rPr sz="1200" b="0">
                <a:solidFill>
                  <a:srgbClr val="556580"/>
                </a:solidFill>
                <a:latin typeface="Avenir Next Condensed"/>
              </a:rPr>
              <a:t>E4</a:t>
            </a:r>
          </a:p>
        </p:txBody>
      </p:sp>
      <p:sp>
        <p:nvSpPr>
          <p:cNvPr id="40" name="TextBox 39"/>
          <p:cNvSpPr txBox="1"/>
          <p:nvPr/>
        </p:nvSpPr>
        <p:spPr>
          <a:xfrm>
            <a:off x="1554480" y="4425696"/>
            <a:ext cx="4023360" cy="457200"/>
          </a:xfrm>
          <a:prstGeom prst="rect">
            <a:avLst/>
          </a:prstGeom>
          <a:noFill/>
        </p:spPr>
        <p:txBody>
          <a:bodyPr wrap="square">
            <a:spAutoFit/>
          </a:bodyPr>
          <a:lstStyle/>
          <a:p>
            <a:pPr algn="l"/>
            <a:r>
              <a:rPr sz="1200" b="0">
                <a:solidFill>
                  <a:srgbClr val="556580"/>
                </a:solidFill>
                <a:latin typeface="Avenir Next Condensed"/>
              </a:rPr>
              <a:t>Random Forest</a:t>
            </a:r>
          </a:p>
        </p:txBody>
      </p:sp>
      <p:sp>
        <p:nvSpPr>
          <p:cNvPr id="41" name="TextBox 40"/>
          <p:cNvSpPr txBox="1"/>
          <p:nvPr/>
        </p:nvSpPr>
        <p:spPr>
          <a:xfrm>
            <a:off x="5669280" y="4425696"/>
            <a:ext cx="2011680" cy="457200"/>
          </a:xfrm>
          <a:prstGeom prst="rect">
            <a:avLst/>
          </a:prstGeom>
          <a:noFill/>
        </p:spPr>
        <p:txBody>
          <a:bodyPr wrap="square">
            <a:spAutoFit/>
          </a:bodyPr>
          <a:lstStyle/>
          <a:p>
            <a:pPr algn="ctr"/>
            <a:r>
              <a:rPr sz="1200" b="0">
                <a:solidFill>
                  <a:srgbClr val="556580"/>
                </a:solidFill>
                <a:latin typeface="Avenir Next Condensed"/>
              </a:rPr>
              <a:t>1.4754</a:t>
            </a:r>
          </a:p>
        </p:txBody>
      </p:sp>
      <p:sp>
        <p:nvSpPr>
          <p:cNvPr id="42" name="TextBox 41"/>
          <p:cNvSpPr txBox="1"/>
          <p:nvPr/>
        </p:nvSpPr>
        <p:spPr>
          <a:xfrm>
            <a:off x="7772400" y="4425696"/>
            <a:ext cx="2011680" cy="457200"/>
          </a:xfrm>
          <a:prstGeom prst="rect">
            <a:avLst/>
          </a:prstGeom>
          <a:noFill/>
        </p:spPr>
        <p:txBody>
          <a:bodyPr wrap="square">
            <a:spAutoFit/>
          </a:bodyPr>
          <a:lstStyle/>
          <a:p>
            <a:pPr algn="ctr"/>
            <a:r>
              <a:rPr sz="1200" b="0">
                <a:solidFill>
                  <a:srgbClr val="556580"/>
                </a:solidFill>
                <a:latin typeface="Avenir Next Condensed"/>
              </a:rPr>
              <a:t>0.8714</a:t>
            </a:r>
          </a:p>
        </p:txBody>
      </p:sp>
      <p:sp>
        <p:nvSpPr>
          <p:cNvPr id="43" name="TextBox 42"/>
          <p:cNvSpPr txBox="1"/>
          <p:nvPr/>
        </p:nvSpPr>
        <p:spPr>
          <a:xfrm>
            <a:off x="9875520" y="4425696"/>
            <a:ext cx="1828800" cy="457200"/>
          </a:xfrm>
          <a:prstGeom prst="rect">
            <a:avLst/>
          </a:prstGeom>
          <a:noFill/>
        </p:spPr>
        <p:txBody>
          <a:bodyPr wrap="square">
            <a:spAutoFit/>
          </a:bodyPr>
          <a:lstStyle/>
          <a:p>
            <a:pPr algn="ctr"/>
            <a:r>
              <a:rPr sz="1200" b="0">
                <a:solidFill>
                  <a:srgbClr val="556580"/>
                </a:solidFill>
                <a:latin typeface="Avenir Next Condensed"/>
              </a:rPr>
              <a:t>8 ms</a:t>
            </a:r>
          </a:p>
        </p:txBody>
      </p:sp>
      <p:sp>
        <p:nvSpPr>
          <p:cNvPr id="44" name="Rectangle 43"/>
          <p:cNvSpPr/>
          <p:nvPr/>
        </p:nvSpPr>
        <p:spPr>
          <a:xfrm>
            <a:off x="365760" y="5029200"/>
            <a:ext cx="11521440" cy="6400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760" y="5138928"/>
            <a:ext cx="1097280" cy="457200"/>
          </a:xfrm>
          <a:prstGeom prst="rect">
            <a:avLst/>
          </a:prstGeom>
          <a:noFill/>
        </p:spPr>
        <p:txBody>
          <a:bodyPr wrap="square">
            <a:spAutoFit/>
          </a:bodyPr>
          <a:lstStyle/>
          <a:p>
            <a:pPr algn="ctr"/>
            <a:r>
              <a:rPr sz="1200" b="0">
                <a:solidFill>
                  <a:srgbClr val="161E44"/>
                </a:solidFill>
                <a:latin typeface="Avenir Next Condensed"/>
              </a:rPr>
              <a:t>E5</a:t>
            </a:r>
          </a:p>
        </p:txBody>
      </p:sp>
      <p:sp>
        <p:nvSpPr>
          <p:cNvPr id="46" name="TextBox 45"/>
          <p:cNvSpPr txBox="1"/>
          <p:nvPr/>
        </p:nvSpPr>
        <p:spPr>
          <a:xfrm>
            <a:off x="1554480" y="5138928"/>
            <a:ext cx="4023360" cy="457200"/>
          </a:xfrm>
          <a:prstGeom prst="rect">
            <a:avLst/>
          </a:prstGeom>
          <a:noFill/>
        </p:spPr>
        <p:txBody>
          <a:bodyPr wrap="square">
            <a:spAutoFit/>
          </a:bodyPr>
          <a:lstStyle/>
          <a:p>
            <a:pPr algn="l"/>
            <a:r>
              <a:rPr sz="1200" b="0">
                <a:solidFill>
                  <a:srgbClr val="161E44"/>
                </a:solidFill>
                <a:latin typeface="Avenir Next Condensed"/>
              </a:rPr>
              <a:t>VotingRegressor</a:t>
            </a:r>
          </a:p>
        </p:txBody>
      </p:sp>
      <p:sp>
        <p:nvSpPr>
          <p:cNvPr id="47" name="TextBox 46"/>
          <p:cNvSpPr txBox="1"/>
          <p:nvPr/>
        </p:nvSpPr>
        <p:spPr>
          <a:xfrm>
            <a:off x="5669280" y="5138928"/>
            <a:ext cx="2011680" cy="457200"/>
          </a:xfrm>
          <a:prstGeom prst="rect">
            <a:avLst/>
          </a:prstGeom>
          <a:noFill/>
        </p:spPr>
        <p:txBody>
          <a:bodyPr wrap="square">
            <a:spAutoFit/>
          </a:bodyPr>
          <a:lstStyle/>
          <a:p>
            <a:pPr algn="ctr"/>
            <a:r>
              <a:rPr sz="1200" b="0">
                <a:solidFill>
                  <a:srgbClr val="161E44"/>
                </a:solidFill>
                <a:latin typeface="Avenir Next Condensed"/>
              </a:rPr>
              <a:t>0.6485</a:t>
            </a:r>
          </a:p>
        </p:txBody>
      </p:sp>
      <p:sp>
        <p:nvSpPr>
          <p:cNvPr id="48" name="TextBox 47"/>
          <p:cNvSpPr txBox="1"/>
          <p:nvPr/>
        </p:nvSpPr>
        <p:spPr>
          <a:xfrm>
            <a:off x="7772400" y="5138928"/>
            <a:ext cx="2011680" cy="457200"/>
          </a:xfrm>
          <a:prstGeom prst="rect">
            <a:avLst/>
          </a:prstGeom>
          <a:noFill/>
        </p:spPr>
        <p:txBody>
          <a:bodyPr wrap="square">
            <a:spAutoFit/>
          </a:bodyPr>
          <a:lstStyle/>
          <a:p>
            <a:pPr algn="ctr"/>
            <a:r>
              <a:rPr sz="1200" b="0">
                <a:solidFill>
                  <a:srgbClr val="161E44"/>
                </a:solidFill>
                <a:latin typeface="Avenir Next Condensed"/>
              </a:rPr>
              <a:t>0.9752</a:t>
            </a:r>
          </a:p>
        </p:txBody>
      </p:sp>
      <p:sp>
        <p:nvSpPr>
          <p:cNvPr id="49" name="TextBox 48"/>
          <p:cNvSpPr txBox="1"/>
          <p:nvPr/>
        </p:nvSpPr>
        <p:spPr>
          <a:xfrm>
            <a:off x="9875520" y="5138928"/>
            <a:ext cx="1828800" cy="457200"/>
          </a:xfrm>
          <a:prstGeom prst="rect">
            <a:avLst/>
          </a:prstGeom>
          <a:noFill/>
        </p:spPr>
        <p:txBody>
          <a:bodyPr wrap="square">
            <a:spAutoFit/>
          </a:bodyPr>
          <a:lstStyle/>
          <a:p>
            <a:pPr algn="ctr"/>
            <a:r>
              <a:rPr sz="1200" b="0">
                <a:solidFill>
                  <a:srgbClr val="161E44"/>
                </a:solidFill>
                <a:latin typeface="Avenir Next Condensed"/>
              </a:rPr>
              <a:t>6.7 ms</a:t>
            </a:r>
          </a:p>
        </p:txBody>
      </p:sp>
      <p:sp>
        <p:nvSpPr>
          <p:cNvPr id="50" name="Rectangle 49"/>
          <p:cNvSpPr/>
          <p:nvPr/>
        </p:nvSpPr>
        <p:spPr>
          <a:xfrm>
            <a:off x="365760" y="5742432"/>
            <a:ext cx="11521440" cy="640080"/>
          </a:xfrm>
          <a:prstGeom prst="rect">
            <a:avLst/>
          </a:prstGeom>
          <a:solidFill>
            <a:srgbClr val="E6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5760" y="5852160"/>
            <a:ext cx="1097280" cy="457200"/>
          </a:xfrm>
          <a:prstGeom prst="rect">
            <a:avLst/>
          </a:prstGeom>
          <a:noFill/>
        </p:spPr>
        <p:txBody>
          <a:bodyPr wrap="square">
            <a:spAutoFit/>
          </a:bodyPr>
          <a:lstStyle/>
          <a:p>
            <a:pPr algn="ctr"/>
            <a:r>
              <a:rPr sz="1200" b="1">
                <a:solidFill>
                  <a:srgbClr val="00C896"/>
                </a:solidFill>
                <a:latin typeface="Avenir Next Condensed"/>
              </a:rPr>
              <a:t>E5</a:t>
            </a:r>
          </a:p>
        </p:txBody>
      </p:sp>
      <p:sp>
        <p:nvSpPr>
          <p:cNvPr id="52" name="TextBox 51"/>
          <p:cNvSpPr txBox="1"/>
          <p:nvPr/>
        </p:nvSpPr>
        <p:spPr>
          <a:xfrm>
            <a:off x="1554480" y="5852160"/>
            <a:ext cx="4023360" cy="457200"/>
          </a:xfrm>
          <a:prstGeom prst="rect">
            <a:avLst/>
          </a:prstGeom>
          <a:noFill/>
        </p:spPr>
        <p:txBody>
          <a:bodyPr wrap="square">
            <a:spAutoFit/>
          </a:bodyPr>
          <a:lstStyle/>
          <a:p>
            <a:pPr algn="l"/>
            <a:r>
              <a:rPr sz="1200" b="1">
                <a:solidFill>
                  <a:srgbClr val="00C896"/>
                </a:solidFill>
                <a:latin typeface="Avenir Next Condensed"/>
              </a:rPr>
              <a:t>StackingRegressor</a:t>
            </a:r>
          </a:p>
        </p:txBody>
      </p:sp>
      <p:sp>
        <p:nvSpPr>
          <p:cNvPr id="53" name="TextBox 52"/>
          <p:cNvSpPr txBox="1"/>
          <p:nvPr/>
        </p:nvSpPr>
        <p:spPr>
          <a:xfrm>
            <a:off x="5669280" y="5852160"/>
            <a:ext cx="2011680" cy="457200"/>
          </a:xfrm>
          <a:prstGeom prst="rect">
            <a:avLst/>
          </a:prstGeom>
          <a:noFill/>
        </p:spPr>
        <p:txBody>
          <a:bodyPr wrap="square">
            <a:spAutoFit/>
          </a:bodyPr>
          <a:lstStyle/>
          <a:p>
            <a:pPr algn="ctr"/>
            <a:r>
              <a:rPr sz="1200" b="1">
                <a:solidFill>
                  <a:srgbClr val="00C896"/>
                </a:solidFill>
                <a:latin typeface="Avenir Next Condensed"/>
              </a:rPr>
              <a:t>0.6117</a:t>
            </a:r>
          </a:p>
        </p:txBody>
      </p:sp>
      <p:sp>
        <p:nvSpPr>
          <p:cNvPr id="54" name="TextBox 53"/>
          <p:cNvSpPr txBox="1"/>
          <p:nvPr/>
        </p:nvSpPr>
        <p:spPr>
          <a:xfrm>
            <a:off x="7772400" y="5852160"/>
            <a:ext cx="2011680" cy="457200"/>
          </a:xfrm>
          <a:prstGeom prst="rect">
            <a:avLst/>
          </a:prstGeom>
          <a:noFill/>
        </p:spPr>
        <p:txBody>
          <a:bodyPr wrap="square">
            <a:spAutoFit/>
          </a:bodyPr>
          <a:lstStyle/>
          <a:p>
            <a:pPr algn="ctr"/>
            <a:r>
              <a:rPr sz="1200" b="1">
                <a:solidFill>
                  <a:srgbClr val="00C896"/>
                </a:solidFill>
                <a:latin typeface="Avenir Next Condensed"/>
              </a:rPr>
              <a:t>0.9779</a:t>
            </a:r>
          </a:p>
        </p:txBody>
      </p:sp>
      <p:sp>
        <p:nvSpPr>
          <p:cNvPr id="55" name="TextBox 54"/>
          <p:cNvSpPr txBox="1"/>
          <p:nvPr/>
        </p:nvSpPr>
        <p:spPr>
          <a:xfrm>
            <a:off x="9875520" y="5852160"/>
            <a:ext cx="1828800" cy="457200"/>
          </a:xfrm>
          <a:prstGeom prst="rect">
            <a:avLst/>
          </a:prstGeom>
          <a:noFill/>
        </p:spPr>
        <p:txBody>
          <a:bodyPr wrap="square">
            <a:spAutoFit/>
          </a:bodyPr>
          <a:lstStyle/>
          <a:p>
            <a:pPr algn="ctr"/>
            <a:r>
              <a:rPr sz="1200" b="1">
                <a:solidFill>
                  <a:srgbClr val="00C896"/>
                </a:solidFill>
                <a:latin typeface="Avenir Next Condensed"/>
              </a:rPr>
              <a:t>7.3 ms</a:t>
            </a:r>
          </a:p>
        </p:txBody>
      </p:sp>
      <p:sp>
        <p:nvSpPr>
          <p:cNvPr id="56" name="TextBox 55"/>
          <p:cNvSpPr txBox="1"/>
          <p:nvPr/>
        </p:nvSpPr>
        <p:spPr>
          <a:xfrm>
            <a:off x="365760" y="6400800"/>
            <a:ext cx="11521440" cy="292608"/>
          </a:xfrm>
          <a:prstGeom prst="rect">
            <a:avLst/>
          </a:prstGeom>
          <a:noFill/>
        </p:spPr>
        <p:txBody>
          <a:bodyPr wrap="square">
            <a:spAutoFit/>
          </a:bodyPr>
          <a:lstStyle/>
          <a:p>
            <a:pPr algn="l"/>
            <a:r>
              <a:rPr sz="1100" b="1">
                <a:solidFill>
                  <a:srgbClr val="00C896"/>
                </a:solidFill>
                <a:latin typeface="Avenir Next Condensed"/>
              </a:rPr>
              <a:t>★ Modelo seleccionado — RMSE 0.6117 cumple todos los criterios de exito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 name="Grupo 3">
            <a:extLst>
              <a:ext uri="{FF2B5EF4-FFF2-40B4-BE49-F238E27FC236}">
                <a16:creationId xmlns:a16="http://schemas.microsoft.com/office/drawing/2014/main" id="{BA2F9B76-D70D-0F10-BC27-39EB895783B8}"/>
              </a:ext>
            </a:extLst>
          </p:cNvPr>
          <p:cNvGrpSpPr/>
          <p:nvPr/>
        </p:nvGrpSpPr>
        <p:grpSpPr>
          <a:xfrm>
            <a:off x="-1" y="0"/>
            <a:ext cx="12322630" cy="727520"/>
            <a:chOff x="703525" y="2152231"/>
            <a:chExt cx="10523975" cy="940772"/>
          </a:xfrm>
        </p:grpSpPr>
        <p:sp>
          <p:nvSpPr>
            <p:cNvPr id="5" name="Rectángulo 4">
              <a:extLst>
                <a:ext uri="{FF2B5EF4-FFF2-40B4-BE49-F238E27FC236}">
                  <a16:creationId xmlns:a16="http://schemas.microsoft.com/office/drawing/2014/main" id="{DFAF7A8C-333D-C58F-9C95-59591841527A}"/>
                </a:ext>
              </a:extLst>
            </p:cNvPr>
            <p:cNvSpPr/>
            <p:nvPr/>
          </p:nvSpPr>
          <p:spPr>
            <a:xfrm>
              <a:off x="703525" y="2152232"/>
              <a:ext cx="10523975" cy="847400"/>
            </a:xfrm>
            <a:prstGeom prst="rect">
              <a:avLst/>
            </a:prstGeom>
            <a:no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nvGrpSpPr>
            <p:cNvPr id="6" name="Grupo 5">
              <a:extLst>
                <a:ext uri="{FF2B5EF4-FFF2-40B4-BE49-F238E27FC236}">
                  <a16:creationId xmlns:a16="http://schemas.microsoft.com/office/drawing/2014/main" id="{F0F2FE41-68B0-2A54-4B88-859454FD71BF}"/>
                </a:ext>
              </a:extLst>
            </p:cNvPr>
            <p:cNvGrpSpPr/>
            <p:nvPr/>
          </p:nvGrpSpPr>
          <p:grpSpPr>
            <a:xfrm>
              <a:off x="703525" y="2152231"/>
              <a:ext cx="10412414" cy="940772"/>
              <a:chOff x="703525" y="2152450"/>
              <a:chExt cx="10412414" cy="1580333"/>
            </a:xfrm>
          </p:grpSpPr>
          <p:sp>
            <p:nvSpPr>
              <p:cNvPr id="7" name="Rectángulo 6">
                <a:extLst>
                  <a:ext uri="{FF2B5EF4-FFF2-40B4-BE49-F238E27FC236}">
                    <a16:creationId xmlns:a16="http://schemas.microsoft.com/office/drawing/2014/main" id="{1927F4A0-FF65-DE13-8DB0-F182C45D1F8F}"/>
                  </a:ext>
                </a:extLst>
              </p:cNvPr>
              <p:cNvSpPr/>
              <p:nvPr/>
            </p:nvSpPr>
            <p:spPr>
              <a:xfrm>
                <a:off x="3657601" y="2152450"/>
                <a:ext cx="7458338" cy="1418699"/>
              </a:xfrm>
              <a:prstGeom prst="rect">
                <a:avLst/>
              </a:prstGeom>
              <a:solidFill>
                <a:srgbClr val="161E44"/>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8" name="Rectángulo 7">
                <a:extLst>
                  <a:ext uri="{FF2B5EF4-FFF2-40B4-BE49-F238E27FC236}">
                    <a16:creationId xmlns:a16="http://schemas.microsoft.com/office/drawing/2014/main" id="{0F2B72AB-467F-B766-220B-492375030E4E}"/>
                  </a:ext>
                </a:extLst>
              </p:cNvPr>
              <p:cNvSpPr/>
              <p:nvPr/>
            </p:nvSpPr>
            <p:spPr>
              <a:xfrm>
                <a:off x="703525" y="2157250"/>
                <a:ext cx="2458800" cy="1418700"/>
              </a:xfrm>
              <a:prstGeom prst="rect">
                <a:avLst/>
              </a:prstGeom>
              <a:solidFill>
                <a:srgbClr val="D9D9D9"/>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9" name="Paralelogramo 8">
                <a:extLst>
                  <a:ext uri="{FF2B5EF4-FFF2-40B4-BE49-F238E27FC236}">
                    <a16:creationId xmlns:a16="http://schemas.microsoft.com/office/drawing/2014/main" id="{8623E56F-A27D-F7E7-D667-DB06C7907134}"/>
                  </a:ext>
                </a:extLst>
              </p:cNvPr>
              <p:cNvSpPr/>
              <p:nvPr/>
            </p:nvSpPr>
            <p:spPr>
              <a:xfrm>
                <a:off x="2860775" y="2152450"/>
                <a:ext cx="1127400" cy="1418700"/>
              </a:xfrm>
              <a:prstGeom prst="parallelogram">
                <a:avLst>
                  <a:gd name="adj" fmla="val 25000"/>
                </a:avLst>
              </a:prstGeom>
              <a:solidFill>
                <a:srgbClr val="97A72A"/>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10" name="Rectángulo 9">
                <a:extLst>
                  <a:ext uri="{FF2B5EF4-FFF2-40B4-BE49-F238E27FC236}">
                    <a16:creationId xmlns:a16="http://schemas.microsoft.com/office/drawing/2014/main" id="{BA056F29-3298-1160-5F8C-8B8F0C5D6492}"/>
                  </a:ext>
                </a:extLst>
              </p:cNvPr>
              <p:cNvSpPr/>
              <p:nvPr/>
            </p:nvSpPr>
            <p:spPr>
              <a:xfrm>
                <a:off x="3681324" y="2395395"/>
                <a:ext cx="7260000" cy="1337388"/>
              </a:xfrm>
              <a:prstGeom prst="rect">
                <a:avLst/>
              </a:prstGeom>
              <a:noFill/>
              <a:ln>
                <a:noFill/>
              </a:ln>
            </p:spPr>
            <p:txBody>
              <a:bodyPr spcFirstLastPara="1" wrap="square" lIns="91425" tIns="91425" rIns="91425" bIns="91425" anchor="t" anchorCtr="0">
                <a:noAutofit/>
              </a:bodyPr>
              <a:lstStyle/>
              <a:p>
                <a:pPr algn="r">
                  <a:lnSpc>
                    <a:spcPct val="115000"/>
                  </a:lnSpc>
                </a:pPr>
                <a:r>
                  <a:rPr lang="es-ES" sz="1400" dirty="0">
                    <a:solidFill>
                      <a:srgbClr val="FFFFFF"/>
                    </a:solidFill>
                    <a:effectLst/>
                    <a:latin typeface="Gellix" pitchFamily="2" charset="77"/>
                    <a:ea typeface="Fira Sans Extra Condensed"/>
                    <a:cs typeface="Fira Sans Extra Condensed"/>
                  </a:rPr>
                  <a:t>Nombre del proyecto</a:t>
                </a:r>
                <a:endParaRPr lang="es-MX" sz="1100" dirty="0">
                  <a:effectLst/>
                  <a:latin typeface="Gellix" pitchFamily="2" charset="77"/>
                  <a:ea typeface="Arial" panose="020B0604020202020204" pitchFamily="34" charset="0"/>
                </a:endParaRPr>
              </a:p>
            </p:txBody>
          </p:sp>
        </p:grpSp>
      </p:grpSp>
      <p:sp>
        <p:nvSpPr>
          <p:cNvPr id="11" name="Cuadro de texto 3">
            <a:extLst>
              <a:ext uri="{FF2B5EF4-FFF2-40B4-BE49-F238E27FC236}">
                <a16:creationId xmlns:a16="http://schemas.microsoft.com/office/drawing/2014/main" id="{A928BFB0-6995-2B29-CDC2-F7D5286D22C5}"/>
              </a:ext>
            </a:extLst>
          </p:cNvPr>
          <p:cNvSpPr txBox="1"/>
          <p:nvPr/>
        </p:nvSpPr>
        <p:spPr>
          <a:xfrm>
            <a:off x="608605" y="98129"/>
            <a:ext cx="1308735"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s-ES_tradnl" sz="2200">
                <a:solidFill>
                  <a:srgbClr val="161E43"/>
                </a:solidFill>
                <a:effectLst/>
                <a:latin typeface="Century Gothic" panose="020B0502020202020204" pitchFamily="34" charset="0"/>
                <a:ea typeface="Arial" panose="020B0604020202020204" pitchFamily="34" charset="0"/>
              </a:rPr>
              <a:t>MNA</a:t>
            </a:r>
            <a:endParaRPr lang="es-MX" sz="1100">
              <a:effectLst/>
              <a:latin typeface="Arial" panose="020B0604020202020204" pitchFamily="34" charset="0"/>
              <a:ea typeface="Arial" panose="020B0604020202020204" pitchFamily="34" charset="0"/>
            </a:endParaRPr>
          </a:p>
        </p:txBody>
      </p:sp>
      <p:sp>
        <p:nvSpPr>
          <p:cNvPr id="12" name="Título 1">
            <a:extLst>
              <a:ext uri="{FF2B5EF4-FFF2-40B4-BE49-F238E27FC236}">
                <a16:creationId xmlns:a16="http://schemas.microsoft.com/office/drawing/2014/main" id="{A17F96BB-950A-839D-5631-82791C07217E}"/>
              </a:ext>
            </a:extLst>
          </p:cNvPr>
          <p:cNvSpPr>
            <a:spLocks noGrp="1"/>
          </p:cNvSpPr>
          <p:nvPr>
            <p:ph type="ctrTitle"/>
          </p:nvPr>
        </p:nvSpPr>
        <p:spPr>
          <a:xfrm>
            <a:off x="326723" y="570742"/>
            <a:ext cx="6970643" cy="931121"/>
          </a:xfrm>
        </p:spPr>
        <p:txBody>
          <a:bodyPr>
            <a:normAutofit/>
          </a:bodyPr>
          <a:lstStyle/>
          <a:p>
            <a:pPr algn="l">
              <a:lnSpc>
                <a:spcPct val="100000"/>
              </a:lnSpc>
              <a:spcAft>
                <a:spcPts val="1200"/>
              </a:spcAft>
            </a:pPr>
            <a:r>
              <a:rPr lang="es-MX" sz="2800" dirty="0">
                <a:latin typeface="Gellix" pitchFamily="2" charset="77"/>
              </a:rPr>
              <a:t>04 | Solucion Final: StackingRegressor</a:t>
            </a:r>
            <a:endParaRPr lang="es-MX" sz="2000" dirty="0">
              <a:latin typeface="Gellix" pitchFamily="2" charset="77"/>
            </a:endParaRPr>
          </a:p>
        </p:txBody>
      </p:sp>
      <p:sp>
        <p:nvSpPr>
          <p:cNvPr id="13" name="Subtítulo 2">
            <a:extLst>
              <a:ext uri="{FF2B5EF4-FFF2-40B4-BE49-F238E27FC236}">
                <a16:creationId xmlns:a16="http://schemas.microsoft.com/office/drawing/2014/main" id="{30FF6E45-5264-8D11-EAC7-F18054430785}"/>
              </a:ext>
            </a:extLst>
          </p:cNvPr>
          <p:cNvSpPr>
            <a:spLocks noGrp="1"/>
          </p:cNvSpPr>
          <p:nvPr>
            <p:ph type="subTitle" idx="1"/>
          </p:nvPr>
        </p:nvSpPr>
        <p:spPr>
          <a:xfrm>
            <a:off x="366619" y="1501863"/>
            <a:ext cx="10844720" cy="3934690"/>
          </a:xfrm>
        </p:spPr>
        <p:txBody>
          <a:bodyPr>
            <a:normAutofit/>
          </a:bodyPr>
          <a:lstStyle/>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endParaRPr lang="es-MX" sz="2800" dirty="0">
              <a:latin typeface="Avenir Next Condensed" panose="020B0506020202020204" pitchFamily="34" charset="0"/>
            </a:endParaRPr>
          </a:p>
        </p:txBody>
      </p:sp>
      <p:sp>
        <p:nvSpPr>
          <p:cNvPr id="14" name="Rectangle 13"/>
          <p:cNvSpPr/>
          <p:nvPr/>
        </p:nvSpPr>
        <p:spPr>
          <a:xfrm>
            <a:off x="365760" y="1691640"/>
            <a:ext cx="2743200" cy="128016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1737360"/>
            <a:ext cx="2523744" cy="438912"/>
          </a:xfrm>
          <a:prstGeom prst="rect">
            <a:avLst/>
          </a:prstGeom>
          <a:noFill/>
        </p:spPr>
        <p:txBody>
          <a:bodyPr wrap="square">
            <a:spAutoFit/>
          </a:bodyPr>
          <a:lstStyle/>
          <a:p>
            <a:pPr algn="l"/>
            <a:r>
              <a:rPr sz="1300" b="1">
                <a:solidFill>
                  <a:srgbClr val="FFFFFF"/>
                </a:solidFill>
                <a:latin typeface="Century Gothic"/>
              </a:rPr>
              <a:t>MLP Neural Net</a:t>
            </a:r>
          </a:p>
        </p:txBody>
      </p:sp>
      <p:sp>
        <p:nvSpPr>
          <p:cNvPr id="16" name="TextBox 15"/>
          <p:cNvSpPr txBox="1"/>
          <p:nvPr/>
        </p:nvSpPr>
        <p:spPr>
          <a:xfrm>
            <a:off x="475488" y="2212848"/>
            <a:ext cx="2523744" cy="685800"/>
          </a:xfrm>
          <a:prstGeom prst="rect">
            <a:avLst/>
          </a:prstGeom>
          <a:noFill/>
        </p:spPr>
        <p:txBody>
          <a:bodyPr wrap="square">
            <a:spAutoFit/>
          </a:bodyPr>
          <a:lstStyle/>
          <a:p>
            <a:pPr algn="l"/>
            <a:r>
              <a:rPr sz="1100" b="0">
                <a:solidFill>
                  <a:srgbClr val="CCDDFF"/>
                </a:solidFill>
                <a:latin typeface="Avenir Next Condensed"/>
              </a:rPr>
              <a:t>RMSE 0.6555</a:t>
            </a:r>
          </a:p>
          <a:p>
            <a:pPr algn="l"/>
            <a:r>
              <a:rPr sz="1100" b="0">
                <a:solidFill>
                  <a:srgbClr val="CCDDFF"/>
                </a:solidFill>
                <a:latin typeface="Avenir Next Condensed"/>
              </a:rPr>
              <a:t>Captura no-linealidades</a:t>
            </a:r>
          </a:p>
        </p:txBody>
      </p:sp>
      <p:sp>
        <p:nvSpPr>
          <p:cNvPr id="17" name="Rectangle 16"/>
          <p:cNvSpPr/>
          <p:nvPr/>
        </p:nvSpPr>
        <p:spPr>
          <a:xfrm>
            <a:off x="3291840" y="1691640"/>
            <a:ext cx="2743200" cy="128016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01568" y="1737360"/>
            <a:ext cx="2523744" cy="438912"/>
          </a:xfrm>
          <a:prstGeom prst="rect">
            <a:avLst/>
          </a:prstGeom>
          <a:noFill/>
        </p:spPr>
        <p:txBody>
          <a:bodyPr wrap="square">
            <a:spAutoFit/>
          </a:bodyPr>
          <a:lstStyle/>
          <a:p>
            <a:pPr algn="l"/>
            <a:r>
              <a:rPr sz="1300" b="1">
                <a:solidFill>
                  <a:srgbClr val="FFFFFF"/>
                </a:solidFill>
                <a:latin typeface="Century Gothic"/>
              </a:rPr>
              <a:t>BayesianRidge</a:t>
            </a:r>
          </a:p>
        </p:txBody>
      </p:sp>
      <p:sp>
        <p:nvSpPr>
          <p:cNvPr id="19" name="TextBox 18"/>
          <p:cNvSpPr txBox="1"/>
          <p:nvPr/>
        </p:nvSpPr>
        <p:spPr>
          <a:xfrm>
            <a:off x="3401568" y="2212848"/>
            <a:ext cx="2523744" cy="685800"/>
          </a:xfrm>
          <a:prstGeom prst="rect">
            <a:avLst/>
          </a:prstGeom>
          <a:noFill/>
        </p:spPr>
        <p:txBody>
          <a:bodyPr wrap="square">
            <a:spAutoFit/>
          </a:bodyPr>
          <a:lstStyle/>
          <a:p>
            <a:pPr algn="l"/>
            <a:r>
              <a:rPr sz="1100" b="0">
                <a:solidFill>
                  <a:srgbClr val="CCDDFF"/>
                </a:solidFill>
                <a:latin typeface="Avenir Next Condensed"/>
              </a:rPr>
              <a:t>RMSE 0.6832</a:t>
            </a:r>
          </a:p>
          <a:p>
            <a:pPr algn="l"/>
            <a:r>
              <a:rPr sz="1100" b="0">
                <a:solidFill>
                  <a:srgbClr val="CCDDFF"/>
                </a:solidFill>
                <a:latin typeface="Avenir Next Condensed"/>
              </a:rPr>
              <a:t>Robustez con incertidumbre</a:t>
            </a:r>
          </a:p>
        </p:txBody>
      </p:sp>
      <p:sp>
        <p:nvSpPr>
          <p:cNvPr id="20" name="Rectangle 19"/>
          <p:cNvSpPr/>
          <p:nvPr/>
        </p:nvSpPr>
        <p:spPr>
          <a:xfrm>
            <a:off x="6217920" y="1691640"/>
            <a:ext cx="2743200" cy="128016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7648" y="1737360"/>
            <a:ext cx="2523744" cy="438912"/>
          </a:xfrm>
          <a:prstGeom prst="rect">
            <a:avLst/>
          </a:prstGeom>
          <a:noFill/>
        </p:spPr>
        <p:txBody>
          <a:bodyPr wrap="square">
            <a:spAutoFit/>
          </a:bodyPr>
          <a:lstStyle/>
          <a:p>
            <a:pPr algn="l"/>
            <a:r>
              <a:rPr sz="1300" b="1">
                <a:solidFill>
                  <a:srgbClr val="FFFFFF"/>
                </a:solidFill>
                <a:latin typeface="Century Gothic"/>
              </a:rPr>
              <a:t>ElasticNet</a:t>
            </a:r>
          </a:p>
        </p:txBody>
      </p:sp>
      <p:sp>
        <p:nvSpPr>
          <p:cNvPr id="22" name="TextBox 21"/>
          <p:cNvSpPr txBox="1"/>
          <p:nvPr/>
        </p:nvSpPr>
        <p:spPr>
          <a:xfrm>
            <a:off x="6327648" y="2212848"/>
            <a:ext cx="2523744" cy="685800"/>
          </a:xfrm>
          <a:prstGeom prst="rect">
            <a:avLst/>
          </a:prstGeom>
          <a:noFill/>
        </p:spPr>
        <p:txBody>
          <a:bodyPr wrap="square">
            <a:spAutoFit/>
          </a:bodyPr>
          <a:lstStyle/>
          <a:p>
            <a:pPr algn="l"/>
            <a:r>
              <a:rPr sz="1100" b="0">
                <a:solidFill>
                  <a:srgbClr val="CCDDFF"/>
                </a:solidFill>
                <a:latin typeface="Avenir Next Condensed"/>
              </a:rPr>
              <a:t>RMSE 0.7021</a:t>
            </a:r>
          </a:p>
          <a:p>
            <a:pPr algn="l"/>
            <a:r>
              <a:rPr sz="1100" b="0">
                <a:solidFill>
                  <a:srgbClr val="CCDDFF"/>
                </a:solidFill>
                <a:latin typeface="Avenir Next Condensed"/>
              </a:rPr>
              <a:t>Regularizacion combinada</a:t>
            </a:r>
          </a:p>
        </p:txBody>
      </p:sp>
      <p:sp>
        <p:nvSpPr>
          <p:cNvPr id="23" name="TextBox 22"/>
          <p:cNvSpPr txBox="1"/>
          <p:nvPr/>
        </p:nvSpPr>
        <p:spPr>
          <a:xfrm>
            <a:off x="365760" y="3063240"/>
            <a:ext cx="8869680" cy="347472"/>
          </a:xfrm>
          <a:prstGeom prst="rect">
            <a:avLst/>
          </a:prstGeom>
          <a:noFill/>
        </p:spPr>
        <p:txBody>
          <a:bodyPr wrap="square">
            <a:spAutoFit/>
          </a:bodyPr>
          <a:lstStyle/>
          <a:p>
            <a:pPr algn="ctr"/>
            <a:r>
              <a:rPr sz="1200" b="0">
                <a:solidFill>
                  <a:srgbClr val="D4A017"/>
                </a:solidFill>
                <a:latin typeface="Avenir Next Condensed"/>
              </a:rPr>
              <a:t>predicciones como features -&gt;</a:t>
            </a:r>
          </a:p>
        </p:txBody>
      </p:sp>
      <p:sp>
        <p:nvSpPr>
          <p:cNvPr id="24" name="Rectangle 23"/>
          <p:cNvSpPr/>
          <p:nvPr/>
        </p:nvSpPr>
        <p:spPr>
          <a:xfrm>
            <a:off x="2286000" y="3493008"/>
            <a:ext cx="4572000" cy="96012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23160" y="3538728"/>
            <a:ext cx="4297680" cy="438912"/>
          </a:xfrm>
          <a:prstGeom prst="rect">
            <a:avLst/>
          </a:prstGeom>
          <a:noFill/>
        </p:spPr>
        <p:txBody>
          <a:bodyPr wrap="square">
            <a:spAutoFit/>
          </a:bodyPr>
          <a:lstStyle/>
          <a:p>
            <a:pPr algn="ctr"/>
            <a:r>
              <a:rPr sz="1400" b="1">
                <a:solidFill>
                  <a:srgbClr val="00C896"/>
                </a:solidFill>
                <a:latin typeface="Century Gothic"/>
              </a:rPr>
              <a:t>Meta-modelo: Ridge Regression</a:t>
            </a:r>
          </a:p>
        </p:txBody>
      </p:sp>
      <p:sp>
        <p:nvSpPr>
          <p:cNvPr id="26" name="TextBox 25"/>
          <p:cNvSpPr txBox="1"/>
          <p:nvPr/>
        </p:nvSpPr>
        <p:spPr>
          <a:xfrm>
            <a:off x="2423160" y="4005072"/>
            <a:ext cx="4297680" cy="365760"/>
          </a:xfrm>
          <a:prstGeom prst="rect">
            <a:avLst/>
          </a:prstGeom>
          <a:noFill/>
        </p:spPr>
        <p:txBody>
          <a:bodyPr wrap="square">
            <a:spAutoFit/>
          </a:bodyPr>
          <a:lstStyle/>
          <a:p>
            <a:pPr algn="ctr"/>
            <a:r>
              <a:rPr sz="1100" b="0">
                <a:solidFill>
                  <a:srgbClr val="FFFFFF"/>
                </a:solidFill>
                <a:latin typeface="Avenir Next Condensed"/>
              </a:rPr>
              <a:t>Aprende el peso optimo de cada predictor base</a:t>
            </a:r>
          </a:p>
        </p:txBody>
      </p:sp>
      <p:sp>
        <p:nvSpPr>
          <p:cNvPr id="27" name="Rectangle 26"/>
          <p:cNvSpPr/>
          <p:nvPr/>
        </p:nvSpPr>
        <p:spPr>
          <a:xfrm>
            <a:off x="9326880" y="1691640"/>
            <a:ext cx="2651760" cy="10515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8319" y="1737360"/>
            <a:ext cx="2468880" cy="274320"/>
          </a:xfrm>
          <a:prstGeom prst="rect">
            <a:avLst/>
          </a:prstGeom>
          <a:noFill/>
        </p:spPr>
        <p:txBody>
          <a:bodyPr wrap="square">
            <a:spAutoFit/>
          </a:bodyPr>
          <a:lstStyle/>
          <a:p>
            <a:pPr algn="l"/>
            <a:r>
              <a:rPr sz="1100" b="0">
                <a:solidFill>
                  <a:srgbClr val="556580"/>
                </a:solidFill>
                <a:latin typeface="Avenir Next Condensed"/>
              </a:rPr>
              <a:t>RMSE</a:t>
            </a:r>
          </a:p>
        </p:txBody>
      </p:sp>
      <p:sp>
        <p:nvSpPr>
          <p:cNvPr id="29" name="TextBox 28"/>
          <p:cNvSpPr txBox="1"/>
          <p:nvPr/>
        </p:nvSpPr>
        <p:spPr>
          <a:xfrm>
            <a:off x="9418319" y="1984248"/>
            <a:ext cx="2468880" cy="438912"/>
          </a:xfrm>
          <a:prstGeom prst="rect">
            <a:avLst/>
          </a:prstGeom>
          <a:noFill/>
        </p:spPr>
        <p:txBody>
          <a:bodyPr wrap="square">
            <a:spAutoFit/>
          </a:bodyPr>
          <a:lstStyle/>
          <a:p>
            <a:pPr algn="ctr"/>
            <a:r>
              <a:rPr sz="2200" b="1">
                <a:solidFill>
                  <a:srgbClr val="00C896"/>
                </a:solidFill>
                <a:latin typeface="Century Gothic"/>
              </a:rPr>
              <a:t>0.6117</a:t>
            </a:r>
          </a:p>
        </p:txBody>
      </p:sp>
      <p:sp>
        <p:nvSpPr>
          <p:cNvPr id="30" name="TextBox 29"/>
          <p:cNvSpPr txBox="1"/>
          <p:nvPr/>
        </p:nvSpPr>
        <p:spPr>
          <a:xfrm>
            <a:off x="9418319" y="2423160"/>
            <a:ext cx="2468880" cy="274320"/>
          </a:xfrm>
          <a:prstGeom prst="rect">
            <a:avLst/>
          </a:prstGeom>
          <a:noFill/>
        </p:spPr>
        <p:txBody>
          <a:bodyPr wrap="square">
            <a:spAutoFit/>
          </a:bodyPr>
          <a:lstStyle/>
          <a:p>
            <a:pPr algn="ctr"/>
            <a:r>
              <a:rPr sz="1000" b="0">
                <a:solidFill>
                  <a:srgbClr val="556580"/>
                </a:solidFill>
                <a:latin typeface="Avenir Next Condensed"/>
              </a:rPr>
              <a:t>error ~0.6 g CH4/kg</a:t>
            </a:r>
          </a:p>
        </p:txBody>
      </p:sp>
      <p:sp>
        <p:nvSpPr>
          <p:cNvPr id="31" name="Rectangle 30"/>
          <p:cNvSpPr/>
          <p:nvPr/>
        </p:nvSpPr>
        <p:spPr>
          <a:xfrm>
            <a:off x="9326880" y="2880360"/>
            <a:ext cx="2651760" cy="10515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19" y="2926080"/>
            <a:ext cx="2468880" cy="274320"/>
          </a:xfrm>
          <a:prstGeom prst="rect">
            <a:avLst/>
          </a:prstGeom>
          <a:noFill/>
        </p:spPr>
        <p:txBody>
          <a:bodyPr wrap="square">
            <a:spAutoFit/>
          </a:bodyPr>
          <a:lstStyle/>
          <a:p>
            <a:pPr algn="l"/>
            <a:r>
              <a:rPr sz="1100" b="0">
                <a:solidFill>
                  <a:srgbClr val="556580"/>
                </a:solidFill>
                <a:latin typeface="Avenir Next Condensed"/>
              </a:rPr>
              <a:t>R²</a:t>
            </a:r>
          </a:p>
        </p:txBody>
      </p:sp>
      <p:sp>
        <p:nvSpPr>
          <p:cNvPr id="33" name="TextBox 32"/>
          <p:cNvSpPr txBox="1"/>
          <p:nvPr/>
        </p:nvSpPr>
        <p:spPr>
          <a:xfrm>
            <a:off x="9418319" y="3172968"/>
            <a:ext cx="2468880" cy="438912"/>
          </a:xfrm>
          <a:prstGeom prst="rect">
            <a:avLst/>
          </a:prstGeom>
          <a:noFill/>
        </p:spPr>
        <p:txBody>
          <a:bodyPr wrap="square">
            <a:spAutoFit/>
          </a:bodyPr>
          <a:lstStyle/>
          <a:p>
            <a:pPr algn="ctr"/>
            <a:r>
              <a:rPr sz="2200" b="1">
                <a:solidFill>
                  <a:srgbClr val="00C896"/>
                </a:solidFill>
                <a:latin typeface="Century Gothic"/>
              </a:rPr>
              <a:t>0.9779</a:t>
            </a:r>
          </a:p>
        </p:txBody>
      </p:sp>
      <p:sp>
        <p:nvSpPr>
          <p:cNvPr id="34" name="TextBox 33"/>
          <p:cNvSpPr txBox="1"/>
          <p:nvPr/>
        </p:nvSpPr>
        <p:spPr>
          <a:xfrm>
            <a:off x="9418319" y="3611880"/>
            <a:ext cx="2468880" cy="274320"/>
          </a:xfrm>
          <a:prstGeom prst="rect">
            <a:avLst/>
          </a:prstGeom>
          <a:noFill/>
        </p:spPr>
        <p:txBody>
          <a:bodyPr wrap="square">
            <a:spAutoFit/>
          </a:bodyPr>
          <a:lstStyle/>
          <a:p>
            <a:pPr algn="ctr"/>
            <a:r>
              <a:rPr sz="1000" b="0">
                <a:solidFill>
                  <a:srgbClr val="556580"/>
                </a:solidFill>
                <a:latin typeface="Avenir Next Condensed"/>
              </a:rPr>
              <a:t>97.8% varianza explicada</a:t>
            </a:r>
          </a:p>
        </p:txBody>
      </p:sp>
      <p:sp>
        <p:nvSpPr>
          <p:cNvPr id="35" name="Rectangle 34"/>
          <p:cNvSpPr/>
          <p:nvPr/>
        </p:nvSpPr>
        <p:spPr>
          <a:xfrm>
            <a:off x="9326880" y="4069080"/>
            <a:ext cx="2651760" cy="10515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19" y="4114800"/>
            <a:ext cx="2468880" cy="274320"/>
          </a:xfrm>
          <a:prstGeom prst="rect">
            <a:avLst/>
          </a:prstGeom>
          <a:noFill/>
        </p:spPr>
        <p:txBody>
          <a:bodyPr wrap="square">
            <a:spAutoFit/>
          </a:bodyPr>
          <a:lstStyle/>
          <a:p>
            <a:pPr algn="l"/>
            <a:r>
              <a:rPr sz="1100" b="0">
                <a:solidFill>
                  <a:srgbClr val="556580"/>
                </a:solidFill>
                <a:latin typeface="Avenir Next Condensed"/>
              </a:rPr>
              <a:t>Latencia</a:t>
            </a:r>
          </a:p>
        </p:txBody>
      </p:sp>
      <p:sp>
        <p:nvSpPr>
          <p:cNvPr id="37" name="TextBox 36"/>
          <p:cNvSpPr txBox="1"/>
          <p:nvPr/>
        </p:nvSpPr>
        <p:spPr>
          <a:xfrm>
            <a:off x="9418319" y="4361688"/>
            <a:ext cx="2468880" cy="438912"/>
          </a:xfrm>
          <a:prstGeom prst="rect">
            <a:avLst/>
          </a:prstGeom>
          <a:noFill/>
        </p:spPr>
        <p:txBody>
          <a:bodyPr wrap="square">
            <a:spAutoFit/>
          </a:bodyPr>
          <a:lstStyle/>
          <a:p>
            <a:pPr algn="ctr"/>
            <a:r>
              <a:rPr sz="2200" b="1">
                <a:solidFill>
                  <a:srgbClr val="00C896"/>
                </a:solidFill>
                <a:latin typeface="Century Gothic"/>
              </a:rPr>
              <a:t>7.3 ms</a:t>
            </a:r>
          </a:p>
        </p:txBody>
      </p:sp>
      <p:sp>
        <p:nvSpPr>
          <p:cNvPr id="38" name="TextBox 37"/>
          <p:cNvSpPr txBox="1"/>
          <p:nvPr/>
        </p:nvSpPr>
        <p:spPr>
          <a:xfrm>
            <a:off x="9418319" y="4800600"/>
            <a:ext cx="2468880" cy="274320"/>
          </a:xfrm>
          <a:prstGeom prst="rect">
            <a:avLst/>
          </a:prstGeom>
          <a:noFill/>
        </p:spPr>
        <p:txBody>
          <a:bodyPr wrap="square">
            <a:spAutoFit/>
          </a:bodyPr>
          <a:lstStyle/>
          <a:p>
            <a:pPr algn="ctr"/>
            <a:r>
              <a:rPr sz="1000" b="0">
                <a:solidFill>
                  <a:srgbClr val="556580"/>
                </a:solidFill>
                <a:latin typeface="Avenir Next Condensed"/>
              </a:rPr>
              <a:t>tiempo real en campo</a:t>
            </a:r>
          </a:p>
        </p:txBody>
      </p:sp>
      <p:sp>
        <p:nvSpPr>
          <p:cNvPr id="39" name="Rectangle 38"/>
          <p:cNvSpPr/>
          <p:nvPr/>
        </p:nvSpPr>
        <p:spPr>
          <a:xfrm>
            <a:off x="9326880" y="5257800"/>
            <a:ext cx="2651760" cy="10515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8319" y="5303520"/>
            <a:ext cx="2468880" cy="274320"/>
          </a:xfrm>
          <a:prstGeom prst="rect">
            <a:avLst/>
          </a:prstGeom>
          <a:noFill/>
        </p:spPr>
        <p:txBody>
          <a:bodyPr wrap="square">
            <a:spAutoFit/>
          </a:bodyPr>
          <a:lstStyle/>
          <a:p>
            <a:pPr algn="l"/>
            <a:r>
              <a:rPr sz="1100" b="0">
                <a:solidFill>
                  <a:srgbClr val="556580"/>
                </a:solidFill>
                <a:latin typeface="Avenir Next Condensed"/>
              </a:rPr>
              <a:t>Mejora</a:t>
            </a:r>
          </a:p>
        </p:txBody>
      </p:sp>
      <p:sp>
        <p:nvSpPr>
          <p:cNvPr id="41" name="TextBox 40"/>
          <p:cNvSpPr txBox="1"/>
          <p:nvPr/>
        </p:nvSpPr>
        <p:spPr>
          <a:xfrm>
            <a:off x="9418319" y="5550408"/>
            <a:ext cx="2468880" cy="438912"/>
          </a:xfrm>
          <a:prstGeom prst="rect">
            <a:avLst/>
          </a:prstGeom>
          <a:noFill/>
        </p:spPr>
        <p:txBody>
          <a:bodyPr wrap="square">
            <a:spAutoFit/>
          </a:bodyPr>
          <a:lstStyle/>
          <a:p>
            <a:pPr algn="ctr"/>
            <a:r>
              <a:rPr sz="2200" b="1">
                <a:solidFill>
                  <a:srgbClr val="00C896"/>
                </a:solidFill>
                <a:latin typeface="Century Gothic"/>
              </a:rPr>
              <a:t>-15.8%</a:t>
            </a:r>
          </a:p>
        </p:txBody>
      </p:sp>
      <p:sp>
        <p:nvSpPr>
          <p:cNvPr id="42" name="TextBox 41"/>
          <p:cNvSpPr txBox="1"/>
          <p:nvPr/>
        </p:nvSpPr>
        <p:spPr>
          <a:xfrm>
            <a:off x="9418319" y="5989320"/>
            <a:ext cx="2468880" cy="274320"/>
          </a:xfrm>
          <a:prstGeom prst="rect">
            <a:avLst/>
          </a:prstGeom>
          <a:noFill/>
        </p:spPr>
        <p:txBody>
          <a:bodyPr wrap="square">
            <a:spAutoFit/>
          </a:bodyPr>
          <a:lstStyle/>
          <a:p>
            <a:pPr algn="ctr"/>
            <a:r>
              <a:rPr sz="1000" b="0">
                <a:solidFill>
                  <a:srgbClr val="556580"/>
                </a:solidFill>
                <a:latin typeface="Avenir Next Condensed"/>
              </a:rPr>
              <a:t>vs baseline Ridge E3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 name="Grupo 3">
            <a:extLst>
              <a:ext uri="{FF2B5EF4-FFF2-40B4-BE49-F238E27FC236}">
                <a16:creationId xmlns:a16="http://schemas.microsoft.com/office/drawing/2014/main" id="{BA2F9B76-D70D-0F10-BC27-39EB895783B8}"/>
              </a:ext>
            </a:extLst>
          </p:cNvPr>
          <p:cNvGrpSpPr/>
          <p:nvPr/>
        </p:nvGrpSpPr>
        <p:grpSpPr>
          <a:xfrm>
            <a:off x="-1" y="0"/>
            <a:ext cx="12322630" cy="727520"/>
            <a:chOff x="703525" y="2152231"/>
            <a:chExt cx="10523975" cy="940772"/>
          </a:xfrm>
        </p:grpSpPr>
        <p:sp>
          <p:nvSpPr>
            <p:cNvPr id="5" name="Rectángulo 4">
              <a:extLst>
                <a:ext uri="{FF2B5EF4-FFF2-40B4-BE49-F238E27FC236}">
                  <a16:creationId xmlns:a16="http://schemas.microsoft.com/office/drawing/2014/main" id="{DFAF7A8C-333D-C58F-9C95-59591841527A}"/>
                </a:ext>
              </a:extLst>
            </p:cNvPr>
            <p:cNvSpPr/>
            <p:nvPr/>
          </p:nvSpPr>
          <p:spPr>
            <a:xfrm>
              <a:off x="703525" y="2152232"/>
              <a:ext cx="10523975" cy="847400"/>
            </a:xfrm>
            <a:prstGeom prst="rect">
              <a:avLst/>
            </a:prstGeom>
            <a:no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nvGrpSpPr>
            <p:cNvPr id="6" name="Grupo 5">
              <a:extLst>
                <a:ext uri="{FF2B5EF4-FFF2-40B4-BE49-F238E27FC236}">
                  <a16:creationId xmlns:a16="http://schemas.microsoft.com/office/drawing/2014/main" id="{F0F2FE41-68B0-2A54-4B88-859454FD71BF}"/>
                </a:ext>
              </a:extLst>
            </p:cNvPr>
            <p:cNvGrpSpPr/>
            <p:nvPr/>
          </p:nvGrpSpPr>
          <p:grpSpPr>
            <a:xfrm>
              <a:off x="703525" y="2152231"/>
              <a:ext cx="10412414" cy="940772"/>
              <a:chOff x="703525" y="2152450"/>
              <a:chExt cx="10412414" cy="1580333"/>
            </a:xfrm>
          </p:grpSpPr>
          <p:sp>
            <p:nvSpPr>
              <p:cNvPr id="7" name="Rectángulo 6">
                <a:extLst>
                  <a:ext uri="{FF2B5EF4-FFF2-40B4-BE49-F238E27FC236}">
                    <a16:creationId xmlns:a16="http://schemas.microsoft.com/office/drawing/2014/main" id="{1927F4A0-FF65-DE13-8DB0-F182C45D1F8F}"/>
                  </a:ext>
                </a:extLst>
              </p:cNvPr>
              <p:cNvSpPr/>
              <p:nvPr/>
            </p:nvSpPr>
            <p:spPr>
              <a:xfrm>
                <a:off x="3657601" y="2152450"/>
                <a:ext cx="7458338" cy="1418699"/>
              </a:xfrm>
              <a:prstGeom prst="rect">
                <a:avLst/>
              </a:prstGeom>
              <a:solidFill>
                <a:srgbClr val="161E44"/>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8" name="Rectángulo 7">
                <a:extLst>
                  <a:ext uri="{FF2B5EF4-FFF2-40B4-BE49-F238E27FC236}">
                    <a16:creationId xmlns:a16="http://schemas.microsoft.com/office/drawing/2014/main" id="{0F2B72AB-467F-B766-220B-492375030E4E}"/>
                  </a:ext>
                </a:extLst>
              </p:cNvPr>
              <p:cNvSpPr/>
              <p:nvPr/>
            </p:nvSpPr>
            <p:spPr>
              <a:xfrm>
                <a:off x="703525" y="2157250"/>
                <a:ext cx="2458800" cy="1418700"/>
              </a:xfrm>
              <a:prstGeom prst="rect">
                <a:avLst/>
              </a:prstGeom>
              <a:solidFill>
                <a:srgbClr val="D9D9D9"/>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9" name="Paralelogramo 8">
                <a:extLst>
                  <a:ext uri="{FF2B5EF4-FFF2-40B4-BE49-F238E27FC236}">
                    <a16:creationId xmlns:a16="http://schemas.microsoft.com/office/drawing/2014/main" id="{8623E56F-A27D-F7E7-D667-DB06C7907134}"/>
                  </a:ext>
                </a:extLst>
              </p:cNvPr>
              <p:cNvSpPr/>
              <p:nvPr/>
            </p:nvSpPr>
            <p:spPr>
              <a:xfrm>
                <a:off x="2860775" y="2152450"/>
                <a:ext cx="1127400" cy="1418700"/>
              </a:xfrm>
              <a:prstGeom prst="parallelogram">
                <a:avLst>
                  <a:gd name="adj" fmla="val 25000"/>
                </a:avLst>
              </a:prstGeom>
              <a:solidFill>
                <a:srgbClr val="97A72A"/>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10" name="Rectángulo 9">
                <a:extLst>
                  <a:ext uri="{FF2B5EF4-FFF2-40B4-BE49-F238E27FC236}">
                    <a16:creationId xmlns:a16="http://schemas.microsoft.com/office/drawing/2014/main" id="{BA056F29-3298-1160-5F8C-8B8F0C5D6492}"/>
                  </a:ext>
                </a:extLst>
              </p:cNvPr>
              <p:cNvSpPr/>
              <p:nvPr/>
            </p:nvSpPr>
            <p:spPr>
              <a:xfrm>
                <a:off x="3681324" y="2395395"/>
                <a:ext cx="7260000" cy="1337388"/>
              </a:xfrm>
              <a:prstGeom prst="rect">
                <a:avLst/>
              </a:prstGeom>
              <a:noFill/>
              <a:ln>
                <a:noFill/>
              </a:ln>
            </p:spPr>
            <p:txBody>
              <a:bodyPr spcFirstLastPara="1" wrap="square" lIns="91425" tIns="91425" rIns="91425" bIns="91425" anchor="t" anchorCtr="0">
                <a:noAutofit/>
              </a:bodyPr>
              <a:lstStyle/>
              <a:p>
                <a:pPr algn="r">
                  <a:lnSpc>
                    <a:spcPct val="115000"/>
                  </a:lnSpc>
                </a:pPr>
                <a:r>
                  <a:rPr lang="es-ES" sz="1400" dirty="0">
                    <a:solidFill>
                      <a:srgbClr val="FFFFFF"/>
                    </a:solidFill>
                    <a:effectLst/>
                    <a:latin typeface="Gellix" pitchFamily="2" charset="77"/>
                    <a:ea typeface="Fira Sans Extra Condensed"/>
                    <a:cs typeface="Fira Sans Extra Condensed"/>
                  </a:rPr>
                  <a:t>Nombre del proyecto</a:t>
                </a:r>
                <a:endParaRPr lang="es-MX" sz="1100" dirty="0">
                  <a:effectLst/>
                  <a:latin typeface="Gellix" pitchFamily="2" charset="77"/>
                  <a:ea typeface="Arial" panose="020B0604020202020204" pitchFamily="34" charset="0"/>
                </a:endParaRPr>
              </a:p>
            </p:txBody>
          </p:sp>
        </p:grpSp>
      </p:grpSp>
      <p:sp>
        <p:nvSpPr>
          <p:cNvPr id="11" name="Cuadro de texto 3">
            <a:extLst>
              <a:ext uri="{FF2B5EF4-FFF2-40B4-BE49-F238E27FC236}">
                <a16:creationId xmlns:a16="http://schemas.microsoft.com/office/drawing/2014/main" id="{A928BFB0-6995-2B29-CDC2-F7D5286D22C5}"/>
              </a:ext>
            </a:extLst>
          </p:cNvPr>
          <p:cNvSpPr txBox="1"/>
          <p:nvPr/>
        </p:nvSpPr>
        <p:spPr>
          <a:xfrm>
            <a:off x="608605" y="98129"/>
            <a:ext cx="1308735"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s-ES_tradnl" sz="2200">
                <a:solidFill>
                  <a:srgbClr val="161E43"/>
                </a:solidFill>
                <a:effectLst/>
                <a:latin typeface="Century Gothic" panose="020B0502020202020204" pitchFamily="34" charset="0"/>
                <a:ea typeface="Arial" panose="020B0604020202020204" pitchFamily="34" charset="0"/>
              </a:rPr>
              <a:t>MNA</a:t>
            </a:r>
            <a:endParaRPr lang="es-MX" sz="1100">
              <a:effectLst/>
              <a:latin typeface="Arial" panose="020B0604020202020204" pitchFamily="34" charset="0"/>
              <a:ea typeface="Arial" panose="020B0604020202020204" pitchFamily="34" charset="0"/>
            </a:endParaRPr>
          </a:p>
        </p:txBody>
      </p:sp>
      <p:sp>
        <p:nvSpPr>
          <p:cNvPr id="12" name="Título 1">
            <a:extLst>
              <a:ext uri="{FF2B5EF4-FFF2-40B4-BE49-F238E27FC236}">
                <a16:creationId xmlns:a16="http://schemas.microsoft.com/office/drawing/2014/main" id="{A17F96BB-950A-839D-5631-82791C07217E}"/>
              </a:ext>
            </a:extLst>
          </p:cNvPr>
          <p:cNvSpPr>
            <a:spLocks noGrp="1"/>
          </p:cNvSpPr>
          <p:nvPr>
            <p:ph type="ctrTitle"/>
          </p:nvPr>
        </p:nvSpPr>
        <p:spPr>
          <a:xfrm>
            <a:off x="326723" y="570742"/>
            <a:ext cx="6970643" cy="931121"/>
          </a:xfrm>
        </p:spPr>
        <p:txBody>
          <a:bodyPr>
            <a:normAutofit/>
          </a:bodyPr>
          <a:lstStyle/>
          <a:p>
            <a:pPr algn="l">
              <a:lnSpc>
                <a:spcPct val="100000"/>
              </a:lnSpc>
              <a:spcAft>
                <a:spcPts val="1200"/>
              </a:spcAft>
            </a:pPr>
            <a:r>
              <a:rPr lang="es-MX" sz="2800" dirty="0">
                <a:latin typeface="Gellix" pitchFamily="2" charset="77"/>
              </a:rPr>
              <a:t>05 | Recomendaciones Comerciales</a:t>
            </a:r>
            <a:endParaRPr lang="es-MX" sz="2000" dirty="0">
              <a:latin typeface="Gellix" pitchFamily="2" charset="77"/>
            </a:endParaRPr>
          </a:p>
        </p:txBody>
      </p:sp>
      <p:sp>
        <p:nvSpPr>
          <p:cNvPr id="13" name="Subtítulo 2">
            <a:extLst>
              <a:ext uri="{FF2B5EF4-FFF2-40B4-BE49-F238E27FC236}">
                <a16:creationId xmlns:a16="http://schemas.microsoft.com/office/drawing/2014/main" id="{30FF6E45-5264-8D11-EAC7-F18054430785}"/>
              </a:ext>
            </a:extLst>
          </p:cNvPr>
          <p:cNvSpPr>
            <a:spLocks noGrp="1"/>
          </p:cNvSpPr>
          <p:nvPr>
            <p:ph type="subTitle" idx="1"/>
          </p:nvPr>
        </p:nvSpPr>
        <p:spPr>
          <a:xfrm>
            <a:off x="366619" y="1501863"/>
            <a:ext cx="10844720" cy="3934690"/>
          </a:xfrm>
        </p:spPr>
        <p:txBody>
          <a:bodyPr>
            <a:normAutofit/>
          </a:bodyPr>
          <a:lstStyle/>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endParaRPr lang="es-MX" sz="2800" dirty="0">
              <a:latin typeface="Avenir Next Condensed" panose="020B0506020202020204" pitchFamily="34" charset="0"/>
            </a:endParaRPr>
          </a:p>
        </p:txBody>
      </p:sp>
      <p:sp>
        <p:nvSpPr>
          <p:cNvPr id="14" name="Rectangle 13"/>
          <p:cNvSpPr/>
          <p:nvPr/>
        </p:nvSpPr>
        <p:spPr>
          <a:xfrm>
            <a:off x="365760" y="1691640"/>
            <a:ext cx="3749039" cy="50292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19072"/>
            <a:ext cx="3474720" cy="411480"/>
          </a:xfrm>
          <a:prstGeom prst="rect">
            <a:avLst/>
          </a:prstGeom>
          <a:noFill/>
        </p:spPr>
        <p:txBody>
          <a:bodyPr wrap="square">
            <a:spAutoFit/>
          </a:bodyPr>
          <a:lstStyle/>
          <a:p>
            <a:pPr algn="l"/>
            <a:r>
              <a:rPr sz="1300" b="1">
                <a:solidFill>
                  <a:srgbClr val="FFFFFF"/>
                </a:solidFill>
                <a:latin typeface="Century Gothic"/>
              </a:rPr>
              <a:t>0-3 meses</a:t>
            </a:r>
          </a:p>
        </p:txBody>
      </p:sp>
      <p:sp>
        <p:nvSpPr>
          <p:cNvPr id="16" name="Rectangle 15"/>
          <p:cNvSpPr/>
          <p:nvPr/>
        </p:nvSpPr>
        <p:spPr>
          <a:xfrm>
            <a:off x="365760" y="2286000"/>
            <a:ext cx="3749039" cy="11704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2340864"/>
            <a:ext cx="3429000" cy="1005840"/>
          </a:xfrm>
          <a:prstGeom prst="rect">
            <a:avLst/>
          </a:prstGeom>
          <a:noFill/>
        </p:spPr>
        <p:txBody>
          <a:bodyPr wrap="square">
            <a:spAutoFit/>
          </a:bodyPr>
          <a:lstStyle/>
          <a:p>
            <a:pPr algn="l"/>
            <a:r>
              <a:rPr sz="1200" b="0">
                <a:solidFill>
                  <a:srgbClr val="161E44"/>
                </a:solidFill>
                <a:latin typeface="Avenir Next Condensed"/>
              </a:rPr>
              <a:t>• Desplegar API REST en GCP Cloud Run</a:t>
            </a:r>
          </a:p>
        </p:txBody>
      </p:sp>
      <p:sp>
        <p:nvSpPr>
          <p:cNvPr id="18" name="Rectangle 17"/>
          <p:cNvSpPr/>
          <p:nvPr/>
        </p:nvSpPr>
        <p:spPr>
          <a:xfrm>
            <a:off x="365760" y="3566160"/>
            <a:ext cx="3749039" cy="11704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3621024"/>
            <a:ext cx="3429000" cy="1005840"/>
          </a:xfrm>
          <a:prstGeom prst="rect">
            <a:avLst/>
          </a:prstGeom>
          <a:noFill/>
        </p:spPr>
        <p:txBody>
          <a:bodyPr wrap="square">
            <a:spAutoFit/>
          </a:bodyPr>
          <a:lstStyle/>
          <a:p>
            <a:pPr algn="l"/>
            <a:r>
              <a:rPr sz="1200" b="0">
                <a:solidFill>
                  <a:srgbClr val="161E44"/>
                </a:solidFill>
                <a:latin typeface="Avenir Next Condensed"/>
              </a:rPr>
              <a:t>• Integrar dashboard con sistema de gestion</a:t>
            </a:r>
          </a:p>
        </p:txBody>
      </p:sp>
      <p:sp>
        <p:nvSpPr>
          <p:cNvPr id="20" name="Rectangle 19"/>
          <p:cNvSpPr/>
          <p:nvPr/>
        </p:nvSpPr>
        <p:spPr>
          <a:xfrm>
            <a:off x="365760" y="4846320"/>
            <a:ext cx="3749039" cy="11704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4901183"/>
            <a:ext cx="3429000" cy="1005840"/>
          </a:xfrm>
          <a:prstGeom prst="rect">
            <a:avLst/>
          </a:prstGeom>
          <a:noFill/>
        </p:spPr>
        <p:txBody>
          <a:bodyPr wrap="square">
            <a:spAutoFit/>
          </a:bodyPr>
          <a:lstStyle/>
          <a:p>
            <a:pPr algn="l"/>
            <a:r>
              <a:rPr sz="1200" b="0">
                <a:solidFill>
                  <a:srgbClr val="161E44"/>
                </a:solidFill>
                <a:latin typeface="Avenir Next Condensed"/>
              </a:rPr>
              <a:t>• Capacitar 2-3 operadores / veterinarios</a:t>
            </a:r>
          </a:p>
        </p:txBody>
      </p:sp>
      <p:sp>
        <p:nvSpPr>
          <p:cNvPr id="22" name="Rectangle 21"/>
          <p:cNvSpPr/>
          <p:nvPr/>
        </p:nvSpPr>
        <p:spPr>
          <a:xfrm>
            <a:off x="4343400" y="1691640"/>
            <a:ext cx="3749039" cy="50292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60" y="1719072"/>
            <a:ext cx="3474720" cy="411480"/>
          </a:xfrm>
          <a:prstGeom prst="rect">
            <a:avLst/>
          </a:prstGeom>
          <a:noFill/>
        </p:spPr>
        <p:txBody>
          <a:bodyPr wrap="square">
            <a:spAutoFit/>
          </a:bodyPr>
          <a:lstStyle/>
          <a:p>
            <a:pPr algn="l"/>
            <a:r>
              <a:rPr sz="1300" b="1">
                <a:solidFill>
                  <a:srgbClr val="FFFFFF"/>
                </a:solidFill>
                <a:latin typeface="Century Gothic"/>
              </a:rPr>
              <a:t>3-6 meses</a:t>
            </a:r>
          </a:p>
        </p:txBody>
      </p:sp>
      <p:sp>
        <p:nvSpPr>
          <p:cNvPr id="24" name="Rectangle 23"/>
          <p:cNvSpPr/>
          <p:nvPr/>
        </p:nvSpPr>
        <p:spPr>
          <a:xfrm>
            <a:off x="4343400" y="2286000"/>
            <a:ext cx="3749039" cy="11704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07992" y="2340864"/>
            <a:ext cx="3429000" cy="1005840"/>
          </a:xfrm>
          <a:prstGeom prst="rect">
            <a:avLst/>
          </a:prstGeom>
          <a:noFill/>
        </p:spPr>
        <p:txBody>
          <a:bodyPr wrap="square">
            <a:spAutoFit/>
          </a:bodyPr>
          <a:lstStyle/>
          <a:p>
            <a:pPr algn="l"/>
            <a:r>
              <a:rPr sz="1200" b="0">
                <a:solidFill>
                  <a:srgbClr val="161E44"/>
                </a:solidFill>
                <a:latin typeface="Avenir Next Condensed"/>
              </a:rPr>
              <a:t>• Ampliar dataset con 3+ granjas adicionales</a:t>
            </a:r>
          </a:p>
        </p:txBody>
      </p:sp>
      <p:sp>
        <p:nvSpPr>
          <p:cNvPr id="26" name="Rectangle 25"/>
          <p:cNvSpPr/>
          <p:nvPr/>
        </p:nvSpPr>
        <p:spPr>
          <a:xfrm>
            <a:off x="4343400" y="3566160"/>
            <a:ext cx="3749039" cy="11704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7992" y="3621024"/>
            <a:ext cx="3429000" cy="1005840"/>
          </a:xfrm>
          <a:prstGeom prst="rect">
            <a:avLst/>
          </a:prstGeom>
          <a:noFill/>
        </p:spPr>
        <p:txBody>
          <a:bodyPr wrap="square">
            <a:spAutoFit/>
          </a:bodyPr>
          <a:lstStyle/>
          <a:p>
            <a:pPr algn="l"/>
            <a:r>
              <a:rPr sz="1200" b="0">
                <a:solidFill>
                  <a:srgbClr val="161E44"/>
                </a:solidFill>
                <a:latin typeface="Avenir Next Condensed"/>
              </a:rPr>
              <a:t>• Reentrenamiento mensual automatizado</a:t>
            </a:r>
          </a:p>
        </p:txBody>
      </p:sp>
      <p:sp>
        <p:nvSpPr>
          <p:cNvPr id="28" name="Rectangle 27"/>
          <p:cNvSpPr/>
          <p:nvPr/>
        </p:nvSpPr>
        <p:spPr>
          <a:xfrm>
            <a:off x="4343400" y="4846320"/>
            <a:ext cx="3749039" cy="11704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07992" y="4901183"/>
            <a:ext cx="3429000" cy="1005840"/>
          </a:xfrm>
          <a:prstGeom prst="rect">
            <a:avLst/>
          </a:prstGeom>
          <a:noFill/>
        </p:spPr>
        <p:txBody>
          <a:bodyPr wrap="square">
            <a:spAutoFit/>
          </a:bodyPr>
          <a:lstStyle/>
          <a:p>
            <a:pPr algn="l"/>
            <a:r>
              <a:rPr sz="1200" b="0">
                <a:solidFill>
                  <a:srgbClr val="161E44"/>
                </a:solidFill>
                <a:latin typeface="Avenir Next Condensed"/>
              </a:rPr>
              <a:t>• Establecer KPIs de reduccion de metano</a:t>
            </a:r>
          </a:p>
        </p:txBody>
      </p:sp>
      <p:sp>
        <p:nvSpPr>
          <p:cNvPr id="30" name="Rectangle 29"/>
          <p:cNvSpPr/>
          <p:nvPr/>
        </p:nvSpPr>
        <p:spPr>
          <a:xfrm>
            <a:off x="8321040" y="1691640"/>
            <a:ext cx="3749039" cy="502920"/>
          </a:xfrm>
          <a:prstGeom prst="rect">
            <a:avLst/>
          </a:prstGeom>
          <a:solidFill>
            <a:srgbClr val="2D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1719072"/>
            <a:ext cx="3474720" cy="411480"/>
          </a:xfrm>
          <a:prstGeom prst="rect">
            <a:avLst/>
          </a:prstGeom>
          <a:noFill/>
        </p:spPr>
        <p:txBody>
          <a:bodyPr wrap="square">
            <a:spAutoFit/>
          </a:bodyPr>
          <a:lstStyle/>
          <a:p>
            <a:pPr algn="l"/>
            <a:r>
              <a:rPr sz="1300" b="1">
                <a:solidFill>
                  <a:srgbClr val="FFFFFF"/>
                </a:solidFill>
                <a:latin typeface="Century Gothic"/>
              </a:rPr>
              <a:t>6-12 meses</a:t>
            </a:r>
          </a:p>
        </p:txBody>
      </p:sp>
      <p:sp>
        <p:nvSpPr>
          <p:cNvPr id="32" name="Rectangle 31"/>
          <p:cNvSpPr/>
          <p:nvPr/>
        </p:nvSpPr>
        <p:spPr>
          <a:xfrm>
            <a:off x="8321040" y="2286000"/>
            <a:ext cx="3749039" cy="11704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85632" y="2340864"/>
            <a:ext cx="3429000" cy="1005840"/>
          </a:xfrm>
          <a:prstGeom prst="rect">
            <a:avLst/>
          </a:prstGeom>
          <a:noFill/>
        </p:spPr>
        <p:txBody>
          <a:bodyPr wrap="square">
            <a:spAutoFit/>
          </a:bodyPr>
          <a:lstStyle/>
          <a:p>
            <a:pPr algn="l"/>
            <a:r>
              <a:rPr sz="1200" b="0">
                <a:solidFill>
                  <a:srgbClr val="161E44"/>
                </a:solidFill>
                <a:latin typeface="Avenir Next Condensed"/>
              </a:rPr>
              <a:t>• Certificacion de creditos de carbono</a:t>
            </a:r>
          </a:p>
        </p:txBody>
      </p:sp>
      <p:sp>
        <p:nvSpPr>
          <p:cNvPr id="34" name="Rectangle 33"/>
          <p:cNvSpPr/>
          <p:nvPr/>
        </p:nvSpPr>
        <p:spPr>
          <a:xfrm>
            <a:off x="8321040" y="3566160"/>
            <a:ext cx="3749039" cy="11704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85632" y="3621024"/>
            <a:ext cx="3429000" cy="1005840"/>
          </a:xfrm>
          <a:prstGeom prst="rect">
            <a:avLst/>
          </a:prstGeom>
          <a:noFill/>
        </p:spPr>
        <p:txBody>
          <a:bodyPr wrap="square">
            <a:spAutoFit/>
          </a:bodyPr>
          <a:lstStyle/>
          <a:p>
            <a:pPr algn="l"/>
            <a:r>
              <a:rPr sz="1200" b="0">
                <a:solidFill>
                  <a:srgbClr val="161E44"/>
                </a:solidFill>
                <a:latin typeface="Avenir Next Condensed"/>
              </a:rPr>
              <a:t>• Expansion a modulo prediccion de leche</a:t>
            </a:r>
          </a:p>
        </p:txBody>
      </p:sp>
      <p:sp>
        <p:nvSpPr>
          <p:cNvPr id="36" name="Rectangle 35"/>
          <p:cNvSpPr/>
          <p:nvPr/>
        </p:nvSpPr>
        <p:spPr>
          <a:xfrm>
            <a:off x="8321040" y="4846320"/>
            <a:ext cx="3749039" cy="117043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85632" y="4901183"/>
            <a:ext cx="3429000" cy="1005840"/>
          </a:xfrm>
          <a:prstGeom prst="rect">
            <a:avLst/>
          </a:prstGeom>
          <a:noFill/>
        </p:spPr>
        <p:txBody>
          <a:bodyPr wrap="square">
            <a:spAutoFit/>
          </a:bodyPr>
          <a:lstStyle/>
          <a:p>
            <a:pPr algn="l"/>
            <a:r>
              <a:rPr sz="1200" b="0">
                <a:solidFill>
                  <a:srgbClr val="161E44"/>
                </a:solidFill>
                <a:latin typeface="Avenir Next Condensed"/>
              </a:rPr>
              <a:t>• Alianza con proveedores de nutraceuticos</a:t>
            </a:r>
          </a:p>
        </p:txBody>
      </p:sp>
      <p:sp>
        <p:nvSpPr>
          <p:cNvPr id="38" name="Rectangle 37"/>
          <p:cNvSpPr/>
          <p:nvPr/>
        </p:nvSpPr>
        <p:spPr>
          <a:xfrm>
            <a:off x="365760" y="5943600"/>
            <a:ext cx="11521440" cy="34747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5961888"/>
            <a:ext cx="2560320" cy="310896"/>
          </a:xfrm>
          <a:prstGeom prst="rect">
            <a:avLst/>
          </a:prstGeom>
          <a:noFill/>
        </p:spPr>
        <p:txBody>
          <a:bodyPr wrap="square">
            <a:spAutoFit/>
          </a:bodyPr>
          <a:lstStyle/>
          <a:p>
            <a:pPr algn="l"/>
            <a:r>
              <a:rPr sz="1200" b="1">
                <a:solidFill>
                  <a:srgbClr val="161E44"/>
                </a:solidFill>
                <a:latin typeface="Century Gothic"/>
              </a:rPr>
              <a:t>Plataforma recomendada:</a:t>
            </a:r>
          </a:p>
        </p:txBody>
      </p:sp>
      <p:sp>
        <p:nvSpPr>
          <p:cNvPr id="40" name="Rectangle 39"/>
          <p:cNvSpPr/>
          <p:nvPr/>
        </p:nvSpPr>
        <p:spPr>
          <a:xfrm>
            <a:off x="3291840" y="5961888"/>
            <a:ext cx="2011680" cy="310896"/>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00C896"/>
                </a:solidFill>
                <a:latin typeface="Avenir Next Condensed"/>
              </a:rPr>
              <a:t>GCP 8.85 ★</a:t>
            </a:r>
          </a:p>
        </p:txBody>
      </p:sp>
      <p:sp>
        <p:nvSpPr>
          <p:cNvPr id="41" name="Rectangle 40"/>
          <p:cNvSpPr/>
          <p:nvPr/>
        </p:nvSpPr>
        <p:spPr>
          <a:xfrm>
            <a:off x="5440680" y="5961888"/>
            <a:ext cx="2011680" cy="31089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a:solidFill>
                  <a:srgbClr val="161E44"/>
                </a:solidFill>
                <a:latin typeface="Avenir Next Condensed"/>
              </a:rPr>
              <a:t>AWS 8.55</a:t>
            </a:r>
          </a:p>
        </p:txBody>
      </p:sp>
      <p:sp>
        <p:nvSpPr>
          <p:cNvPr id="42" name="Rectangle 41"/>
          <p:cNvSpPr/>
          <p:nvPr/>
        </p:nvSpPr>
        <p:spPr>
          <a:xfrm>
            <a:off x="7589520" y="5961888"/>
            <a:ext cx="2011680" cy="310896"/>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a:solidFill>
                  <a:srgbClr val="161E44"/>
                </a:solidFill>
                <a:latin typeface="Avenir Next Condensed"/>
              </a:rPr>
              <a:t>Azure 8.50</a:t>
            </a:r>
          </a:p>
        </p:txBody>
      </p:sp>
      <p:sp>
        <p:nvSpPr>
          <p:cNvPr id="43" name="Rectangle 42"/>
          <p:cNvSpPr/>
          <p:nvPr/>
        </p:nvSpPr>
        <p:spPr>
          <a:xfrm>
            <a:off x="9738360" y="5961888"/>
            <a:ext cx="2011680" cy="31089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0">
                <a:solidFill>
                  <a:srgbClr val="556580"/>
                </a:solidFill>
                <a:latin typeface="Avenir Next Condensed"/>
              </a:rPr>
              <a:t>IBM Watson 6.55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 name="Grupo 3">
            <a:extLst>
              <a:ext uri="{FF2B5EF4-FFF2-40B4-BE49-F238E27FC236}">
                <a16:creationId xmlns:a16="http://schemas.microsoft.com/office/drawing/2014/main" id="{BA2F9B76-D70D-0F10-BC27-39EB895783B8}"/>
              </a:ext>
            </a:extLst>
          </p:cNvPr>
          <p:cNvGrpSpPr/>
          <p:nvPr/>
        </p:nvGrpSpPr>
        <p:grpSpPr>
          <a:xfrm>
            <a:off x="-1" y="0"/>
            <a:ext cx="12322630" cy="727520"/>
            <a:chOff x="703525" y="2152231"/>
            <a:chExt cx="10523975" cy="940772"/>
          </a:xfrm>
        </p:grpSpPr>
        <p:sp>
          <p:nvSpPr>
            <p:cNvPr id="5" name="Rectángulo 4">
              <a:extLst>
                <a:ext uri="{FF2B5EF4-FFF2-40B4-BE49-F238E27FC236}">
                  <a16:creationId xmlns:a16="http://schemas.microsoft.com/office/drawing/2014/main" id="{DFAF7A8C-333D-C58F-9C95-59591841527A}"/>
                </a:ext>
              </a:extLst>
            </p:cNvPr>
            <p:cNvSpPr/>
            <p:nvPr/>
          </p:nvSpPr>
          <p:spPr>
            <a:xfrm>
              <a:off x="703525" y="2152232"/>
              <a:ext cx="10523975" cy="847400"/>
            </a:xfrm>
            <a:prstGeom prst="rect">
              <a:avLst/>
            </a:prstGeom>
            <a:no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nvGrpSpPr>
            <p:cNvPr id="6" name="Grupo 5">
              <a:extLst>
                <a:ext uri="{FF2B5EF4-FFF2-40B4-BE49-F238E27FC236}">
                  <a16:creationId xmlns:a16="http://schemas.microsoft.com/office/drawing/2014/main" id="{F0F2FE41-68B0-2A54-4B88-859454FD71BF}"/>
                </a:ext>
              </a:extLst>
            </p:cNvPr>
            <p:cNvGrpSpPr/>
            <p:nvPr/>
          </p:nvGrpSpPr>
          <p:grpSpPr>
            <a:xfrm>
              <a:off x="703525" y="2152231"/>
              <a:ext cx="10412414" cy="940772"/>
              <a:chOff x="703525" y="2152450"/>
              <a:chExt cx="10412414" cy="1580333"/>
            </a:xfrm>
          </p:grpSpPr>
          <p:sp>
            <p:nvSpPr>
              <p:cNvPr id="7" name="Rectángulo 6">
                <a:extLst>
                  <a:ext uri="{FF2B5EF4-FFF2-40B4-BE49-F238E27FC236}">
                    <a16:creationId xmlns:a16="http://schemas.microsoft.com/office/drawing/2014/main" id="{1927F4A0-FF65-DE13-8DB0-F182C45D1F8F}"/>
                  </a:ext>
                </a:extLst>
              </p:cNvPr>
              <p:cNvSpPr/>
              <p:nvPr/>
            </p:nvSpPr>
            <p:spPr>
              <a:xfrm>
                <a:off x="3657601" y="2152450"/>
                <a:ext cx="7458338" cy="1418699"/>
              </a:xfrm>
              <a:prstGeom prst="rect">
                <a:avLst/>
              </a:prstGeom>
              <a:solidFill>
                <a:srgbClr val="161E44"/>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8" name="Rectángulo 7">
                <a:extLst>
                  <a:ext uri="{FF2B5EF4-FFF2-40B4-BE49-F238E27FC236}">
                    <a16:creationId xmlns:a16="http://schemas.microsoft.com/office/drawing/2014/main" id="{0F2B72AB-467F-B766-220B-492375030E4E}"/>
                  </a:ext>
                </a:extLst>
              </p:cNvPr>
              <p:cNvSpPr/>
              <p:nvPr/>
            </p:nvSpPr>
            <p:spPr>
              <a:xfrm>
                <a:off x="703525" y="2157250"/>
                <a:ext cx="2458800" cy="1418700"/>
              </a:xfrm>
              <a:prstGeom prst="rect">
                <a:avLst/>
              </a:prstGeom>
              <a:solidFill>
                <a:srgbClr val="D9D9D9"/>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9" name="Paralelogramo 8">
                <a:extLst>
                  <a:ext uri="{FF2B5EF4-FFF2-40B4-BE49-F238E27FC236}">
                    <a16:creationId xmlns:a16="http://schemas.microsoft.com/office/drawing/2014/main" id="{8623E56F-A27D-F7E7-D667-DB06C7907134}"/>
                  </a:ext>
                </a:extLst>
              </p:cNvPr>
              <p:cNvSpPr/>
              <p:nvPr/>
            </p:nvSpPr>
            <p:spPr>
              <a:xfrm>
                <a:off x="2860775" y="2152450"/>
                <a:ext cx="1127400" cy="1418700"/>
              </a:xfrm>
              <a:prstGeom prst="parallelogram">
                <a:avLst>
                  <a:gd name="adj" fmla="val 25000"/>
                </a:avLst>
              </a:prstGeom>
              <a:solidFill>
                <a:srgbClr val="97A72A"/>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10" name="Rectángulo 9">
                <a:extLst>
                  <a:ext uri="{FF2B5EF4-FFF2-40B4-BE49-F238E27FC236}">
                    <a16:creationId xmlns:a16="http://schemas.microsoft.com/office/drawing/2014/main" id="{BA056F29-3298-1160-5F8C-8B8F0C5D6492}"/>
                  </a:ext>
                </a:extLst>
              </p:cNvPr>
              <p:cNvSpPr/>
              <p:nvPr/>
            </p:nvSpPr>
            <p:spPr>
              <a:xfrm>
                <a:off x="3681324" y="2395395"/>
                <a:ext cx="7260000" cy="1337388"/>
              </a:xfrm>
              <a:prstGeom prst="rect">
                <a:avLst/>
              </a:prstGeom>
              <a:noFill/>
              <a:ln>
                <a:noFill/>
              </a:ln>
            </p:spPr>
            <p:txBody>
              <a:bodyPr spcFirstLastPara="1" wrap="square" lIns="91425" tIns="91425" rIns="91425" bIns="91425" anchor="t" anchorCtr="0">
                <a:noAutofit/>
              </a:bodyPr>
              <a:lstStyle/>
              <a:p>
                <a:pPr algn="r">
                  <a:lnSpc>
                    <a:spcPct val="115000"/>
                  </a:lnSpc>
                </a:pPr>
                <a:r>
                  <a:rPr lang="es-ES" sz="1400" dirty="0">
                    <a:solidFill>
                      <a:srgbClr val="FFFFFF"/>
                    </a:solidFill>
                    <a:effectLst/>
                    <a:latin typeface="Gellix" pitchFamily="2" charset="77"/>
                    <a:ea typeface="Fira Sans Extra Condensed"/>
                    <a:cs typeface="Fira Sans Extra Condensed"/>
                  </a:rPr>
                  <a:t>Nombre del proyecto</a:t>
                </a:r>
                <a:endParaRPr lang="es-MX" sz="1100" dirty="0">
                  <a:effectLst/>
                  <a:latin typeface="Gellix" pitchFamily="2" charset="77"/>
                  <a:ea typeface="Arial" panose="020B0604020202020204" pitchFamily="34" charset="0"/>
                </a:endParaRPr>
              </a:p>
            </p:txBody>
          </p:sp>
        </p:grpSp>
      </p:grpSp>
      <p:sp>
        <p:nvSpPr>
          <p:cNvPr id="11" name="Cuadro de texto 3">
            <a:extLst>
              <a:ext uri="{FF2B5EF4-FFF2-40B4-BE49-F238E27FC236}">
                <a16:creationId xmlns:a16="http://schemas.microsoft.com/office/drawing/2014/main" id="{A928BFB0-6995-2B29-CDC2-F7D5286D22C5}"/>
              </a:ext>
            </a:extLst>
          </p:cNvPr>
          <p:cNvSpPr txBox="1"/>
          <p:nvPr/>
        </p:nvSpPr>
        <p:spPr>
          <a:xfrm>
            <a:off x="608605" y="98129"/>
            <a:ext cx="1308735"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s-ES_tradnl" sz="2200">
                <a:solidFill>
                  <a:srgbClr val="161E43"/>
                </a:solidFill>
                <a:effectLst/>
                <a:latin typeface="Century Gothic" panose="020B0502020202020204" pitchFamily="34" charset="0"/>
                <a:ea typeface="Arial" panose="020B0604020202020204" pitchFamily="34" charset="0"/>
              </a:rPr>
              <a:t>MNA</a:t>
            </a:r>
            <a:endParaRPr lang="es-MX" sz="1100">
              <a:effectLst/>
              <a:latin typeface="Arial" panose="020B0604020202020204" pitchFamily="34" charset="0"/>
              <a:ea typeface="Arial" panose="020B0604020202020204" pitchFamily="34" charset="0"/>
            </a:endParaRPr>
          </a:p>
        </p:txBody>
      </p:sp>
      <p:sp>
        <p:nvSpPr>
          <p:cNvPr id="12" name="Título 1">
            <a:extLst>
              <a:ext uri="{FF2B5EF4-FFF2-40B4-BE49-F238E27FC236}">
                <a16:creationId xmlns:a16="http://schemas.microsoft.com/office/drawing/2014/main" id="{A17F96BB-950A-839D-5631-82791C07217E}"/>
              </a:ext>
            </a:extLst>
          </p:cNvPr>
          <p:cNvSpPr>
            <a:spLocks noGrp="1"/>
          </p:cNvSpPr>
          <p:nvPr>
            <p:ph type="ctrTitle"/>
          </p:nvPr>
        </p:nvSpPr>
        <p:spPr>
          <a:xfrm>
            <a:off x="326723" y="570742"/>
            <a:ext cx="6970643" cy="931121"/>
          </a:xfrm>
        </p:spPr>
        <p:txBody>
          <a:bodyPr>
            <a:normAutofit/>
          </a:bodyPr>
          <a:lstStyle/>
          <a:p>
            <a:pPr algn="l">
              <a:lnSpc>
                <a:spcPct val="100000"/>
              </a:lnSpc>
              <a:spcAft>
                <a:spcPts val="1200"/>
              </a:spcAft>
            </a:pPr>
            <a:r>
              <a:rPr lang="es-MX" sz="2800" dirty="0">
                <a:latin typeface="Gellix" pitchFamily="2" charset="77"/>
              </a:rPr>
              <a:t>06 | Analisis Costo-Beneficio</a:t>
            </a:r>
            <a:endParaRPr lang="es-MX" sz="2000" dirty="0">
              <a:latin typeface="Gellix" pitchFamily="2" charset="77"/>
            </a:endParaRPr>
          </a:p>
        </p:txBody>
      </p:sp>
      <p:sp>
        <p:nvSpPr>
          <p:cNvPr id="13" name="Subtítulo 2">
            <a:extLst>
              <a:ext uri="{FF2B5EF4-FFF2-40B4-BE49-F238E27FC236}">
                <a16:creationId xmlns:a16="http://schemas.microsoft.com/office/drawing/2014/main" id="{30FF6E45-5264-8D11-EAC7-F18054430785}"/>
              </a:ext>
            </a:extLst>
          </p:cNvPr>
          <p:cNvSpPr>
            <a:spLocks noGrp="1"/>
          </p:cNvSpPr>
          <p:nvPr>
            <p:ph type="subTitle" idx="1"/>
          </p:nvPr>
        </p:nvSpPr>
        <p:spPr>
          <a:xfrm>
            <a:off x="366619" y="1501863"/>
            <a:ext cx="10844720" cy="3934690"/>
          </a:xfrm>
        </p:spPr>
        <p:txBody>
          <a:bodyPr>
            <a:normAutofit/>
          </a:bodyPr>
          <a:lstStyle/>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endParaRPr lang="es-MX" sz="2800" dirty="0">
              <a:latin typeface="Avenir Next Condensed" panose="020B0506020202020204" pitchFamily="34" charset="0"/>
            </a:endParaRPr>
          </a:p>
        </p:txBody>
      </p:sp>
      <p:sp>
        <p:nvSpPr>
          <p:cNvPr id="14" name="Rectangle 13"/>
          <p:cNvSpPr/>
          <p:nvPr/>
        </p:nvSpPr>
        <p:spPr>
          <a:xfrm>
            <a:off x="365760" y="1664208"/>
            <a:ext cx="5669280"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FFFFFF"/>
                </a:solidFill>
                <a:latin typeface="Century Gothic"/>
              </a:rPr>
              <a:t>COSTOS - Ano 1</a:t>
            </a:r>
          </a:p>
        </p:txBody>
      </p:sp>
      <p:sp>
        <p:nvSpPr>
          <p:cNvPr id="15" name="Rectangle 14"/>
          <p:cNvSpPr/>
          <p:nvPr/>
        </p:nvSpPr>
        <p:spPr>
          <a:xfrm>
            <a:off x="365760" y="2176272"/>
            <a:ext cx="566928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221992"/>
            <a:ext cx="4114800" cy="512064"/>
          </a:xfrm>
          <a:prstGeom prst="rect">
            <a:avLst/>
          </a:prstGeom>
          <a:noFill/>
        </p:spPr>
        <p:txBody>
          <a:bodyPr wrap="square">
            <a:spAutoFit/>
          </a:bodyPr>
          <a:lstStyle/>
          <a:p>
            <a:pPr algn="l"/>
            <a:r>
              <a:rPr sz="1100" b="0">
                <a:solidFill>
                  <a:srgbClr val="161E44"/>
                </a:solidFill>
                <a:latin typeface="Avenir Next Condensed"/>
              </a:rPr>
              <a:t>Desarrollo e integracion</a:t>
            </a:r>
          </a:p>
        </p:txBody>
      </p:sp>
      <p:sp>
        <p:nvSpPr>
          <p:cNvPr id="17" name="TextBox 16"/>
          <p:cNvSpPr txBox="1"/>
          <p:nvPr/>
        </p:nvSpPr>
        <p:spPr>
          <a:xfrm>
            <a:off x="4434840" y="2221992"/>
            <a:ext cx="1463040" cy="512064"/>
          </a:xfrm>
          <a:prstGeom prst="rect">
            <a:avLst/>
          </a:prstGeom>
          <a:noFill/>
        </p:spPr>
        <p:txBody>
          <a:bodyPr wrap="square">
            <a:spAutoFit/>
          </a:bodyPr>
          <a:lstStyle/>
          <a:p>
            <a:pPr algn="r"/>
            <a:r>
              <a:rPr sz="1100" b="1">
                <a:solidFill>
                  <a:srgbClr val="00C896"/>
                </a:solidFill>
                <a:latin typeface="Avenir Next Condensed"/>
              </a:rPr>
              <a:t>$3,200</a:t>
            </a:r>
          </a:p>
        </p:txBody>
      </p:sp>
      <p:sp>
        <p:nvSpPr>
          <p:cNvPr id="18" name="Rectangle 17"/>
          <p:cNvSpPr/>
          <p:nvPr/>
        </p:nvSpPr>
        <p:spPr>
          <a:xfrm>
            <a:off x="365760" y="2852928"/>
            <a:ext cx="5669280" cy="603504"/>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898648"/>
            <a:ext cx="4114800" cy="512064"/>
          </a:xfrm>
          <a:prstGeom prst="rect">
            <a:avLst/>
          </a:prstGeom>
          <a:noFill/>
        </p:spPr>
        <p:txBody>
          <a:bodyPr wrap="square">
            <a:spAutoFit/>
          </a:bodyPr>
          <a:lstStyle/>
          <a:p>
            <a:pPr algn="l"/>
            <a:r>
              <a:rPr sz="1100" b="0">
                <a:solidFill>
                  <a:srgbClr val="161E44"/>
                </a:solidFill>
                <a:latin typeface="Avenir Next Condensed"/>
              </a:rPr>
              <a:t>GCP Cloud Run + Vertex AI</a:t>
            </a:r>
          </a:p>
        </p:txBody>
      </p:sp>
      <p:sp>
        <p:nvSpPr>
          <p:cNvPr id="20" name="TextBox 19"/>
          <p:cNvSpPr txBox="1"/>
          <p:nvPr/>
        </p:nvSpPr>
        <p:spPr>
          <a:xfrm>
            <a:off x="4434840" y="2898648"/>
            <a:ext cx="1463040" cy="512064"/>
          </a:xfrm>
          <a:prstGeom prst="rect">
            <a:avLst/>
          </a:prstGeom>
          <a:noFill/>
        </p:spPr>
        <p:txBody>
          <a:bodyPr wrap="square">
            <a:spAutoFit/>
          </a:bodyPr>
          <a:lstStyle/>
          <a:p>
            <a:pPr algn="r"/>
            <a:r>
              <a:rPr sz="1100" b="1">
                <a:solidFill>
                  <a:srgbClr val="00C896"/>
                </a:solidFill>
                <a:latin typeface="Avenir Next Condensed"/>
              </a:rPr>
              <a:t>$372/ano</a:t>
            </a:r>
          </a:p>
        </p:txBody>
      </p:sp>
      <p:sp>
        <p:nvSpPr>
          <p:cNvPr id="21" name="Rectangle 20"/>
          <p:cNvSpPr/>
          <p:nvPr/>
        </p:nvSpPr>
        <p:spPr>
          <a:xfrm>
            <a:off x="365760" y="3529584"/>
            <a:ext cx="566928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575304"/>
            <a:ext cx="4114800" cy="512064"/>
          </a:xfrm>
          <a:prstGeom prst="rect">
            <a:avLst/>
          </a:prstGeom>
          <a:noFill/>
        </p:spPr>
        <p:txBody>
          <a:bodyPr wrap="square">
            <a:spAutoFit/>
          </a:bodyPr>
          <a:lstStyle/>
          <a:p>
            <a:pPr algn="l"/>
            <a:r>
              <a:rPr sz="1100" b="0">
                <a:solidFill>
                  <a:srgbClr val="161E44"/>
                </a:solidFill>
                <a:latin typeface="Avenir Next Condensed"/>
              </a:rPr>
              <a:t>Adquisicion de datos</a:t>
            </a:r>
          </a:p>
        </p:txBody>
      </p:sp>
      <p:sp>
        <p:nvSpPr>
          <p:cNvPr id="23" name="TextBox 22"/>
          <p:cNvSpPr txBox="1"/>
          <p:nvPr/>
        </p:nvSpPr>
        <p:spPr>
          <a:xfrm>
            <a:off x="4434840" y="3575304"/>
            <a:ext cx="1463040" cy="512064"/>
          </a:xfrm>
          <a:prstGeom prst="rect">
            <a:avLst/>
          </a:prstGeom>
          <a:noFill/>
        </p:spPr>
        <p:txBody>
          <a:bodyPr wrap="square">
            <a:spAutoFit/>
          </a:bodyPr>
          <a:lstStyle/>
          <a:p>
            <a:pPr algn="r"/>
            <a:r>
              <a:rPr sz="1100" b="1">
                <a:solidFill>
                  <a:srgbClr val="00C896"/>
                </a:solidFill>
                <a:latin typeface="Avenir Next Condensed"/>
              </a:rPr>
              <a:t>$800</a:t>
            </a:r>
          </a:p>
        </p:txBody>
      </p:sp>
      <p:sp>
        <p:nvSpPr>
          <p:cNvPr id="24" name="Rectangle 23"/>
          <p:cNvSpPr/>
          <p:nvPr/>
        </p:nvSpPr>
        <p:spPr>
          <a:xfrm>
            <a:off x="365760" y="4206240"/>
            <a:ext cx="5669280" cy="603504"/>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251960"/>
            <a:ext cx="4114800" cy="512064"/>
          </a:xfrm>
          <a:prstGeom prst="rect">
            <a:avLst/>
          </a:prstGeom>
          <a:noFill/>
        </p:spPr>
        <p:txBody>
          <a:bodyPr wrap="square">
            <a:spAutoFit/>
          </a:bodyPr>
          <a:lstStyle/>
          <a:p>
            <a:pPr algn="l"/>
            <a:r>
              <a:rPr sz="1100" b="0">
                <a:solidFill>
                  <a:srgbClr val="161E44"/>
                </a:solidFill>
                <a:latin typeface="Avenir Next Condensed"/>
              </a:rPr>
              <a:t>Capacitacion de personal</a:t>
            </a:r>
          </a:p>
        </p:txBody>
      </p:sp>
      <p:sp>
        <p:nvSpPr>
          <p:cNvPr id="26" name="TextBox 25"/>
          <p:cNvSpPr txBox="1"/>
          <p:nvPr/>
        </p:nvSpPr>
        <p:spPr>
          <a:xfrm>
            <a:off x="4434840" y="4251960"/>
            <a:ext cx="1463040" cy="512064"/>
          </a:xfrm>
          <a:prstGeom prst="rect">
            <a:avLst/>
          </a:prstGeom>
          <a:noFill/>
        </p:spPr>
        <p:txBody>
          <a:bodyPr wrap="square">
            <a:spAutoFit/>
          </a:bodyPr>
          <a:lstStyle/>
          <a:p>
            <a:pPr algn="r"/>
            <a:r>
              <a:rPr sz="1100" b="1">
                <a:solidFill>
                  <a:srgbClr val="00C896"/>
                </a:solidFill>
                <a:latin typeface="Avenir Next Condensed"/>
              </a:rPr>
              <a:t>$500</a:t>
            </a:r>
          </a:p>
        </p:txBody>
      </p:sp>
      <p:sp>
        <p:nvSpPr>
          <p:cNvPr id="27" name="Rectangle 26"/>
          <p:cNvSpPr/>
          <p:nvPr/>
        </p:nvSpPr>
        <p:spPr>
          <a:xfrm>
            <a:off x="365760" y="4882896"/>
            <a:ext cx="566928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928616"/>
            <a:ext cx="4114800" cy="512064"/>
          </a:xfrm>
          <a:prstGeom prst="rect">
            <a:avLst/>
          </a:prstGeom>
          <a:noFill/>
        </p:spPr>
        <p:txBody>
          <a:bodyPr wrap="square">
            <a:spAutoFit/>
          </a:bodyPr>
          <a:lstStyle/>
          <a:p>
            <a:pPr algn="l"/>
            <a:r>
              <a:rPr sz="1100" b="0">
                <a:solidFill>
                  <a:srgbClr val="161E44"/>
                </a:solidFill>
                <a:latin typeface="Avenir Next Condensed"/>
              </a:rPr>
              <a:t>Mantenimiento y reentrenamiento</a:t>
            </a:r>
          </a:p>
        </p:txBody>
      </p:sp>
      <p:sp>
        <p:nvSpPr>
          <p:cNvPr id="29" name="TextBox 28"/>
          <p:cNvSpPr txBox="1"/>
          <p:nvPr/>
        </p:nvSpPr>
        <p:spPr>
          <a:xfrm>
            <a:off x="4434840" y="4928616"/>
            <a:ext cx="1463040" cy="512064"/>
          </a:xfrm>
          <a:prstGeom prst="rect">
            <a:avLst/>
          </a:prstGeom>
          <a:noFill/>
        </p:spPr>
        <p:txBody>
          <a:bodyPr wrap="square">
            <a:spAutoFit/>
          </a:bodyPr>
          <a:lstStyle/>
          <a:p>
            <a:pPr algn="r"/>
            <a:r>
              <a:rPr sz="1100" b="1">
                <a:solidFill>
                  <a:srgbClr val="00C896"/>
                </a:solidFill>
                <a:latin typeface="Avenir Next Condensed"/>
              </a:rPr>
              <a:t>$720/ano</a:t>
            </a:r>
          </a:p>
        </p:txBody>
      </p:sp>
      <p:sp>
        <p:nvSpPr>
          <p:cNvPr id="30" name="Rectangle 29"/>
          <p:cNvSpPr/>
          <p:nvPr/>
        </p:nvSpPr>
        <p:spPr>
          <a:xfrm>
            <a:off x="365760" y="5559552"/>
            <a:ext cx="5669280" cy="603504"/>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5605272"/>
            <a:ext cx="4114800" cy="512064"/>
          </a:xfrm>
          <a:prstGeom prst="rect">
            <a:avLst/>
          </a:prstGeom>
          <a:noFill/>
        </p:spPr>
        <p:txBody>
          <a:bodyPr wrap="square">
            <a:spAutoFit/>
          </a:bodyPr>
          <a:lstStyle/>
          <a:p>
            <a:pPr algn="l"/>
            <a:r>
              <a:rPr sz="1100" b="1">
                <a:solidFill>
                  <a:srgbClr val="FFFFFF"/>
                </a:solidFill>
                <a:latin typeface="Avenir Next Condensed"/>
              </a:rPr>
              <a:t>TOTAL COSTOS</a:t>
            </a:r>
          </a:p>
        </p:txBody>
      </p:sp>
      <p:sp>
        <p:nvSpPr>
          <p:cNvPr id="32" name="TextBox 31"/>
          <p:cNvSpPr txBox="1"/>
          <p:nvPr/>
        </p:nvSpPr>
        <p:spPr>
          <a:xfrm>
            <a:off x="4434840" y="5605272"/>
            <a:ext cx="1463040" cy="512064"/>
          </a:xfrm>
          <a:prstGeom prst="rect">
            <a:avLst/>
          </a:prstGeom>
          <a:noFill/>
        </p:spPr>
        <p:txBody>
          <a:bodyPr wrap="square">
            <a:spAutoFit/>
          </a:bodyPr>
          <a:lstStyle/>
          <a:p>
            <a:pPr algn="r"/>
            <a:r>
              <a:rPr sz="1100" b="1">
                <a:solidFill>
                  <a:srgbClr val="D4A017"/>
                </a:solidFill>
                <a:latin typeface="Avenir Next Condensed"/>
              </a:rPr>
              <a:t>$5,592</a:t>
            </a:r>
          </a:p>
        </p:txBody>
      </p:sp>
      <p:sp>
        <p:nvSpPr>
          <p:cNvPr id="33" name="Rectangle 32"/>
          <p:cNvSpPr/>
          <p:nvPr/>
        </p:nvSpPr>
        <p:spPr>
          <a:xfrm>
            <a:off x="6309360" y="1664208"/>
            <a:ext cx="5577840" cy="438912"/>
          </a:xfrm>
          <a:prstGeom prst="rect">
            <a:avLst/>
          </a:prstGeom>
          <a:solidFill>
            <a:srgbClr val="00A07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FFFFFF"/>
                </a:solidFill>
                <a:latin typeface="Century Gothic"/>
              </a:rPr>
              <a:t>BENEFICIOS - Ano 1 (estimados)</a:t>
            </a:r>
          </a:p>
        </p:txBody>
      </p:sp>
      <p:sp>
        <p:nvSpPr>
          <p:cNvPr id="34" name="Rectangle 33"/>
          <p:cNvSpPr/>
          <p:nvPr/>
        </p:nvSpPr>
        <p:spPr>
          <a:xfrm>
            <a:off x="6309360" y="2176272"/>
            <a:ext cx="557784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2221992"/>
            <a:ext cx="3840480" cy="512064"/>
          </a:xfrm>
          <a:prstGeom prst="rect">
            <a:avLst/>
          </a:prstGeom>
          <a:noFill/>
        </p:spPr>
        <p:txBody>
          <a:bodyPr wrap="square">
            <a:spAutoFit/>
          </a:bodyPr>
          <a:lstStyle/>
          <a:p>
            <a:pPr algn="l"/>
            <a:r>
              <a:rPr sz="1100" b="0">
                <a:solidFill>
                  <a:srgbClr val="161E44"/>
                </a:solidFill>
                <a:latin typeface="Avenir Next Condensed"/>
              </a:rPr>
              <a:t>Ahorro en suplementacion optima</a:t>
            </a:r>
          </a:p>
        </p:txBody>
      </p:sp>
      <p:sp>
        <p:nvSpPr>
          <p:cNvPr id="36" name="TextBox 35"/>
          <p:cNvSpPr txBox="1"/>
          <p:nvPr/>
        </p:nvSpPr>
        <p:spPr>
          <a:xfrm>
            <a:off x="10241280" y="2221992"/>
            <a:ext cx="1463040" cy="512064"/>
          </a:xfrm>
          <a:prstGeom prst="rect">
            <a:avLst/>
          </a:prstGeom>
          <a:noFill/>
        </p:spPr>
        <p:txBody>
          <a:bodyPr wrap="square">
            <a:spAutoFit/>
          </a:bodyPr>
          <a:lstStyle/>
          <a:p>
            <a:pPr algn="r"/>
            <a:r>
              <a:rPr sz="1100" b="1">
                <a:solidFill>
                  <a:srgbClr val="00C896"/>
                </a:solidFill>
                <a:latin typeface="Avenir Next Condensed"/>
              </a:rPr>
              <a:t>$10,000</a:t>
            </a:r>
          </a:p>
        </p:txBody>
      </p:sp>
      <p:sp>
        <p:nvSpPr>
          <p:cNvPr id="37" name="Rectangle 36"/>
          <p:cNvSpPr/>
          <p:nvPr/>
        </p:nvSpPr>
        <p:spPr>
          <a:xfrm>
            <a:off x="6309360" y="2852928"/>
            <a:ext cx="5577840" cy="603504"/>
          </a:xfrm>
          <a:prstGeom prst="rect">
            <a:avLst/>
          </a:prstGeom>
          <a:solidFill>
            <a:srgbClr val="F0FB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2898648"/>
            <a:ext cx="3840480" cy="512064"/>
          </a:xfrm>
          <a:prstGeom prst="rect">
            <a:avLst/>
          </a:prstGeom>
          <a:noFill/>
        </p:spPr>
        <p:txBody>
          <a:bodyPr wrap="square">
            <a:spAutoFit/>
          </a:bodyPr>
          <a:lstStyle/>
          <a:p>
            <a:pPr algn="l"/>
            <a:r>
              <a:rPr sz="1100" b="0">
                <a:solidFill>
                  <a:srgbClr val="161E44"/>
                </a:solidFill>
                <a:latin typeface="Avenir Next Condensed"/>
              </a:rPr>
              <a:t>Mejora eficiencia produccion (+5%)</a:t>
            </a:r>
          </a:p>
        </p:txBody>
      </p:sp>
      <p:sp>
        <p:nvSpPr>
          <p:cNvPr id="39" name="TextBox 38"/>
          <p:cNvSpPr txBox="1"/>
          <p:nvPr/>
        </p:nvSpPr>
        <p:spPr>
          <a:xfrm>
            <a:off x="10241280" y="2898648"/>
            <a:ext cx="1463040" cy="512064"/>
          </a:xfrm>
          <a:prstGeom prst="rect">
            <a:avLst/>
          </a:prstGeom>
          <a:noFill/>
        </p:spPr>
        <p:txBody>
          <a:bodyPr wrap="square">
            <a:spAutoFit/>
          </a:bodyPr>
          <a:lstStyle/>
          <a:p>
            <a:pPr algn="r"/>
            <a:r>
              <a:rPr sz="1100" b="1">
                <a:solidFill>
                  <a:srgbClr val="00C896"/>
                </a:solidFill>
                <a:latin typeface="Avenir Next Condensed"/>
              </a:rPr>
              <a:t>$2,500</a:t>
            </a:r>
          </a:p>
        </p:txBody>
      </p:sp>
      <p:sp>
        <p:nvSpPr>
          <p:cNvPr id="40" name="Rectangle 39"/>
          <p:cNvSpPr/>
          <p:nvPr/>
        </p:nvSpPr>
        <p:spPr>
          <a:xfrm>
            <a:off x="6309360" y="3529584"/>
            <a:ext cx="557784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46520" y="3575304"/>
            <a:ext cx="3840480" cy="512064"/>
          </a:xfrm>
          <a:prstGeom prst="rect">
            <a:avLst/>
          </a:prstGeom>
          <a:noFill/>
        </p:spPr>
        <p:txBody>
          <a:bodyPr wrap="square">
            <a:spAutoFit/>
          </a:bodyPr>
          <a:lstStyle/>
          <a:p>
            <a:pPr algn="l"/>
            <a:r>
              <a:rPr sz="1100" b="0">
                <a:solidFill>
                  <a:srgbClr val="161E44"/>
                </a:solidFill>
                <a:latin typeface="Avenir Next Condensed"/>
              </a:rPr>
              <a:t>Creditos de carbono (~50 ton CH4)</a:t>
            </a:r>
          </a:p>
        </p:txBody>
      </p:sp>
      <p:sp>
        <p:nvSpPr>
          <p:cNvPr id="42" name="TextBox 41"/>
          <p:cNvSpPr txBox="1"/>
          <p:nvPr/>
        </p:nvSpPr>
        <p:spPr>
          <a:xfrm>
            <a:off x="10241280" y="3575304"/>
            <a:ext cx="1463040" cy="512064"/>
          </a:xfrm>
          <a:prstGeom prst="rect">
            <a:avLst/>
          </a:prstGeom>
          <a:noFill/>
        </p:spPr>
        <p:txBody>
          <a:bodyPr wrap="square">
            <a:spAutoFit/>
          </a:bodyPr>
          <a:lstStyle/>
          <a:p>
            <a:pPr algn="r"/>
            <a:r>
              <a:rPr sz="1100" b="1">
                <a:solidFill>
                  <a:srgbClr val="00C896"/>
                </a:solidFill>
                <a:latin typeface="Avenir Next Condensed"/>
              </a:rPr>
              <a:t>$1,500</a:t>
            </a:r>
          </a:p>
        </p:txBody>
      </p:sp>
      <p:sp>
        <p:nvSpPr>
          <p:cNvPr id="43" name="Rectangle 42"/>
          <p:cNvSpPr/>
          <p:nvPr/>
        </p:nvSpPr>
        <p:spPr>
          <a:xfrm>
            <a:off x="6309360" y="4206240"/>
            <a:ext cx="5577840" cy="603504"/>
          </a:xfrm>
          <a:prstGeom prst="rect">
            <a:avLst/>
          </a:prstGeom>
          <a:solidFill>
            <a:srgbClr val="F0FB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46520" y="4251960"/>
            <a:ext cx="3840480" cy="512064"/>
          </a:xfrm>
          <a:prstGeom prst="rect">
            <a:avLst/>
          </a:prstGeom>
          <a:noFill/>
        </p:spPr>
        <p:txBody>
          <a:bodyPr wrap="square">
            <a:spAutoFit/>
          </a:bodyPr>
          <a:lstStyle/>
          <a:p>
            <a:pPr algn="l"/>
            <a:r>
              <a:rPr sz="1100" b="0">
                <a:solidFill>
                  <a:srgbClr val="161E44"/>
                </a:solidFill>
                <a:latin typeface="Avenir Next Condensed"/>
              </a:rPr>
              <a:t>Reduccion costos veterinarios</a:t>
            </a:r>
          </a:p>
        </p:txBody>
      </p:sp>
      <p:sp>
        <p:nvSpPr>
          <p:cNvPr id="45" name="TextBox 44"/>
          <p:cNvSpPr txBox="1"/>
          <p:nvPr/>
        </p:nvSpPr>
        <p:spPr>
          <a:xfrm>
            <a:off x="10241280" y="4251960"/>
            <a:ext cx="1463040" cy="512064"/>
          </a:xfrm>
          <a:prstGeom prst="rect">
            <a:avLst/>
          </a:prstGeom>
          <a:noFill/>
        </p:spPr>
        <p:txBody>
          <a:bodyPr wrap="square">
            <a:spAutoFit/>
          </a:bodyPr>
          <a:lstStyle/>
          <a:p>
            <a:pPr algn="r"/>
            <a:r>
              <a:rPr sz="1100" b="1">
                <a:solidFill>
                  <a:srgbClr val="00C896"/>
                </a:solidFill>
                <a:latin typeface="Avenir Next Condensed"/>
              </a:rPr>
              <a:t>$800</a:t>
            </a:r>
          </a:p>
        </p:txBody>
      </p:sp>
      <p:sp>
        <p:nvSpPr>
          <p:cNvPr id="46" name="Rectangle 45"/>
          <p:cNvSpPr/>
          <p:nvPr/>
        </p:nvSpPr>
        <p:spPr>
          <a:xfrm>
            <a:off x="6309360" y="4882896"/>
            <a:ext cx="5577840"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46520" y="4928616"/>
            <a:ext cx="3840480" cy="512064"/>
          </a:xfrm>
          <a:prstGeom prst="rect">
            <a:avLst/>
          </a:prstGeom>
          <a:noFill/>
        </p:spPr>
        <p:txBody>
          <a:bodyPr wrap="square">
            <a:spAutoFit/>
          </a:bodyPr>
          <a:lstStyle/>
          <a:p>
            <a:pPr algn="l"/>
            <a:r>
              <a:rPr sz="1100" b="0">
                <a:solidFill>
                  <a:srgbClr val="161E44"/>
                </a:solidFill>
                <a:latin typeface="Avenir Next Condensed"/>
              </a:rPr>
              <a:t>Valor datos / reporte ambiental</a:t>
            </a:r>
          </a:p>
        </p:txBody>
      </p:sp>
      <p:sp>
        <p:nvSpPr>
          <p:cNvPr id="48" name="TextBox 47"/>
          <p:cNvSpPr txBox="1"/>
          <p:nvPr/>
        </p:nvSpPr>
        <p:spPr>
          <a:xfrm>
            <a:off x="10241280" y="4928616"/>
            <a:ext cx="1463040" cy="512064"/>
          </a:xfrm>
          <a:prstGeom prst="rect">
            <a:avLst/>
          </a:prstGeom>
          <a:noFill/>
        </p:spPr>
        <p:txBody>
          <a:bodyPr wrap="square">
            <a:spAutoFit/>
          </a:bodyPr>
          <a:lstStyle/>
          <a:p>
            <a:pPr algn="r"/>
            <a:r>
              <a:rPr sz="1100" b="1">
                <a:solidFill>
                  <a:srgbClr val="00C896"/>
                </a:solidFill>
                <a:latin typeface="Avenir Next Condensed"/>
              </a:rPr>
              <a:t>$500</a:t>
            </a:r>
          </a:p>
        </p:txBody>
      </p:sp>
      <p:sp>
        <p:nvSpPr>
          <p:cNvPr id="49" name="Rectangle 48"/>
          <p:cNvSpPr/>
          <p:nvPr/>
        </p:nvSpPr>
        <p:spPr>
          <a:xfrm>
            <a:off x="6309360" y="5559552"/>
            <a:ext cx="5577840" cy="603504"/>
          </a:xfrm>
          <a:prstGeom prst="rect">
            <a:avLst/>
          </a:prstGeom>
          <a:solidFill>
            <a:srgbClr val="00A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46520" y="5605272"/>
            <a:ext cx="3840480" cy="512064"/>
          </a:xfrm>
          <a:prstGeom prst="rect">
            <a:avLst/>
          </a:prstGeom>
          <a:noFill/>
        </p:spPr>
        <p:txBody>
          <a:bodyPr wrap="square">
            <a:spAutoFit/>
          </a:bodyPr>
          <a:lstStyle/>
          <a:p>
            <a:pPr algn="l"/>
            <a:r>
              <a:rPr sz="1100" b="1">
                <a:solidFill>
                  <a:srgbClr val="FFFFFF"/>
                </a:solidFill>
                <a:latin typeface="Avenir Next Condensed"/>
              </a:rPr>
              <a:t>TOTAL BENEFICIOS</a:t>
            </a:r>
          </a:p>
        </p:txBody>
      </p:sp>
      <p:sp>
        <p:nvSpPr>
          <p:cNvPr id="51" name="TextBox 50"/>
          <p:cNvSpPr txBox="1"/>
          <p:nvPr/>
        </p:nvSpPr>
        <p:spPr>
          <a:xfrm>
            <a:off x="10241280" y="5605272"/>
            <a:ext cx="1463040" cy="512064"/>
          </a:xfrm>
          <a:prstGeom prst="rect">
            <a:avLst/>
          </a:prstGeom>
          <a:noFill/>
        </p:spPr>
        <p:txBody>
          <a:bodyPr wrap="square">
            <a:spAutoFit/>
          </a:bodyPr>
          <a:lstStyle/>
          <a:p>
            <a:pPr algn="r"/>
            <a:r>
              <a:rPr sz="1100" b="1">
                <a:solidFill>
                  <a:srgbClr val="FFFFFF"/>
                </a:solidFill>
                <a:latin typeface="Avenir Next Condensed"/>
              </a:rPr>
              <a:t>$15,300</a:t>
            </a:r>
          </a:p>
        </p:txBody>
      </p:sp>
      <p:sp>
        <p:nvSpPr>
          <p:cNvPr id="52" name="Rectangle 51"/>
          <p:cNvSpPr/>
          <p:nvPr/>
        </p:nvSpPr>
        <p:spPr>
          <a:xfrm>
            <a:off x="365760" y="6291072"/>
            <a:ext cx="11521440" cy="347472"/>
          </a:xfrm>
          <a:prstGeom prst="rect">
            <a:avLst/>
          </a:prstGeom>
          <a:solidFill>
            <a:srgbClr val="E6FAF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161E44"/>
                </a:solidFill>
                <a:latin typeface="Century Gothic"/>
              </a:rPr>
              <a:t>ROI Ano 1: 174%   |   Periodo de recuperacion: ~4.4 meses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 name="Grupo 3">
            <a:extLst>
              <a:ext uri="{FF2B5EF4-FFF2-40B4-BE49-F238E27FC236}">
                <a16:creationId xmlns:a16="http://schemas.microsoft.com/office/drawing/2014/main" id="{BA2F9B76-D70D-0F10-BC27-39EB895783B8}"/>
              </a:ext>
            </a:extLst>
          </p:cNvPr>
          <p:cNvGrpSpPr/>
          <p:nvPr/>
        </p:nvGrpSpPr>
        <p:grpSpPr>
          <a:xfrm>
            <a:off x="-1" y="0"/>
            <a:ext cx="12322630" cy="727520"/>
            <a:chOff x="703525" y="2152231"/>
            <a:chExt cx="10523975" cy="940772"/>
          </a:xfrm>
        </p:grpSpPr>
        <p:sp>
          <p:nvSpPr>
            <p:cNvPr id="5" name="Rectángulo 4">
              <a:extLst>
                <a:ext uri="{FF2B5EF4-FFF2-40B4-BE49-F238E27FC236}">
                  <a16:creationId xmlns:a16="http://schemas.microsoft.com/office/drawing/2014/main" id="{DFAF7A8C-333D-C58F-9C95-59591841527A}"/>
                </a:ext>
              </a:extLst>
            </p:cNvPr>
            <p:cNvSpPr/>
            <p:nvPr/>
          </p:nvSpPr>
          <p:spPr>
            <a:xfrm>
              <a:off x="703525" y="2152232"/>
              <a:ext cx="10523975" cy="847400"/>
            </a:xfrm>
            <a:prstGeom prst="rect">
              <a:avLst/>
            </a:prstGeom>
            <a:no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nvGrpSpPr>
            <p:cNvPr id="6" name="Grupo 5">
              <a:extLst>
                <a:ext uri="{FF2B5EF4-FFF2-40B4-BE49-F238E27FC236}">
                  <a16:creationId xmlns:a16="http://schemas.microsoft.com/office/drawing/2014/main" id="{F0F2FE41-68B0-2A54-4B88-859454FD71BF}"/>
                </a:ext>
              </a:extLst>
            </p:cNvPr>
            <p:cNvGrpSpPr/>
            <p:nvPr/>
          </p:nvGrpSpPr>
          <p:grpSpPr>
            <a:xfrm>
              <a:off x="703525" y="2152231"/>
              <a:ext cx="10412414" cy="940772"/>
              <a:chOff x="703525" y="2152450"/>
              <a:chExt cx="10412414" cy="1580333"/>
            </a:xfrm>
          </p:grpSpPr>
          <p:sp>
            <p:nvSpPr>
              <p:cNvPr id="7" name="Rectángulo 6">
                <a:extLst>
                  <a:ext uri="{FF2B5EF4-FFF2-40B4-BE49-F238E27FC236}">
                    <a16:creationId xmlns:a16="http://schemas.microsoft.com/office/drawing/2014/main" id="{1927F4A0-FF65-DE13-8DB0-F182C45D1F8F}"/>
                  </a:ext>
                </a:extLst>
              </p:cNvPr>
              <p:cNvSpPr/>
              <p:nvPr/>
            </p:nvSpPr>
            <p:spPr>
              <a:xfrm>
                <a:off x="3657601" y="2152450"/>
                <a:ext cx="7458338" cy="1418699"/>
              </a:xfrm>
              <a:prstGeom prst="rect">
                <a:avLst/>
              </a:prstGeom>
              <a:solidFill>
                <a:srgbClr val="161E44"/>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8" name="Rectángulo 7">
                <a:extLst>
                  <a:ext uri="{FF2B5EF4-FFF2-40B4-BE49-F238E27FC236}">
                    <a16:creationId xmlns:a16="http://schemas.microsoft.com/office/drawing/2014/main" id="{0F2B72AB-467F-B766-220B-492375030E4E}"/>
                  </a:ext>
                </a:extLst>
              </p:cNvPr>
              <p:cNvSpPr/>
              <p:nvPr/>
            </p:nvSpPr>
            <p:spPr>
              <a:xfrm>
                <a:off x="703525" y="2157250"/>
                <a:ext cx="2458800" cy="1418700"/>
              </a:xfrm>
              <a:prstGeom prst="rect">
                <a:avLst/>
              </a:prstGeom>
              <a:solidFill>
                <a:srgbClr val="D9D9D9"/>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9" name="Paralelogramo 8">
                <a:extLst>
                  <a:ext uri="{FF2B5EF4-FFF2-40B4-BE49-F238E27FC236}">
                    <a16:creationId xmlns:a16="http://schemas.microsoft.com/office/drawing/2014/main" id="{8623E56F-A27D-F7E7-D667-DB06C7907134}"/>
                  </a:ext>
                </a:extLst>
              </p:cNvPr>
              <p:cNvSpPr/>
              <p:nvPr/>
            </p:nvSpPr>
            <p:spPr>
              <a:xfrm>
                <a:off x="2860775" y="2152450"/>
                <a:ext cx="1127400" cy="1418700"/>
              </a:xfrm>
              <a:prstGeom prst="parallelogram">
                <a:avLst>
                  <a:gd name="adj" fmla="val 25000"/>
                </a:avLst>
              </a:prstGeom>
              <a:solidFill>
                <a:srgbClr val="97A72A"/>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10" name="Rectángulo 9">
                <a:extLst>
                  <a:ext uri="{FF2B5EF4-FFF2-40B4-BE49-F238E27FC236}">
                    <a16:creationId xmlns:a16="http://schemas.microsoft.com/office/drawing/2014/main" id="{BA056F29-3298-1160-5F8C-8B8F0C5D6492}"/>
                  </a:ext>
                </a:extLst>
              </p:cNvPr>
              <p:cNvSpPr/>
              <p:nvPr/>
            </p:nvSpPr>
            <p:spPr>
              <a:xfrm>
                <a:off x="3681324" y="2395395"/>
                <a:ext cx="7260000" cy="1337388"/>
              </a:xfrm>
              <a:prstGeom prst="rect">
                <a:avLst/>
              </a:prstGeom>
              <a:noFill/>
              <a:ln>
                <a:noFill/>
              </a:ln>
            </p:spPr>
            <p:txBody>
              <a:bodyPr spcFirstLastPara="1" wrap="square" lIns="91425" tIns="91425" rIns="91425" bIns="91425" anchor="t" anchorCtr="0">
                <a:noAutofit/>
              </a:bodyPr>
              <a:lstStyle/>
              <a:p>
                <a:pPr algn="r">
                  <a:lnSpc>
                    <a:spcPct val="115000"/>
                  </a:lnSpc>
                </a:pPr>
                <a:r>
                  <a:rPr lang="es-ES" sz="1400" dirty="0">
                    <a:solidFill>
                      <a:srgbClr val="FFFFFF"/>
                    </a:solidFill>
                    <a:effectLst/>
                    <a:latin typeface="Gellix" pitchFamily="2" charset="77"/>
                    <a:ea typeface="Fira Sans Extra Condensed"/>
                    <a:cs typeface="Fira Sans Extra Condensed"/>
                  </a:rPr>
                  <a:t>Nombre del proyecto</a:t>
                </a:r>
                <a:endParaRPr lang="es-MX" sz="1100" dirty="0">
                  <a:effectLst/>
                  <a:latin typeface="Gellix" pitchFamily="2" charset="77"/>
                  <a:ea typeface="Arial" panose="020B0604020202020204" pitchFamily="34" charset="0"/>
                </a:endParaRPr>
              </a:p>
            </p:txBody>
          </p:sp>
        </p:grpSp>
      </p:grpSp>
      <p:sp>
        <p:nvSpPr>
          <p:cNvPr id="11" name="Cuadro de texto 3">
            <a:extLst>
              <a:ext uri="{FF2B5EF4-FFF2-40B4-BE49-F238E27FC236}">
                <a16:creationId xmlns:a16="http://schemas.microsoft.com/office/drawing/2014/main" id="{A928BFB0-6995-2B29-CDC2-F7D5286D22C5}"/>
              </a:ext>
            </a:extLst>
          </p:cNvPr>
          <p:cNvSpPr txBox="1"/>
          <p:nvPr/>
        </p:nvSpPr>
        <p:spPr>
          <a:xfrm>
            <a:off x="608605" y="98129"/>
            <a:ext cx="1308735"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s-ES_tradnl" sz="2200">
                <a:solidFill>
                  <a:srgbClr val="161E43"/>
                </a:solidFill>
                <a:effectLst/>
                <a:latin typeface="Century Gothic" panose="020B0502020202020204" pitchFamily="34" charset="0"/>
                <a:ea typeface="Arial" panose="020B0604020202020204" pitchFamily="34" charset="0"/>
              </a:rPr>
              <a:t>MNA</a:t>
            </a:r>
            <a:endParaRPr lang="es-MX" sz="1100">
              <a:effectLst/>
              <a:latin typeface="Arial" panose="020B0604020202020204" pitchFamily="34" charset="0"/>
              <a:ea typeface="Arial" panose="020B0604020202020204" pitchFamily="34" charset="0"/>
            </a:endParaRPr>
          </a:p>
        </p:txBody>
      </p:sp>
      <p:sp>
        <p:nvSpPr>
          <p:cNvPr id="12" name="Título 1">
            <a:extLst>
              <a:ext uri="{FF2B5EF4-FFF2-40B4-BE49-F238E27FC236}">
                <a16:creationId xmlns:a16="http://schemas.microsoft.com/office/drawing/2014/main" id="{A17F96BB-950A-839D-5631-82791C07217E}"/>
              </a:ext>
            </a:extLst>
          </p:cNvPr>
          <p:cNvSpPr>
            <a:spLocks noGrp="1"/>
          </p:cNvSpPr>
          <p:nvPr>
            <p:ph type="ctrTitle"/>
          </p:nvPr>
        </p:nvSpPr>
        <p:spPr>
          <a:xfrm>
            <a:off x="326723" y="570742"/>
            <a:ext cx="6970643" cy="931121"/>
          </a:xfrm>
        </p:spPr>
        <p:txBody>
          <a:bodyPr>
            <a:normAutofit/>
          </a:bodyPr>
          <a:lstStyle/>
          <a:p>
            <a:pPr algn="l">
              <a:lnSpc>
                <a:spcPct val="100000"/>
              </a:lnSpc>
              <a:spcAft>
                <a:spcPts val="1200"/>
              </a:spcAft>
            </a:pPr>
            <a:r>
              <a:rPr lang="es-MX" sz="2800" dirty="0">
                <a:latin typeface="Gellix" pitchFamily="2" charset="77"/>
              </a:rPr>
              <a:t>07 | Riesgos y Desafios</a:t>
            </a:r>
            <a:endParaRPr lang="es-MX" sz="2000" dirty="0">
              <a:latin typeface="Gellix" pitchFamily="2" charset="77"/>
            </a:endParaRPr>
          </a:p>
        </p:txBody>
      </p:sp>
      <p:sp>
        <p:nvSpPr>
          <p:cNvPr id="13" name="Subtítulo 2">
            <a:extLst>
              <a:ext uri="{FF2B5EF4-FFF2-40B4-BE49-F238E27FC236}">
                <a16:creationId xmlns:a16="http://schemas.microsoft.com/office/drawing/2014/main" id="{30FF6E45-5264-8D11-EAC7-F18054430785}"/>
              </a:ext>
            </a:extLst>
          </p:cNvPr>
          <p:cNvSpPr>
            <a:spLocks noGrp="1"/>
          </p:cNvSpPr>
          <p:nvPr>
            <p:ph type="subTitle" idx="1"/>
          </p:nvPr>
        </p:nvSpPr>
        <p:spPr>
          <a:xfrm>
            <a:off x="366619" y="1501863"/>
            <a:ext cx="10844720" cy="3934690"/>
          </a:xfrm>
        </p:spPr>
        <p:txBody>
          <a:bodyPr>
            <a:normAutofit/>
          </a:bodyPr>
          <a:lstStyle/>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endParaRPr lang="es-MX" sz="2800" dirty="0">
              <a:latin typeface="Avenir Next Condensed" panose="020B0506020202020204" pitchFamily="34" charset="0"/>
            </a:endParaRPr>
          </a:p>
        </p:txBody>
      </p:sp>
      <p:sp>
        <p:nvSpPr>
          <p:cNvPr id="14" name="Rectangle 13"/>
          <p:cNvSpPr/>
          <p:nvPr/>
        </p:nvSpPr>
        <p:spPr>
          <a:xfrm>
            <a:off x="365760" y="1664208"/>
            <a:ext cx="5715000" cy="2286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1664208"/>
            <a:ext cx="5715000"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1719072"/>
            <a:ext cx="5394960" cy="347472"/>
          </a:xfrm>
          <a:prstGeom prst="rect">
            <a:avLst/>
          </a:prstGeom>
          <a:noFill/>
        </p:spPr>
        <p:txBody>
          <a:bodyPr wrap="square">
            <a:spAutoFit/>
          </a:bodyPr>
          <a:lstStyle/>
          <a:p>
            <a:pPr algn="l"/>
            <a:r>
              <a:rPr sz="1300" b="1">
                <a:solidFill>
                  <a:srgbClr val="FFFFFF"/>
                </a:solidFill>
                <a:latin typeface="Century Gothic"/>
              </a:rPr>
              <a:t>DATOS</a:t>
            </a:r>
          </a:p>
        </p:txBody>
      </p:sp>
      <p:sp>
        <p:nvSpPr>
          <p:cNvPr id="17" name="TextBox 16"/>
          <p:cNvSpPr txBox="1"/>
          <p:nvPr/>
        </p:nvSpPr>
        <p:spPr>
          <a:xfrm>
            <a:off x="502920" y="2194560"/>
            <a:ext cx="2560320" cy="274320"/>
          </a:xfrm>
          <a:prstGeom prst="rect">
            <a:avLst/>
          </a:prstGeom>
          <a:noFill/>
        </p:spPr>
        <p:txBody>
          <a:bodyPr wrap="square">
            <a:spAutoFit/>
          </a:bodyPr>
          <a:lstStyle/>
          <a:p>
            <a:pPr algn="l"/>
            <a:r>
              <a:rPr sz="1100" b="1">
                <a:solidFill>
                  <a:srgbClr val="CC4444"/>
                </a:solidFill>
                <a:latin typeface="Century Gothic"/>
              </a:rPr>
              <a:t>Riesgo:</a:t>
            </a:r>
          </a:p>
        </p:txBody>
      </p:sp>
      <p:sp>
        <p:nvSpPr>
          <p:cNvPr id="18" name="TextBox 17"/>
          <p:cNvSpPr txBox="1"/>
          <p:nvPr/>
        </p:nvSpPr>
        <p:spPr>
          <a:xfrm>
            <a:off x="502920" y="2468880"/>
            <a:ext cx="2560320" cy="1353312"/>
          </a:xfrm>
          <a:prstGeom prst="rect">
            <a:avLst/>
          </a:prstGeom>
          <a:noFill/>
        </p:spPr>
        <p:txBody>
          <a:bodyPr wrap="square">
            <a:spAutoFit/>
          </a:bodyPr>
          <a:lstStyle/>
          <a:p>
            <a:pPr algn="l"/>
            <a:r>
              <a:rPr sz="1100" b="0">
                <a:solidFill>
                  <a:srgbClr val="161E44"/>
                </a:solidFill>
                <a:latin typeface="Avenir Next Condensed"/>
              </a:rPr>
              <a:t>Sesgo en sensores</a:t>
            </a:r>
          </a:p>
          <a:p>
            <a:pPr algn="l"/>
            <a:r>
              <a:rPr sz="1100" b="0">
                <a:solidFill>
                  <a:srgbClr val="161E44"/>
                </a:solidFill>
                <a:latin typeface="Avenir Next Condensed"/>
              </a:rPr>
              <a:t>Datos faltantes en calor</a:t>
            </a:r>
          </a:p>
          <a:p>
            <a:pPr algn="l"/>
            <a:r>
              <a:rPr sz="1100" b="0">
                <a:solidFill>
                  <a:srgbClr val="161E44"/>
                </a:solidFill>
                <a:latin typeface="Avenir Next Condensed"/>
              </a:rPr>
              <a:t>Drift estacional</a:t>
            </a:r>
          </a:p>
        </p:txBody>
      </p:sp>
      <p:sp>
        <p:nvSpPr>
          <p:cNvPr id="19" name="TextBox 18"/>
          <p:cNvSpPr txBox="1"/>
          <p:nvPr/>
        </p:nvSpPr>
        <p:spPr>
          <a:xfrm>
            <a:off x="3383279" y="2194560"/>
            <a:ext cx="2468880" cy="274320"/>
          </a:xfrm>
          <a:prstGeom prst="rect">
            <a:avLst/>
          </a:prstGeom>
          <a:noFill/>
        </p:spPr>
        <p:txBody>
          <a:bodyPr wrap="square">
            <a:spAutoFit/>
          </a:bodyPr>
          <a:lstStyle/>
          <a:p>
            <a:pPr algn="l"/>
            <a:r>
              <a:rPr sz="1100" b="1">
                <a:solidFill>
                  <a:srgbClr val="00C896"/>
                </a:solidFill>
                <a:latin typeface="Century Gothic"/>
              </a:rPr>
              <a:t>Mitigacion:</a:t>
            </a:r>
          </a:p>
        </p:txBody>
      </p:sp>
      <p:sp>
        <p:nvSpPr>
          <p:cNvPr id="20" name="TextBox 19"/>
          <p:cNvSpPr txBox="1"/>
          <p:nvPr/>
        </p:nvSpPr>
        <p:spPr>
          <a:xfrm>
            <a:off x="3383279" y="2468880"/>
            <a:ext cx="2560320" cy="1353312"/>
          </a:xfrm>
          <a:prstGeom prst="rect">
            <a:avLst/>
          </a:prstGeom>
          <a:noFill/>
        </p:spPr>
        <p:txBody>
          <a:bodyPr wrap="square">
            <a:spAutoFit/>
          </a:bodyPr>
          <a:lstStyle/>
          <a:p>
            <a:pPr algn="l"/>
            <a:r>
              <a:rPr sz="1100" b="0">
                <a:solidFill>
                  <a:srgbClr val="161E44"/>
                </a:solidFill>
                <a:latin typeface="Avenir Next Condensed"/>
              </a:rPr>
              <a:t>Pipeline deteccion anomalias</a:t>
            </a:r>
          </a:p>
          <a:p>
            <a:pPr algn="l"/>
            <a:r>
              <a:rPr sz="1100" b="0">
                <a:solidFill>
                  <a:srgbClr val="161E44"/>
                </a:solidFill>
                <a:latin typeface="Avenir Next Condensed"/>
              </a:rPr>
              <a:t>Reentrenamiento trimestral</a:t>
            </a:r>
          </a:p>
          <a:p>
            <a:pPr algn="l"/>
            <a:r>
              <a:rPr sz="1100" b="0">
                <a:solidFill>
                  <a:srgbClr val="161E44"/>
                </a:solidFill>
                <a:latin typeface="Avenir Next Condensed"/>
              </a:rPr>
              <a:t>Validacion cruzada temporal</a:t>
            </a:r>
          </a:p>
        </p:txBody>
      </p:sp>
      <p:sp>
        <p:nvSpPr>
          <p:cNvPr id="21" name="Rectangle 20"/>
          <p:cNvSpPr/>
          <p:nvPr/>
        </p:nvSpPr>
        <p:spPr>
          <a:xfrm>
            <a:off x="6355080" y="1664208"/>
            <a:ext cx="5715000" cy="2286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55080" y="1664208"/>
            <a:ext cx="5715000"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719072"/>
            <a:ext cx="5394960" cy="347472"/>
          </a:xfrm>
          <a:prstGeom prst="rect">
            <a:avLst/>
          </a:prstGeom>
          <a:noFill/>
        </p:spPr>
        <p:txBody>
          <a:bodyPr wrap="square">
            <a:spAutoFit/>
          </a:bodyPr>
          <a:lstStyle/>
          <a:p>
            <a:pPr algn="l"/>
            <a:r>
              <a:rPr sz="1300" b="1">
                <a:solidFill>
                  <a:srgbClr val="FFFFFF"/>
                </a:solidFill>
                <a:latin typeface="Century Gothic"/>
              </a:rPr>
              <a:t>SEGURIDAD</a:t>
            </a:r>
          </a:p>
        </p:txBody>
      </p:sp>
      <p:sp>
        <p:nvSpPr>
          <p:cNvPr id="24" name="TextBox 23"/>
          <p:cNvSpPr txBox="1"/>
          <p:nvPr/>
        </p:nvSpPr>
        <p:spPr>
          <a:xfrm>
            <a:off x="6492240" y="2194560"/>
            <a:ext cx="2560320" cy="274320"/>
          </a:xfrm>
          <a:prstGeom prst="rect">
            <a:avLst/>
          </a:prstGeom>
          <a:noFill/>
        </p:spPr>
        <p:txBody>
          <a:bodyPr wrap="square">
            <a:spAutoFit/>
          </a:bodyPr>
          <a:lstStyle/>
          <a:p>
            <a:pPr algn="l"/>
            <a:r>
              <a:rPr sz="1100" b="1">
                <a:solidFill>
                  <a:srgbClr val="CC4444"/>
                </a:solidFill>
                <a:latin typeface="Century Gothic"/>
              </a:rPr>
              <a:t>Riesgo:</a:t>
            </a:r>
          </a:p>
        </p:txBody>
      </p:sp>
      <p:sp>
        <p:nvSpPr>
          <p:cNvPr id="25" name="TextBox 24"/>
          <p:cNvSpPr txBox="1"/>
          <p:nvPr/>
        </p:nvSpPr>
        <p:spPr>
          <a:xfrm>
            <a:off x="6492240" y="2468880"/>
            <a:ext cx="2560320" cy="1353312"/>
          </a:xfrm>
          <a:prstGeom prst="rect">
            <a:avLst/>
          </a:prstGeom>
          <a:noFill/>
        </p:spPr>
        <p:txBody>
          <a:bodyPr wrap="square">
            <a:spAutoFit/>
          </a:bodyPr>
          <a:lstStyle/>
          <a:p>
            <a:pPr algn="l"/>
            <a:r>
              <a:rPr sz="1100" b="0">
                <a:solidFill>
                  <a:srgbClr val="161E44"/>
                </a:solidFill>
                <a:latin typeface="Avenir Next Condensed"/>
              </a:rPr>
              <a:t>Ataques adversariales a API</a:t>
            </a:r>
          </a:p>
          <a:p>
            <a:pPr algn="l"/>
            <a:r>
              <a:rPr sz="1100" b="0">
                <a:solidFill>
                  <a:srgbClr val="161E44"/>
                </a:solidFill>
                <a:latin typeface="Avenir Next Condensed"/>
              </a:rPr>
              <a:t>Data poisoning en retrain</a:t>
            </a:r>
          </a:p>
          <a:p>
            <a:pPr algn="l"/>
            <a:r>
              <a:rPr sz="1100" b="0">
                <a:solidFill>
                  <a:srgbClr val="161E44"/>
                </a:solidFill>
                <a:latin typeface="Avenir Next Condensed"/>
              </a:rPr>
              <a:t>Filtracion de datos</a:t>
            </a:r>
          </a:p>
        </p:txBody>
      </p:sp>
      <p:sp>
        <p:nvSpPr>
          <p:cNvPr id="26" name="TextBox 25"/>
          <p:cNvSpPr txBox="1"/>
          <p:nvPr/>
        </p:nvSpPr>
        <p:spPr>
          <a:xfrm>
            <a:off x="9372600" y="2194560"/>
            <a:ext cx="2468880" cy="274320"/>
          </a:xfrm>
          <a:prstGeom prst="rect">
            <a:avLst/>
          </a:prstGeom>
          <a:noFill/>
        </p:spPr>
        <p:txBody>
          <a:bodyPr wrap="square">
            <a:spAutoFit/>
          </a:bodyPr>
          <a:lstStyle/>
          <a:p>
            <a:pPr algn="l"/>
            <a:r>
              <a:rPr sz="1100" b="1">
                <a:solidFill>
                  <a:srgbClr val="00C896"/>
                </a:solidFill>
                <a:latin typeface="Century Gothic"/>
              </a:rPr>
              <a:t>Mitigacion:</a:t>
            </a:r>
          </a:p>
        </p:txBody>
      </p:sp>
      <p:sp>
        <p:nvSpPr>
          <p:cNvPr id="27" name="TextBox 26"/>
          <p:cNvSpPr txBox="1"/>
          <p:nvPr/>
        </p:nvSpPr>
        <p:spPr>
          <a:xfrm>
            <a:off x="9372600" y="2468880"/>
            <a:ext cx="2560320" cy="1353312"/>
          </a:xfrm>
          <a:prstGeom prst="rect">
            <a:avLst/>
          </a:prstGeom>
          <a:noFill/>
        </p:spPr>
        <p:txBody>
          <a:bodyPr wrap="square">
            <a:spAutoFit/>
          </a:bodyPr>
          <a:lstStyle/>
          <a:p>
            <a:pPr algn="l"/>
            <a:r>
              <a:rPr sz="1100" b="0">
                <a:solidFill>
                  <a:srgbClr val="161E44"/>
                </a:solidFill>
                <a:latin typeface="Avenir Next Condensed"/>
              </a:rPr>
              <a:t>Auth + rate limiting API</a:t>
            </a:r>
          </a:p>
          <a:p>
            <a:pPr algn="l"/>
            <a:r>
              <a:rPr sz="1100" b="0">
                <a:solidFill>
                  <a:srgbClr val="161E44"/>
                </a:solidFill>
                <a:latin typeface="Avenir Next Condensed"/>
              </a:rPr>
              <a:t>Validacion estricta de inputs</a:t>
            </a:r>
          </a:p>
          <a:p>
            <a:pPr algn="l"/>
            <a:r>
              <a:rPr sz="1100" b="0">
                <a:solidFill>
                  <a:srgbClr val="161E44"/>
                </a:solidFill>
                <a:latin typeface="Avenir Next Condensed"/>
              </a:rPr>
              <a:t>Encriptacion GCP end-to-end</a:t>
            </a:r>
          </a:p>
        </p:txBody>
      </p:sp>
      <p:sp>
        <p:nvSpPr>
          <p:cNvPr id="28" name="Rectangle 27"/>
          <p:cNvSpPr/>
          <p:nvPr/>
        </p:nvSpPr>
        <p:spPr>
          <a:xfrm>
            <a:off x="365760" y="4133088"/>
            <a:ext cx="5715000" cy="2286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5760" y="4133088"/>
            <a:ext cx="5715000"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4187952"/>
            <a:ext cx="5394960" cy="347472"/>
          </a:xfrm>
          <a:prstGeom prst="rect">
            <a:avLst/>
          </a:prstGeom>
          <a:noFill/>
        </p:spPr>
        <p:txBody>
          <a:bodyPr wrap="square">
            <a:spAutoFit/>
          </a:bodyPr>
          <a:lstStyle/>
          <a:p>
            <a:pPr algn="l"/>
            <a:r>
              <a:rPr sz="1300" b="1">
                <a:solidFill>
                  <a:srgbClr val="FFFFFF"/>
                </a:solidFill>
                <a:latin typeface="Century Gothic"/>
              </a:rPr>
              <a:t>CONFIANZA</a:t>
            </a:r>
          </a:p>
        </p:txBody>
      </p:sp>
      <p:sp>
        <p:nvSpPr>
          <p:cNvPr id="31" name="TextBox 30"/>
          <p:cNvSpPr txBox="1"/>
          <p:nvPr/>
        </p:nvSpPr>
        <p:spPr>
          <a:xfrm>
            <a:off x="502920" y="4663440"/>
            <a:ext cx="2560320" cy="274320"/>
          </a:xfrm>
          <a:prstGeom prst="rect">
            <a:avLst/>
          </a:prstGeom>
          <a:noFill/>
        </p:spPr>
        <p:txBody>
          <a:bodyPr wrap="square">
            <a:spAutoFit/>
          </a:bodyPr>
          <a:lstStyle/>
          <a:p>
            <a:pPr algn="l"/>
            <a:r>
              <a:rPr sz="1100" b="1">
                <a:solidFill>
                  <a:srgbClr val="CC4444"/>
                </a:solidFill>
                <a:latin typeface="Century Gothic"/>
              </a:rPr>
              <a:t>Riesgo:</a:t>
            </a:r>
          </a:p>
        </p:txBody>
      </p:sp>
      <p:sp>
        <p:nvSpPr>
          <p:cNvPr id="32" name="TextBox 31"/>
          <p:cNvSpPr txBox="1"/>
          <p:nvPr/>
        </p:nvSpPr>
        <p:spPr>
          <a:xfrm>
            <a:off x="502920" y="4937760"/>
            <a:ext cx="2560320" cy="1353312"/>
          </a:xfrm>
          <a:prstGeom prst="rect">
            <a:avLst/>
          </a:prstGeom>
          <a:noFill/>
        </p:spPr>
        <p:txBody>
          <a:bodyPr wrap="square">
            <a:spAutoFit/>
          </a:bodyPr>
          <a:lstStyle/>
          <a:p>
            <a:pPr algn="l"/>
            <a:r>
              <a:rPr sz="1100" b="0">
                <a:solidFill>
                  <a:srgbClr val="161E44"/>
                </a:solidFill>
                <a:latin typeface="Avenir Next Condensed"/>
              </a:rPr>
              <a:t>Baja adopcion (veterinarios)</a:t>
            </a:r>
          </a:p>
          <a:p>
            <a:pPr algn="l"/>
            <a:r>
              <a:rPr sz="1100" b="0">
                <a:solidFill>
                  <a:srgbClr val="161E44"/>
                </a:solidFill>
                <a:latin typeface="Avenir Next Condensed"/>
              </a:rPr>
              <a:t>Sobreconfianza en predicciones</a:t>
            </a:r>
          </a:p>
          <a:p>
            <a:pPr algn="l"/>
            <a:r>
              <a:rPr sz="1100" b="0">
                <a:solidFill>
                  <a:srgbClr val="161E44"/>
                </a:solidFill>
                <a:latin typeface="Avenir Next Condensed"/>
              </a:rPr>
              <a:t>Falta de explicabilidad</a:t>
            </a:r>
          </a:p>
        </p:txBody>
      </p:sp>
      <p:sp>
        <p:nvSpPr>
          <p:cNvPr id="33" name="TextBox 32"/>
          <p:cNvSpPr txBox="1"/>
          <p:nvPr/>
        </p:nvSpPr>
        <p:spPr>
          <a:xfrm>
            <a:off x="3383279" y="4663440"/>
            <a:ext cx="2468880" cy="274320"/>
          </a:xfrm>
          <a:prstGeom prst="rect">
            <a:avLst/>
          </a:prstGeom>
          <a:noFill/>
        </p:spPr>
        <p:txBody>
          <a:bodyPr wrap="square">
            <a:spAutoFit/>
          </a:bodyPr>
          <a:lstStyle/>
          <a:p>
            <a:pPr algn="l"/>
            <a:r>
              <a:rPr sz="1100" b="1">
                <a:solidFill>
                  <a:srgbClr val="00C896"/>
                </a:solidFill>
                <a:latin typeface="Century Gothic"/>
              </a:rPr>
              <a:t>Mitigacion:</a:t>
            </a:r>
          </a:p>
        </p:txBody>
      </p:sp>
      <p:sp>
        <p:nvSpPr>
          <p:cNvPr id="34" name="TextBox 33"/>
          <p:cNvSpPr txBox="1"/>
          <p:nvPr/>
        </p:nvSpPr>
        <p:spPr>
          <a:xfrm>
            <a:off x="3383279" y="4937760"/>
            <a:ext cx="2560320" cy="1353312"/>
          </a:xfrm>
          <a:prstGeom prst="rect">
            <a:avLst/>
          </a:prstGeom>
          <a:noFill/>
        </p:spPr>
        <p:txBody>
          <a:bodyPr wrap="square">
            <a:spAutoFit/>
          </a:bodyPr>
          <a:lstStyle/>
          <a:p>
            <a:pPr algn="l"/>
            <a:r>
              <a:rPr sz="1100" b="0">
                <a:solidFill>
                  <a:srgbClr val="161E44"/>
                </a:solidFill>
                <a:latin typeface="Avenir Next Condensed"/>
              </a:rPr>
              <a:t>SHAP para explicar alertas</a:t>
            </a:r>
          </a:p>
          <a:p>
            <a:pPr algn="l"/>
            <a:r>
              <a:rPr sz="1100" b="0">
                <a:solidFill>
                  <a:srgbClr val="161E44"/>
                </a:solidFill>
                <a:latin typeface="Avenir Next Condensed"/>
              </a:rPr>
              <a:t>Intervalos de confianza visibles</a:t>
            </a:r>
          </a:p>
          <a:p>
            <a:pPr algn="l"/>
            <a:r>
              <a:rPr sz="1100" b="0">
                <a:solidFill>
                  <a:srgbClr val="161E44"/>
                </a:solidFill>
                <a:latin typeface="Avenir Next Condensed"/>
              </a:rPr>
              <a:t>Capacitacion y onboarding</a:t>
            </a:r>
          </a:p>
        </p:txBody>
      </p:sp>
      <p:sp>
        <p:nvSpPr>
          <p:cNvPr id="35" name="Rectangle 34"/>
          <p:cNvSpPr/>
          <p:nvPr/>
        </p:nvSpPr>
        <p:spPr>
          <a:xfrm>
            <a:off x="6355080" y="4133088"/>
            <a:ext cx="5715000" cy="2286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55080" y="4133088"/>
            <a:ext cx="5715000"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92240" y="4187952"/>
            <a:ext cx="5394960" cy="347472"/>
          </a:xfrm>
          <a:prstGeom prst="rect">
            <a:avLst/>
          </a:prstGeom>
          <a:noFill/>
        </p:spPr>
        <p:txBody>
          <a:bodyPr wrap="square">
            <a:spAutoFit/>
          </a:bodyPr>
          <a:lstStyle/>
          <a:p>
            <a:pPr algn="l"/>
            <a:r>
              <a:rPr sz="1300" b="1">
                <a:solidFill>
                  <a:srgbClr val="FFFFFF"/>
                </a:solidFill>
                <a:latin typeface="Century Gothic"/>
              </a:rPr>
              <a:t>CUMPLIMIENTO</a:t>
            </a:r>
          </a:p>
        </p:txBody>
      </p:sp>
      <p:sp>
        <p:nvSpPr>
          <p:cNvPr id="38" name="TextBox 37"/>
          <p:cNvSpPr txBox="1"/>
          <p:nvPr/>
        </p:nvSpPr>
        <p:spPr>
          <a:xfrm>
            <a:off x="6492240" y="4663440"/>
            <a:ext cx="2560320" cy="274320"/>
          </a:xfrm>
          <a:prstGeom prst="rect">
            <a:avLst/>
          </a:prstGeom>
          <a:noFill/>
        </p:spPr>
        <p:txBody>
          <a:bodyPr wrap="square">
            <a:spAutoFit/>
          </a:bodyPr>
          <a:lstStyle/>
          <a:p>
            <a:pPr algn="l"/>
            <a:r>
              <a:rPr sz="1100" b="1">
                <a:solidFill>
                  <a:srgbClr val="CC4444"/>
                </a:solidFill>
                <a:latin typeface="Century Gothic"/>
              </a:rPr>
              <a:t>Riesgo:</a:t>
            </a:r>
          </a:p>
        </p:txBody>
      </p:sp>
      <p:sp>
        <p:nvSpPr>
          <p:cNvPr id="39" name="TextBox 38"/>
          <p:cNvSpPr txBox="1"/>
          <p:nvPr/>
        </p:nvSpPr>
        <p:spPr>
          <a:xfrm>
            <a:off x="6492240" y="4937760"/>
            <a:ext cx="2560320" cy="1353312"/>
          </a:xfrm>
          <a:prstGeom prst="rect">
            <a:avLst/>
          </a:prstGeom>
          <a:noFill/>
        </p:spPr>
        <p:txBody>
          <a:bodyPr wrap="square">
            <a:spAutoFit/>
          </a:bodyPr>
          <a:lstStyle/>
          <a:p>
            <a:pPr algn="l"/>
            <a:r>
              <a:rPr sz="1100" b="0">
                <a:solidFill>
                  <a:srgbClr val="161E44"/>
                </a:solidFill>
                <a:latin typeface="Avenir Next Condensed"/>
              </a:rPr>
              <a:t>Regulacion datos agropecuarios</a:t>
            </a:r>
          </a:p>
          <a:p>
            <a:pPr algn="l"/>
            <a:r>
              <a:rPr sz="1100" b="0">
                <a:solidFill>
                  <a:srgbClr val="161E44"/>
                </a:solidFill>
                <a:latin typeface="Avenir Next Condensed"/>
              </a:rPr>
              <a:t>Normas NOM-SEMARNAT</a:t>
            </a:r>
          </a:p>
          <a:p>
            <a:pPr algn="l"/>
            <a:r>
              <a:rPr sz="1100" b="0">
                <a:solidFill>
                  <a:srgbClr val="161E44"/>
                </a:solidFill>
                <a:latin typeface="Avenir Next Condensed"/>
              </a:rPr>
              <a:t>Auditabilidad del modelo</a:t>
            </a:r>
          </a:p>
        </p:txBody>
      </p:sp>
      <p:sp>
        <p:nvSpPr>
          <p:cNvPr id="40" name="TextBox 39"/>
          <p:cNvSpPr txBox="1"/>
          <p:nvPr/>
        </p:nvSpPr>
        <p:spPr>
          <a:xfrm>
            <a:off x="9372600" y="4663440"/>
            <a:ext cx="2468880" cy="274320"/>
          </a:xfrm>
          <a:prstGeom prst="rect">
            <a:avLst/>
          </a:prstGeom>
          <a:noFill/>
        </p:spPr>
        <p:txBody>
          <a:bodyPr wrap="square">
            <a:spAutoFit/>
          </a:bodyPr>
          <a:lstStyle/>
          <a:p>
            <a:pPr algn="l"/>
            <a:r>
              <a:rPr sz="1100" b="1">
                <a:solidFill>
                  <a:srgbClr val="00C896"/>
                </a:solidFill>
                <a:latin typeface="Century Gothic"/>
              </a:rPr>
              <a:t>Mitigacion:</a:t>
            </a:r>
          </a:p>
        </p:txBody>
      </p:sp>
      <p:sp>
        <p:nvSpPr>
          <p:cNvPr id="41" name="TextBox 40"/>
          <p:cNvSpPr txBox="1"/>
          <p:nvPr/>
        </p:nvSpPr>
        <p:spPr>
          <a:xfrm>
            <a:off x="9372600" y="4937760"/>
            <a:ext cx="2560320" cy="1353312"/>
          </a:xfrm>
          <a:prstGeom prst="rect">
            <a:avLst/>
          </a:prstGeom>
          <a:noFill/>
        </p:spPr>
        <p:txBody>
          <a:bodyPr wrap="square">
            <a:spAutoFit/>
          </a:bodyPr>
          <a:lstStyle/>
          <a:p>
            <a:pPr algn="l"/>
            <a:r>
              <a:rPr sz="1100" b="0">
                <a:solidFill>
                  <a:srgbClr val="161E44"/>
                </a:solidFill>
                <a:latin typeface="Avenir Next Condensed"/>
              </a:rPr>
              <a:t>Documentacion CRISP-ML(Q)</a:t>
            </a:r>
          </a:p>
          <a:p>
            <a:pPr algn="l"/>
            <a:r>
              <a:rPr sz="1100" b="0">
                <a:solidFill>
                  <a:srgbClr val="161E44"/>
                </a:solidFill>
                <a:latin typeface="Avenir Next Condensed"/>
              </a:rPr>
              <a:t>Versionado en MLflow</a:t>
            </a:r>
          </a:p>
          <a:p>
            <a:pPr algn="l"/>
            <a:r>
              <a:rPr sz="1100" b="0">
                <a:solidFill>
                  <a:srgbClr val="161E44"/>
                </a:solidFill>
                <a:latin typeface="Avenir Next Condensed"/>
              </a:rPr>
              <a:t>Consentimiento informado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 name="Grupo 3">
            <a:extLst>
              <a:ext uri="{FF2B5EF4-FFF2-40B4-BE49-F238E27FC236}">
                <a16:creationId xmlns:a16="http://schemas.microsoft.com/office/drawing/2014/main" id="{BA2F9B76-D70D-0F10-BC27-39EB895783B8}"/>
              </a:ext>
            </a:extLst>
          </p:cNvPr>
          <p:cNvGrpSpPr/>
          <p:nvPr/>
        </p:nvGrpSpPr>
        <p:grpSpPr>
          <a:xfrm>
            <a:off x="-1" y="0"/>
            <a:ext cx="12322630" cy="727520"/>
            <a:chOff x="703525" y="2152231"/>
            <a:chExt cx="10523975" cy="940772"/>
          </a:xfrm>
        </p:grpSpPr>
        <p:sp>
          <p:nvSpPr>
            <p:cNvPr id="5" name="Rectángulo 4">
              <a:extLst>
                <a:ext uri="{FF2B5EF4-FFF2-40B4-BE49-F238E27FC236}">
                  <a16:creationId xmlns:a16="http://schemas.microsoft.com/office/drawing/2014/main" id="{DFAF7A8C-333D-C58F-9C95-59591841527A}"/>
                </a:ext>
              </a:extLst>
            </p:cNvPr>
            <p:cNvSpPr/>
            <p:nvPr/>
          </p:nvSpPr>
          <p:spPr>
            <a:xfrm>
              <a:off x="703525" y="2152232"/>
              <a:ext cx="10523975" cy="847400"/>
            </a:xfrm>
            <a:prstGeom prst="rect">
              <a:avLst/>
            </a:prstGeom>
            <a:no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nvGrpSpPr>
            <p:cNvPr id="6" name="Grupo 5">
              <a:extLst>
                <a:ext uri="{FF2B5EF4-FFF2-40B4-BE49-F238E27FC236}">
                  <a16:creationId xmlns:a16="http://schemas.microsoft.com/office/drawing/2014/main" id="{F0F2FE41-68B0-2A54-4B88-859454FD71BF}"/>
                </a:ext>
              </a:extLst>
            </p:cNvPr>
            <p:cNvGrpSpPr/>
            <p:nvPr/>
          </p:nvGrpSpPr>
          <p:grpSpPr>
            <a:xfrm>
              <a:off x="703525" y="2152231"/>
              <a:ext cx="10412414" cy="940772"/>
              <a:chOff x="703525" y="2152450"/>
              <a:chExt cx="10412414" cy="1580333"/>
            </a:xfrm>
          </p:grpSpPr>
          <p:sp>
            <p:nvSpPr>
              <p:cNvPr id="7" name="Rectángulo 6">
                <a:extLst>
                  <a:ext uri="{FF2B5EF4-FFF2-40B4-BE49-F238E27FC236}">
                    <a16:creationId xmlns:a16="http://schemas.microsoft.com/office/drawing/2014/main" id="{1927F4A0-FF65-DE13-8DB0-F182C45D1F8F}"/>
                  </a:ext>
                </a:extLst>
              </p:cNvPr>
              <p:cNvSpPr/>
              <p:nvPr/>
            </p:nvSpPr>
            <p:spPr>
              <a:xfrm>
                <a:off x="3657601" y="2152450"/>
                <a:ext cx="7458338" cy="1418699"/>
              </a:xfrm>
              <a:prstGeom prst="rect">
                <a:avLst/>
              </a:prstGeom>
              <a:solidFill>
                <a:srgbClr val="161E44"/>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8" name="Rectángulo 7">
                <a:extLst>
                  <a:ext uri="{FF2B5EF4-FFF2-40B4-BE49-F238E27FC236}">
                    <a16:creationId xmlns:a16="http://schemas.microsoft.com/office/drawing/2014/main" id="{0F2B72AB-467F-B766-220B-492375030E4E}"/>
                  </a:ext>
                </a:extLst>
              </p:cNvPr>
              <p:cNvSpPr/>
              <p:nvPr/>
            </p:nvSpPr>
            <p:spPr>
              <a:xfrm>
                <a:off x="703525" y="2157250"/>
                <a:ext cx="2458800" cy="1418700"/>
              </a:xfrm>
              <a:prstGeom prst="rect">
                <a:avLst/>
              </a:prstGeom>
              <a:solidFill>
                <a:srgbClr val="D9D9D9"/>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9" name="Paralelogramo 8">
                <a:extLst>
                  <a:ext uri="{FF2B5EF4-FFF2-40B4-BE49-F238E27FC236}">
                    <a16:creationId xmlns:a16="http://schemas.microsoft.com/office/drawing/2014/main" id="{8623E56F-A27D-F7E7-D667-DB06C7907134}"/>
                  </a:ext>
                </a:extLst>
              </p:cNvPr>
              <p:cNvSpPr/>
              <p:nvPr/>
            </p:nvSpPr>
            <p:spPr>
              <a:xfrm>
                <a:off x="2860775" y="2152450"/>
                <a:ext cx="1127400" cy="1418700"/>
              </a:xfrm>
              <a:prstGeom prst="parallelogram">
                <a:avLst>
                  <a:gd name="adj" fmla="val 25000"/>
                </a:avLst>
              </a:prstGeom>
              <a:solidFill>
                <a:srgbClr val="97A72A"/>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10" name="Rectángulo 9">
                <a:extLst>
                  <a:ext uri="{FF2B5EF4-FFF2-40B4-BE49-F238E27FC236}">
                    <a16:creationId xmlns:a16="http://schemas.microsoft.com/office/drawing/2014/main" id="{BA056F29-3298-1160-5F8C-8B8F0C5D6492}"/>
                  </a:ext>
                </a:extLst>
              </p:cNvPr>
              <p:cNvSpPr/>
              <p:nvPr/>
            </p:nvSpPr>
            <p:spPr>
              <a:xfrm>
                <a:off x="3681324" y="2395395"/>
                <a:ext cx="7260000" cy="1337388"/>
              </a:xfrm>
              <a:prstGeom prst="rect">
                <a:avLst/>
              </a:prstGeom>
              <a:noFill/>
              <a:ln>
                <a:noFill/>
              </a:ln>
            </p:spPr>
            <p:txBody>
              <a:bodyPr spcFirstLastPara="1" wrap="square" lIns="91425" tIns="91425" rIns="91425" bIns="91425" anchor="t" anchorCtr="0">
                <a:noAutofit/>
              </a:bodyPr>
              <a:lstStyle/>
              <a:p>
                <a:pPr algn="r">
                  <a:lnSpc>
                    <a:spcPct val="115000"/>
                  </a:lnSpc>
                </a:pPr>
                <a:r>
                  <a:rPr lang="es-ES" sz="1400" dirty="0">
                    <a:solidFill>
                      <a:srgbClr val="FFFFFF"/>
                    </a:solidFill>
                    <a:effectLst/>
                    <a:latin typeface="Gellix" pitchFamily="2" charset="77"/>
                    <a:ea typeface="Fira Sans Extra Condensed"/>
                    <a:cs typeface="Fira Sans Extra Condensed"/>
                  </a:rPr>
                  <a:t>Nombre del proyecto</a:t>
                </a:r>
                <a:endParaRPr lang="es-MX" sz="1100" dirty="0">
                  <a:effectLst/>
                  <a:latin typeface="Gellix" pitchFamily="2" charset="77"/>
                  <a:ea typeface="Arial" panose="020B0604020202020204" pitchFamily="34" charset="0"/>
                </a:endParaRPr>
              </a:p>
            </p:txBody>
          </p:sp>
        </p:grpSp>
      </p:grpSp>
      <p:sp>
        <p:nvSpPr>
          <p:cNvPr id="11" name="Cuadro de texto 3">
            <a:extLst>
              <a:ext uri="{FF2B5EF4-FFF2-40B4-BE49-F238E27FC236}">
                <a16:creationId xmlns:a16="http://schemas.microsoft.com/office/drawing/2014/main" id="{A928BFB0-6995-2B29-CDC2-F7D5286D22C5}"/>
              </a:ext>
            </a:extLst>
          </p:cNvPr>
          <p:cNvSpPr txBox="1"/>
          <p:nvPr/>
        </p:nvSpPr>
        <p:spPr>
          <a:xfrm>
            <a:off x="608605" y="98129"/>
            <a:ext cx="1308735"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s-ES_tradnl" sz="2200">
                <a:solidFill>
                  <a:srgbClr val="161E43"/>
                </a:solidFill>
                <a:effectLst/>
                <a:latin typeface="Century Gothic" panose="020B0502020202020204" pitchFamily="34" charset="0"/>
                <a:ea typeface="Arial" panose="020B0604020202020204" pitchFamily="34" charset="0"/>
              </a:rPr>
              <a:t>MNA</a:t>
            </a:r>
            <a:endParaRPr lang="es-MX" sz="1100">
              <a:effectLst/>
              <a:latin typeface="Arial" panose="020B0604020202020204" pitchFamily="34" charset="0"/>
              <a:ea typeface="Arial" panose="020B0604020202020204" pitchFamily="34" charset="0"/>
            </a:endParaRPr>
          </a:p>
        </p:txBody>
      </p:sp>
      <p:sp>
        <p:nvSpPr>
          <p:cNvPr id="12" name="Título 1">
            <a:extLst>
              <a:ext uri="{FF2B5EF4-FFF2-40B4-BE49-F238E27FC236}">
                <a16:creationId xmlns:a16="http://schemas.microsoft.com/office/drawing/2014/main" id="{A17F96BB-950A-839D-5631-82791C07217E}"/>
              </a:ext>
            </a:extLst>
          </p:cNvPr>
          <p:cNvSpPr>
            <a:spLocks noGrp="1"/>
          </p:cNvSpPr>
          <p:nvPr>
            <p:ph type="ctrTitle"/>
          </p:nvPr>
        </p:nvSpPr>
        <p:spPr>
          <a:xfrm>
            <a:off x="326723" y="570742"/>
            <a:ext cx="6970643" cy="931121"/>
          </a:xfrm>
        </p:spPr>
        <p:txBody>
          <a:bodyPr>
            <a:normAutofit/>
          </a:bodyPr>
          <a:lstStyle/>
          <a:p>
            <a:pPr algn="l">
              <a:lnSpc>
                <a:spcPct val="100000"/>
              </a:lnSpc>
              <a:spcAft>
                <a:spcPts val="1200"/>
              </a:spcAft>
            </a:pPr>
            <a:r>
              <a:rPr lang="es-MX" sz="2800" dirty="0">
                <a:latin typeface="Gellix" pitchFamily="2" charset="77"/>
              </a:rPr>
              <a:t>08 | Trabajos Futuros</a:t>
            </a:r>
            <a:endParaRPr lang="es-MX" sz="2000" dirty="0">
              <a:latin typeface="Gellix" pitchFamily="2" charset="77"/>
            </a:endParaRPr>
          </a:p>
        </p:txBody>
      </p:sp>
      <p:sp>
        <p:nvSpPr>
          <p:cNvPr id="13" name="Subtítulo 2">
            <a:extLst>
              <a:ext uri="{FF2B5EF4-FFF2-40B4-BE49-F238E27FC236}">
                <a16:creationId xmlns:a16="http://schemas.microsoft.com/office/drawing/2014/main" id="{30FF6E45-5264-8D11-EAC7-F18054430785}"/>
              </a:ext>
            </a:extLst>
          </p:cNvPr>
          <p:cNvSpPr>
            <a:spLocks noGrp="1"/>
          </p:cNvSpPr>
          <p:nvPr>
            <p:ph type="subTitle" idx="1"/>
          </p:nvPr>
        </p:nvSpPr>
        <p:spPr>
          <a:xfrm>
            <a:off x="366619" y="1501863"/>
            <a:ext cx="10844720" cy="3934690"/>
          </a:xfrm>
        </p:spPr>
        <p:txBody>
          <a:bodyPr>
            <a:normAutofit/>
          </a:bodyPr>
          <a:lstStyle/>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endParaRPr lang="es-MX" sz="2800" dirty="0">
              <a:latin typeface="Avenir Next Condensed" panose="020B0506020202020204" pitchFamily="34" charset="0"/>
            </a:endParaRPr>
          </a:p>
        </p:txBody>
      </p:sp>
      <p:sp>
        <p:nvSpPr>
          <p:cNvPr id="14" name="Rectangle 13"/>
          <p:cNvSpPr/>
          <p:nvPr/>
        </p:nvSpPr>
        <p:spPr>
          <a:xfrm>
            <a:off x="365760" y="1664208"/>
            <a:ext cx="3749039" cy="22128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1664208"/>
            <a:ext cx="3749039"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1728216"/>
            <a:ext cx="3474720" cy="347472"/>
          </a:xfrm>
          <a:prstGeom prst="rect">
            <a:avLst/>
          </a:prstGeom>
          <a:noFill/>
        </p:spPr>
        <p:txBody>
          <a:bodyPr wrap="square">
            <a:spAutoFit/>
          </a:bodyPr>
          <a:lstStyle/>
          <a:p>
            <a:pPr algn="l"/>
            <a:r>
              <a:rPr sz="1200" b="1">
                <a:solidFill>
                  <a:srgbClr val="FFFFFF"/>
                </a:solidFill>
                <a:latin typeface="Century Gothic"/>
              </a:rPr>
              <a:t>AutoML &amp; Series Temporales</a:t>
            </a:r>
          </a:p>
        </p:txBody>
      </p:sp>
      <p:sp>
        <p:nvSpPr>
          <p:cNvPr id="17" name="TextBox 16"/>
          <p:cNvSpPr txBox="1"/>
          <p:nvPr/>
        </p:nvSpPr>
        <p:spPr>
          <a:xfrm>
            <a:off x="502920" y="2212848"/>
            <a:ext cx="3474720" cy="1554480"/>
          </a:xfrm>
          <a:prstGeom prst="rect">
            <a:avLst/>
          </a:prstGeom>
          <a:noFill/>
        </p:spPr>
        <p:txBody>
          <a:bodyPr wrap="square">
            <a:spAutoFit/>
          </a:bodyPr>
          <a:lstStyle/>
          <a:p>
            <a:pPr algn="l"/>
            <a:r>
              <a:rPr sz="1200" b="0">
                <a:solidFill>
                  <a:srgbClr val="161E44"/>
                </a:solidFill>
                <a:latin typeface="Avenir Next Condensed"/>
              </a:rPr>
              <a:t>XGBoost, LightGBM y redes LSTM para capturar patrones de lactacion con mayor precision.</a:t>
            </a:r>
          </a:p>
        </p:txBody>
      </p:sp>
      <p:sp>
        <p:nvSpPr>
          <p:cNvPr id="18" name="Rectangle 17"/>
          <p:cNvSpPr/>
          <p:nvPr/>
        </p:nvSpPr>
        <p:spPr>
          <a:xfrm>
            <a:off x="4343400" y="1664208"/>
            <a:ext cx="3749039" cy="22128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43400" y="1664208"/>
            <a:ext cx="3749039"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60" y="1728216"/>
            <a:ext cx="3474720" cy="347472"/>
          </a:xfrm>
          <a:prstGeom prst="rect">
            <a:avLst/>
          </a:prstGeom>
          <a:noFill/>
        </p:spPr>
        <p:txBody>
          <a:bodyPr wrap="square">
            <a:spAutoFit/>
          </a:bodyPr>
          <a:lstStyle/>
          <a:p>
            <a:pPr algn="l"/>
            <a:r>
              <a:rPr sz="1200" b="1">
                <a:solidFill>
                  <a:srgbClr val="FFFFFF"/>
                </a:solidFill>
                <a:latin typeface="Century Gothic"/>
              </a:rPr>
              <a:t>IoT Tiempo Real</a:t>
            </a:r>
          </a:p>
        </p:txBody>
      </p:sp>
      <p:sp>
        <p:nvSpPr>
          <p:cNvPr id="21" name="TextBox 20"/>
          <p:cNvSpPr txBox="1"/>
          <p:nvPr/>
        </p:nvSpPr>
        <p:spPr>
          <a:xfrm>
            <a:off x="4480560" y="2212848"/>
            <a:ext cx="3474720" cy="1554480"/>
          </a:xfrm>
          <a:prstGeom prst="rect">
            <a:avLst/>
          </a:prstGeom>
          <a:noFill/>
        </p:spPr>
        <p:txBody>
          <a:bodyPr wrap="square">
            <a:spAutoFit/>
          </a:bodyPr>
          <a:lstStyle/>
          <a:p>
            <a:pPr algn="l"/>
            <a:r>
              <a:rPr sz="1200" b="0">
                <a:solidFill>
                  <a:srgbClr val="161E44"/>
                </a:solidFill>
                <a:latin typeface="Avenir Next Condensed"/>
              </a:rPr>
              <a:t>Sensores wearables (collar o rumen bolus) para prediccion continua y alertas automaticas.</a:t>
            </a:r>
          </a:p>
        </p:txBody>
      </p:sp>
      <p:sp>
        <p:nvSpPr>
          <p:cNvPr id="22" name="Rectangle 21"/>
          <p:cNvSpPr/>
          <p:nvPr/>
        </p:nvSpPr>
        <p:spPr>
          <a:xfrm>
            <a:off x="8321040" y="1664208"/>
            <a:ext cx="3749039" cy="22128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0" y="1664208"/>
            <a:ext cx="3749039"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58200" y="1728216"/>
            <a:ext cx="3474720" cy="347472"/>
          </a:xfrm>
          <a:prstGeom prst="rect">
            <a:avLst/>
          </a:prstGeom>
          <a:noFill/>
        </p:spPr>
        <p:txBody>
          <a:bodyPr wrap="square">
            <a:spAutoFit/>
          </a:bodyPr>
          <a:lstStyle/>
          <a:p>
            <a:pPr algn="l"/>
            <a:r>
              <a:rPr sz="1200" b="1">
                <a:solidFill>
                  <a:srgbClr val="FFFFFF"/>
                </a:solidFill>
                <a:latin typeface="Century Gothic"/>
              </a:rPr>
              <a:t>Multi-granja Escalable</a:t>
            </a:r>
          </a:p>
        </p:txBody>
      </p:sp>
      <p:sp>
        <p:nvSpPr>
          <p:cNvPr id="25" name="TextBox 24"/>
          <p:cNvSpPr txBox="1"/>
          <p:nvPr/>
        </p:nvSpPr>
        <p:spPr>
          <a:xfrm>
            <a:off x="8458200" y="2212848"/>
            <a:ext cx="3474720" cy="1554480"/>
          </a:xfrm>
          <a:prstGeom prst="rect">
            <a:avLst/>
          </a:prstGeom>
          <a:noFill/>
        </p:spPr>
        <p:txBody>
          <a:bodyPr wrap="square">
            <a:spAutoFit/>
          </a:bodyPr>
          <a:lstStyle/>
          <a:p>
            <a:pPr algn="l"/>
            <a:r>
              <a:rPr sz="1200" b="0">
                <a:solidFill>
                  <a:srgbClr val="161E44"/>
                </a:solidFill>
                <a:latin typeface="Avenir Next Condensed"/>
              </a:rPr>
              <a:t>Federated Learning para entrenar con multiples granjas sin compartir datos sensibles.</a:t>
            </a:r>
          </a:p>
        </p:txBody>
      </p:sp>
      <p:sp>
        <p:nvSpPr>
          <p:cNvPr id="26" name="Rectangle 25"/>
          <p:cNvSpPr/>
          <p:nvPr/>
        </p:nvSpPr>
        <p:spPr>
          <a:xfrm>
            <a:off x="365760" y="4041648"/>
            <a:ext cx="3749039" cy="22128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4041648"/>
            <a:ext cx="3749039"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105656"/>
            <a:ext cx="3474720" cy="347472"/>
          </a:xfrm>
          <a:prstGeom prst="rect">
            <a:avLst/>
          </a:prstGeom>
          <a:noFill/>
        </p:spPr>
        <p:txBody>
          <a:bodyPr wrap="square">
            <a:spAutoFit/>
          </a:bodyPr>
          <a:lstStyle/>
          <a:p>
            <a:pPr algn="l"/>
            <a:r>
              <a:rPr sz="1200" b="1">
                <a:solidFill>
                  <a:srgbClr val="FFFFFF"/>
                </a:solidFill>
                <a:latin typeface="Century Gothic"/>
              </a:rPr>
              <a:t>Modulo de Carbono</a:t>
            </a:r>
          </a:p>
        </p:txBody>
      </p:sp>
      <p:sp>
        <p:nvSpPr>
          <p:cNvPr id="29" name="TextBox 28"/>
          <p:cNvSpPr txBox="1"/>
          <p:nvPr/>
        </p:nvSpPr>
        <p:spPr>
          <a:xfrm>
            <a:off x="502920" y="4590288"/>
            <a:ext cx="3474720" cy="1554480"/>
          </a:xfrm>
          <a:prstGeom prst="rect">
            <a:avLst/>
          </a:prstGeom>
          <a:noFill/>
        </p:spPr>
        <p:txBody>
          <a:bodyPr wrap="square">
            <a:spAutoFit/>
          </a:bodyPr>
          <a:lstStyle/>
          <a:p>
            <a:pPr algn="l"/>
            <a:r>
              <a:rPr sz="1200" b="0">
                <a:solidFill>
                  <a:srgbClr val="161E44"/>
                </a:solidFill>
                <a:latin typeface="Avenir Next Condensed"/>
              </a:rPr>
              <a:t>Certificacion automatica de creditos usando el modelo como evidencia (Verra, Gold Standard).</a:t>
            </a:r>
          </a:p>
        </p:txBody>
      </p:sp>
      <p:sp>
        <p:nvSpPr>
          <p:cNvPr id="30" name="Rectangle 29"/>
          <p:cNvSpPr/>
          <p:nvPr/>
        </p:nvSpPr>
        <p:spPr>
          <a:xfrm>
            <a:off x="4343400" y="4041648"/>
            <a:ext cx="3749039" cy="22128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43400" y="4041648"/>
            <a:ext cx="3749039"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80560" y="4105656"/>
            <a:ext cx="3474720" cy="347472"/>
          </a:xfrm>
          <a:prstGeom prst="rect">
            <a:avLst/>
          </a:prstGeom>
          <a:noFill/>
        </p:spPr>
        <p:txBody>
          <a:bodyPr wrap="square">
            <a:spAutoFit/>
          </a:bodyPr>
          <a:lstStyle/>
          <a:p>
            <a:pPr algn="l"/>
            <a:r>
              <a:rPr sz="1200" b="1">
                <a:solidFill>
                  <a:srgbClr val="FFFFFF"/>
                </a:solidFill>
                <a:latin typeface="Century Gothic"/>
              </a:rPr>
              <a:t>Explicabilidad SHAP</a:t>
            </a:r>
          </a:p>
        </p:txBody>
      </p:sp>
      <p:sp>
        <p:nvSpPr>
          <p:cNvPr id="33" name="TextBox 32"/>
          <p:cNvSpPr txBox="1"/>
          <p:nvPr/>
        </p:nvSpPr>
        <p:spPr>
          <a:xfrm>
            <a:off x="4480560" y="4590288"/>
            <a:ext cx="3474720" cy="1554480"/>
          </a:xfrm>
          <a:prstGeom prst="rect">
            <a:avLst/>
          </a:prstGeom>
          <a:noFill/>
        </p:spPr>
        <p:txBody>
          <a:bodyPr wrap="square">
            <a:spAutoFit/>
          </a:bodyPr>
          <a:lstStyle/>
          <a:p>
            <a:pPr algn="l"/>
            <a:r>
              <a:rPr sz="1200" b="0">
                <a:solidFill>
                  <a:srgbClr val="161E44"/>
                </a:solidFill>
                <a:latin typeface="Avenir Next Condensed"/>
              </a:rPr>
              <a:t>Visualizaciones para que veterinarios entiendan que factores disparan las alertas de metano.</a:t>
            </a:r>
          </a:p>
        </p:txBody>
      </p:sp>
      <p:sp>
        <p:nvSpPr>
          <p:cNvPr id="34" name="Rectangle 33"/>
          <p:cNvSpPr/>
          <p:nvPr/>
        </p:nvSpPr>
        <p:spPr>
          <a:xfrm>
            <a:off x="8321040" y="4041648"/>
            <a:ext cx="3749039" cy="2212848"/>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21040" y="4041648"/>
            <a:ext cx="3749039" cy="438912"/>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58200" y="4105656"/>
            <a:ext cx="3474720" cy="347472"/>
          </a:xfrm>
          <a:prstGeom prst="rect">
            <a:avLst/>
          </a:prstGeom>
          <a:noFill/>
        </p:spPr>
        <p:txBody>
          <a:bodyPr wrap="square">
            <a:spAutoFit/>
          </a:bodyPr>
          <a:lstStyle/>
          <a:p>
            <a:pPr algn="l"/>
            <a:r>
              <a:rPr sz="1200" b="1">
                <a:solidFill>
                  <a:srgbClr val="FFFFFF"/>
                </a:solidFill>
                <a:latin typeface="Century Gothic"/>
              </a:rPr>
              <a:t>App Movil</a:t>
            </a:r>
          </a:p>
        </p:txBody>
      </p:sp>
      <p:sp>
        <p:nvSpPr>
          <p:cNvPr id="37" name="TextBox 36"/>
          <p:cNvSpPr txBox="1"/>
          <p:nvPr/>
        </p:nvSpPr>
        <p:spPr>
          <a:xfrm>
            <a:off x="8458200" y="4590288"/>
            <a:ext cx="3474720" cy="1554480"/>
          </a:xfrm>
          <a:prstGeom prst="rect">
            <a:avLst/>
          </a:prstGeom>
          <a:noFill/>
        </p:spPr>
        <p:txBody>
          <a:bodyPr wrap="square">
            <a:spAutoFit/>
          </a:bodyPr>
          <a:lstStyle/>
          <a:p>
            <a:pPr algn="l"/>
            <a:r>
              <a:rPr sz="1200" b="0">
                <a:solidFill>
                  <a:srgbClr val="161E44"/>
                </a:solidFill>
                <a:latin typeface="Avenir Next Condensed"/>
              </a:rPr>
              <a:t>Version movil con modo offline y sincronizacion para uso en campo.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4" name="Grupo 3">
            <a:extLst>
              <a:ext uri="{FF2B5EF4-FFF2-40B4-BE49-F238E27FC236}">
                <a16:creationId xmlns:a16="http://schemas.microsoft.com/office/drawing/2014/main" id="{BA2F9B76-D70D-0F10-BC27-39EB895783B8}"/>
              </a:ext>
            </a:extLst>
          </p:cNvPr>
          <p:cNvGrpSpPr/>
          <p:nvPr/>
        </p:nvGrpSpPr>
        <p:grpSpPr>
          <a:xfrm>
            <a:off x="-1" y="0"/>
            <a:ext cx="12322630" cy="727520"/>
            <a:chOff x="703525" y="2152231"/>
            <a:chExt cx="10523975" cy="940772"/>
          </a:xfrm>
        </p:grpSpPr>
        <p:sp>
          <p:nvSpPr>
            <p:cNvPr id="5" name="Rectángulo 4">
              <a:extLst>
                <a:ext uri="{FF2B5EF4-FFF2-40B4-BE49-F238E27FC236}">
                  <a16:creationId xmlns:a16="http://schemas.microsoft.com/office/drawing/2014/main" id="{DFAF7A8C-333D-C58F-9C95-59591841527A}"/>
                </a:ext>
              </a:extLst>
            </p:cNvPr>
            <p:cNvSpPr/>
            <p:nvPr/>
          </p:nvSpPr>
          <p:spPr>
            <a:xfrm>
              <a:off x="703525" y="2152232"/>
              <a:ext cx="10523975" cy="847400"/>
            </a:xfrm>
            <a:prstGeom prst="rect">
              <a:avLst/>
            </a:prstGeom>
            <a:no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grpSp>
          <p:nvGrpSpPr>
            <p:cNvPr id="6" name="Grupo 5">
              <a:extLst>
                <a:ext uri="{FF2B5EF4-FFF2-40B4-BE49-F238E27FC236}">
                  <a16:creationId xmlns:a16="http://schemas.microsoft.com/office/drawing/2014/main" id="{F0F2FE41-68B0-2A54-4B88-859454FD71BF}"/>
                </a:ext>
              </a:extLst>
            </p:cNvPr>
            <p:cNvGrpSpPr/>
            <p:nvPr/>
          </p:nvGrpSpPr>
          <p:grpSpPr>
            <a:xfrm>
              <a:off x="703525" y="2152231"/>
              <a:ext cx="10412414" cy="940772"/>
              <a:chOff x="703525" y="2152450"/>
              <a:chExt cx="10412414" cy="1580333"/>
            </a:xfrm>
          </p:grpSpPr>
          <p:sp>
            <p:nvSpPr>
              <p:cNvPr id="7" name="Rectángulo 6">
                <a:extLst>
                  <a:ext uri="{FF2B5EF4-FFF2-40B4-BE49-F238E27FC236}">
                    <a16:creationId xmlns:a16="http://schemas.microsoft.com/office/drawing/2014/main" id="{1927F4A0-FF65-DE13-8DB0-F182C45D1F8F}"/>
                  </a:ext>
                </a:extLst>
              </p:cNvPr>
              <p:cNvSpPr/>
              <p:nvPr/>
            </p:nvSpPr>
            <p:spPr>
              <a:xfrm>
                <a:off x="3657601" y="2152450"/>
                <a:ext cx="7458338" cy="1418699"/>
              </a:xfrm>
              <a:prstGeom prst="rect">
                <a:avLst/>
              </a:prstGeom>
              <a:solidFill>
                <a:srgbClr val="161E44"/>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8" name="Rectángulo 7">
                <a:extLst>
                  <a:ext uri="{FF2B5EF4-FFF2-40B4-BE49-F238E27FC236}">
                    <a16:creationId xmlns:a16="http://schemas.microsoft.com/office/drawing/2014/main" id="{0F2B72AB-467F-B766-220B-492375030E4E}"/>
                  </a:ext>
                </a:extLst>
              </p:cNvPr>
              <p:cNvSpPr/>
              <p:nvPr/>
            </p:nvSpPr>
            <p:spPr>
              <a:xfrm>
                <a:off x="703525" y="2157250"/>
                <a:ext cx="2458800" cy="1418700"/>
              </a:xfrm>
              <a:prstGeom prst="rect">
                <a:avLst/>
              </a:prstGeom>
              <a:solidFill>
                <a:srgbClr val="D9D9D9"/>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9" name="Paralelogramo 8">
                <a:extLst>
                  <a:ext uri="{FF2B5EF4-FFF2-40B4-BE49-F238E27FC236}">
                    <a16:creationId xmlns:a16="http://schemas.microsoft.com/office/drawing/2014/main" id="{8623E56F-A27D-F7E7-D667-DB06C7907134}"/>
                  </a:ext>
                </a:extLst>
              </p:cNvPr>
              <p:cNvSpPr/>
              <p:nvPr/>
            </p:nvSpPr>
            <p:spPr>
              <a:xfrm>
                <a:off x="2860775" y="2152450"/>
                <a:ext cx="1127400" cy="1418700"/>
              </a:xfrm>
              <a:prstGeom prst="parallelogram">
                <a:avLst>
                  <a:gd name="adj" fmla="val 25000"/>
                </a:avLst>
              </a:prstGeom>
              <a:solidFill>
                <a:srgbClr val="97A72A"/>
              </a:solidFill>
              <a:ln>
                <a:noFill/>
              </a:ln>
            </p:spPr>
            <p:txBody>
              <a:bodyPr spcFirstLastPara="1" wrap="square" lIns="91425" tIns="91425" rIns="91425" bIns="91425" anchor="ctr" anchorCtr="0">
                <a:noAutofit/>
              </a:bodyPr>
              <a:lstStyle/>
              <a:p>
                <a:pPr>
                  <a:lnSpc>
                    <a:spcPct val="115000"/>
                  </a:lnSpc>
                </a:pPr>
                <a:r>
                  <a:rPr lang="es-ES" sz="1100">
                    <a:effectLst/>
                    <a:latin typeface="Arial" panose="020B0604020202020204" pitchFamily="34" charset="0"/>
                    <a:ea typeface="Arial" panose="020B0604020202020204" pitchFamily="34" charset="0"/>
                  </a:rPr>
                  <a:t> </a:t>
                </a:r>
                <a:endParaRPr lang="es-MX" sz="1100">
                  <a:effectLst/>
                  <a:latin typeface="Arial" panose="020B0604020202020204" pitchFamily="34" charset="0"/>
                  <a:ea typeface="Arial" panose="020B0604020202020204" pitchFamily="34" charset="0"/>
                </a:endParaRPr>
              </a:p>
            </p:txBody>
          </p:sp>
          <p:sp>
            <p:nvSpPr>
              <p:cNvPr id="10" name="Rectángulo 9">
                <a:extLst>
                  <a:ext uri="{FF2B5EF4-FFF2-40B4-BE49-F238E27FC236}">
                    <a16:creationId xmlns:a16="http://schemas.microsoft.com/office/drawing/2014/main" id="{BA056F29-3298-1160-5F8C-8B8F0C5D6492}"/>
                  </a:ext>
                </a:extLst>
              </p:cNvPr>
              <p:cNvSpPr/>
              <p:nvPr/>
            </p:nvSpPr>
            <p:spPr>
              <a:xfrm>
                <a:off x="3681324" y="2395395"/>
                <a:ext cx="7260000" cy="1337388"/>
              </a:xfrm>
              <a:prstGeom prst="rect">
                <a:avLst/>
              </a:prstGeom>
              <a:noFill/>
              <a:ln>
                <a:noFill/>
              </a:ln>
            </p:spPr>
            <p:txBody>
              <a:bodyPr spcFirstLastPara="1" wrap="square" lIns="91425" tIns="91425" rIns="91425" bIns="91425" anchor="t" anchorCtr="0">
                <a:noAutofit/>
              </a:bodyPr>
              <a:lstStyle/>
              <a:p>
                <a:pPr algn="r">
                  <a:lnSpc>
                    <a:spcPct val="115000"/>
                  </a:lnSpc>
                </a:pPr>
                <a:r>
                  <a:rPr lang="es-ES" sz="1400" dirty="0">
                    <a:solidFill>
                      <a:srgbClr val="FFFFFF"/>
                    </a:solidFill>
                    <a:effectLst/>
                    <a:latin typeface="Gellix" pitchFamily="2" charset="77"/>
                    <a:ea typeface="Fira Sans Extra Condensed"/>
                    <a:cs typeface="Fira Sans Extra Condensed"/>
                  </a:rPr>
                  <a:t>Nombre del proyecto</a:t>
                </a:r>
                <a:endParaRPr lang="es-MX" sz="1100" dirty="0">
                  <a:effectLst/>
                  <a:latin typeface="Gellix" pitchFamily="2" charset="77"/>
                  <a:ea typeface="Arial" panose="020B0604020202020204" pitchFamily="34" charset="0"/>
                </a:endParaRPr>
              </a:p>
            </p:txBody>
          </p:sp>
        </p:grpSp>
      </p:grpSp>
      <p:sp>
        <p:nvSpPr>
          <p:cNvPr id="11" name="Cuadro de texto 3">
            <a:extLst>
              <a:ext uri="{FF2B5EF4-FFF2-40B4-BE49-F238E27FC236}">
                <a16:creationId xmlns:a16="http://schemas.microsoft.com/office/drawing/2014/main" id="{A928BFB0-6995-2B29-CDC2-F7D5286D22C5}"/>
              </a:ext>
            </a:extLst>
          </p:cNvPr>
          <p:cNvSpPr txBox="1"/>
          <p:nvPr/>
        </p:nvSpPr>
        <p:spPr>
          <a:xfrm>
            <a:off x="608605" y="98129"/>
            <a:ext cx="1308735" cy="47879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s-ES_tradnl" sz="2200">
                <a:solidFill>
                  <a:srgbClr val="161E43"/>
                </a:solidFill>
                <a:effectLst/>
                <a:latin typeface="Century Gothic" panose="020B0502020202020204" pitchFamily="34" charset="0"/>
                <a:ea typeface="Arial" panose="020B0604020202020204" pitchFamily="34" charset="0"/>
              </a:rPr>
              <a:t>MNA</a:t>
            </a:r>
            <a:endParaRPr lang="es-MX" sz="1100">
              <a:effectLst/>
              <a:latin typeface="Arial" panose="020B0604020202020204" pitchFamily="34" charset="0"/>
              <a:ea typeface="Arial" panose="020B0604020202020204" pitchFamily="34" charset="0"/>
            </a:endParaRPr>
          </a:p>
        </p:txBody>
      </p:sp>
      <p:sp>
        <p:nvSpPr>
          <p:cNvPr id="12" name="Título 1">
            <a:extLst>
              <a:ext uri="{FF2B5EF4-FFF2-40B4-BE49-F238E27FC236}">
                <a16:creationId xmlns:a16="http://schemas.microsoft.com/office/drawing/2014/main" id="{A17F96BB-950A-839D-5631-82791C07217E}"/>
              </a:ext>
            </a:extLst>
          </p:cNvPr>
          <p:cNvSpPr>
            <a:spLocks noGrp="1"/>
          </p:cNvSpPr>
          <p:nvPr>
            <p:ph type="ctrTitle"/>
          </p:nvPr>
        </p:nvSpPr>
        <p:spPr>
          <a:xfrm>
            <a:off x="326723" y="570742"/>
            <a:ext cx="6970643" cy="931121"/>
          </a:xfrm>
        </p:spPr>
        <p:txBody>
          <a:bodyPr>
            <a:normAutofit/>
          </a:bodyPr>
          <a:lstStyle/>
          <a:p>
            <a:pPr algn="l">
              <a:lnSpc>
                <a:spcPct val="100000"/>
              </a:lnSpc>
              <a:spcAft>
                <a:spcPts val="1200"/>
              </a:spcAft>
            </a:pPr>
            <a:r>
              <a:rPr lang="es-MX" sz="2800" dirty="0">
                <a:latin typeface="Gellix" pitchFamily="2" charset="77"/>
              </a:rPr>
              <a:t/>
            </a:r>
            <a:endParaRPr lang="es-MX" sz="2000" dirty="0">
              <a:latin typeface="Gellix" pitchFamily="2" charset="77"/>
            </a:endParaRPr>
          </a:p>
        </p:txBody>
      </p:sp>
      <p:sp>
        <p:nvSpPr>
          <p:cNvPr id="13" name="Subtítulo 2">
            <a:extLst>
              <a:ext uri="{FF2B5EF4-FFF2-40B4-BE49-F238E27FC236}">
                <a16:creationId xmlns:a16="http://schemas.microsoft.com/office/drawing/2014/main" id="{30FF6E45-5264-8D11-EAC7-F18054430785}"/>
              </a:ext>
            </a:extLst>
          </p:cNvPr>
          <p:cNvSpPr>
            <a:spLocks noGrp="1"/>
          </p:cNvSpPr>
          <p:nvPr>
            <p:ph type="subTitle" idx="1"/>
          </p:nvPr>
        </p:nvSpPr>
        <p:spPr>
          <a:xfrm>
            <a:off x="366619" y="1501863"/>
            <a:ext cx="10844720" cy="3934690"/>
          </a:xfrm>
        </p:spPr>
        <p:txBody>
          <a:bodyPr>
            <a:normAutofit/>
          </a:bodyPr>
          <a:lstStyle/>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p>
          <a:p>
            <a:pPr algn="l">
              <a:lnSpc>
                <a:spcPct val="100000"/>
              </a:lnSpc>
              <a:spcBef>
                <a:spcPts val="0"/>
              </a:spcBef>
            </a:pPr>
            <a:endParaRPr lang="es-MX" sz="2000" dirty="0">
              <a:latin typeface="Avenir Next Condensed" panose="020B0506020202020204" pitchFamily="34" charset="0"/>
            </a:endParaRPr>
          </a:p>
          <a:p>
            <a:pPr algn="l">
              <a:lnSpc>
                <a:spcPct val="100000"/>
              </a:lnSpc>
              <a:spcBef>
                <a:spcPts val="0"/>
              </a:spcBef>
            </a:pPr>
            <a:r>
              <a:rPr lang="es-MX" sz="2000" dirty="0">
                <a:latin typeface="Avenir Next Condensed" panose="020B0506020202020204" pitchFamily="34" charset="0"/>
              </a:rPr>
              <a:t/>
            </a:r>
            <a:endParaRPr lang="es-MX" sz="2800" dirty="0">
              <a:latin typeface="Avenir Next Condensed" panose="020B0506020202020204" pitchFamily="34" charset="0"/>
            </a:endParaRPr>
          </a:p>
        </p:txBody>
      </p:sp>
      <p:sp>
        <p:nvSpPr>
          <p:cNvPr id="14" name="Rectangle 13"/>
          <p:cNvSpPr/>
          <p:nvPr/>
        </p:nvSpPr>
        <p:spPr>
          <a:xfrm>
            <a:off x="365760" y="1664208"/>
            <a:ext cx="11521440" cy="4846320"/>
          </a:xfrm>
          <a:prstGeom prst="rect">
            <a:avLst/>
          </a:prstGeom>
          <a:solidFill>
            <a:srgbClr val="161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103120"/>
            <a:ext cx="11521440" cy="1005840"/>
          </a:xfrm>
          <a:prstGeom prst="rect">
            <a:avLst/>
          </a:prstGeom>
          <a:noFill/>
        </p:spPr>
        <p:txBody>
          <a:bodyPr wrap="square">
            <a:spAutoFit/>
          </a:bodyPr>
          <a:lstStyle/>
          <a:p>
            <a:pPr algn="ctr"/>
            <a:r>
              <a:rPr sz="4400" b="1">
                <a:solidFill>
                  <a:srgbClr val="FFFFFF"/>
                </a:solidFill>
                <a:latin typeface="Century Gothic"/>
              </a:rPr>
              <a:t>Decision: GO</a:t>
            </a:r>
          </a:p>
        </p:txBody>
      </p:sp>
      <p:sp>
        <p:nvSpPr>
          <p:cNvPr id="16" name="TextBox 15"/>
          <p:cNvSpPr txBox="1"/>
          <p:nvPr/>
        </p:nvSpPr>
        <p:spPr>
          <a:xfrm>
            <a:off x="365760" y="3200400"/>
            <a:ext cx="11521440" cy="502920"/>
          </a:xfrm>
          <a:prstGeom prst="rect">
            <a:avLst/>
          </a:prstGeom>
          <a:noFill/>
        </p:spPr>
        <p:txBody>
          <a:bodyPr wrap="square">
            <a:spAutoFit/>
          </a:bodyPr>
          <a:lstStyle/>
          <a:p>
            <a:pPr algn="ctr"/>
            <a:r>
              <a:rPr sz="1800" b="0">
                <a:solidFill>
                  <a:srgbClr val="00C896"/>
                </a:solidFill>
                <a:latin typeface="Avenir Next Condensed"/>
              </a:rPr>
              <a:t>El modelo cumple los 9 criterios de exito definidos en CRISP-ML(Q)</a:t>
            </a:r>
          </a:p>
        </p:txBody>
      </p:sp>
      <p:sp>
        <p:nvSpPr>
          <p:cNvPr id="17" name="Rectangle 16"/>
          <p:cNvSpPr/>
          <p:nvPr/>
        </p:nvSpPr>
        <p:spPr>
          <a:xfrm>
            <a:off x="1097280" y="3840480"/>
            <a:ext cx="2286000" cy="1188720"/>
          </a:xfrm>
          <a:prstGeom prst="rect">
            <a:avLst/>
          </a:prstGeom>
          <a:solidFill>
            <a:srgbClr val="1B2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3886200"/>
            <a:ext cx="2103120" cy="530352"/>
          </a:xfrm>
          <a:prstGeom prst="rect">
            <a:avLst/>
          </a:prstGeom>
          <a:noFill/>
        </p:spPr>
        <p:txBody>
          <a:bodyPr wrap="square">
            <a:spAutoFit/>
          </a:bodyPr>
          <a:lstStyle/>
          <a:p>
            <a:pPr algn="ctr"/>
            <a:r>
              <a:rPr sz="2000" b="1">
                <a:solidFill>
                  <a:srgbClr val="00C896"/>
                </a:solidFill>
                <a:latin typeface="Century Gothic"/>
              </a:rPr>
              <a:t>RMSE 0.6117</a:t>
            </a:r>
          </a:p>
        </p:txBody>
      </p:sp>
      <p:sp>
        <p:nvSpPr>
          <p:cNvPr id="19" name="TextBox 18"/>
          <p:cNvSpPr txBox="1"/>
          <p:nvPr/>
        </p:nvSpPr>
        <p:spPr>
          <a:xfrm>
            <a:off x="1188720" y="4434840"/>
            <a:ext cx="2103120" cy="502920"/>
          </a:xfrm>
          <a:prstGeom prst="rect">
            <a:avLst/>
          </a:prstGeom>
          <a:noFill/>
        </p:spPr>
        <p:txBody>
          <a:bodyPr wrap="square">
            <a:spAutoFit/>
          </a:bodyPr>
          <a:lstStyle/>
          <a:p>
            <a:pPr algn="ctr"/>
            <a:r>
              <a:rPr sz="1200" b="0">
                <a:solidFill>
                  <a:srgbClr val="FFFFFF"/>
                </a:solidFill>
                <a:latin typeface="Avenir Next Condensed"/>
              </a:rPr>
              <a:t>g CH4/kg leche</a:t>
            </a:r>
          </a:p>
        </p:txBody>
      </p:sp>
      <p:sp>
        <p:nvSpPr>
          <p:cNvPr id="20" name="Rectangle 19"/>
          <p:cNvSpPr/>
          <p:nvPr/>
        </p:nvSpPr>
        <p:spPr>
          <a:xfrm>
            <a:off x="3657600" y="3840480"/>
            <a:ext cx="2286000" cy="1188720"/>
          </a:xfrm>
          <a:prstGeom prst="rect">
            <a:avLst/>
          </a:prstGeom>
          <a:solidFill>
            <a:srgbClr val="1B2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39" y="3886200"/>
            <a:ext cx="2103120" cy="530352"/>
          </a:xfrm>
          <a:prstGeom prst="rect">
            <a:avLst/>
          </a:prstGeom>
          <a:noFill/>
        </p:spPr>
        <p:txBody>
          <a:bodyPr wrap="square">
            <a:spAutoFit/>
          </a:bodyPr>
          <a:lstStyle/>
          <a:p>
            <a:pPr algn="ctr"/>
            <a:r>
              <a:rPr sz="2000" b="1">
                <a:solidFill>
                  <a:srgbClr val="00C896"/>
                </a:solidFill>
                <a:latin typeface="Century Gothic"/>
              </a:rPr>
              <a:t>R2 0.9779</a:t>
            </a:r>
          </a:p>
        </p:txBody>
      </p:sp>
      <p:sp>
        <p:nvSpPr>
          <p:cNvPr id="22" name="TextBox 21"/>
          <p:cNvSpPr txBox="1"/>
          <p:nvPr/>
        </p:nvSpPr>
        <p:spPr>
          <a:xfrm>
            <a:off x="3749039" y="4434840"/>
            <a:ext cx="2103120" cy="502920"/>
          </a:xfrm>
          <a:prstGeom prst="rect">
            <a:avLst/>
          </a:prstGeom>
          <a:noFill/>
        </p:spPr>
        <p:txBody>
          <a:bodyPr wrap="square">
            <a:spAutoFit/>
          </a:bodyPr>
          <a:lstStyle/>
          <a:p>
            <a:pPr algn="ctr"/>
            <a:r>
              <a:rPr sz="1200" b="0">
                <a:solidFill>
                  <a:srgbClr val="FFFFFF"/>
                </a:solidFill>
                <a:latin typeface="Avenir Next Condensed"/>
              </a:rPr>
              <a:t>97.8% precision</a:t>
            </a:r>
          </a:p>
        </p:txBody>
      </p:sp>
      <p:sp>
        <p:nvSpPr>
          <p:cNvPr id="23" name="Rectangle 22"/>
          <p:cNvSpPr/>
          <p:nvPr/>
        </p:nvSpPr>
        <p:spPr>
          <a:xfrm>
            <a:off x="6217920" y="3840480"/>
            <a:ext cx="2286000" cy="1188720"/>
          </a:xfrm>
          <a:prstGeom prst="rect">
            <a:avLst/>
          </a:prstGeom>
          <a:solidFill>
            <a:srgbClr val="1B2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59" y="3886200"/>
            <a:ext cx="2103120" cy="530352"/>
          </a:xfrm>
          <a:prstGeom prst="rect">
            <a:avLst/>
          </a:prstGeom>
          <a:noFill/>
        </p:spPr>
        <p:txBody>
          <a:bodyPr wrap="square">
            <a:spAutoFit/>
          </a:bodyPr>
          <a:lstStyle/>
          <a:p>
            <a:pPr algn="ctr"/>
            <a:r>
              <a:rPr sz="2000" b="1">
                <a:solidFill>
                  <a:srgbClr val="00C896"/>
                </a:solidFill>
                <a:latin typeface="Century Gothic"/>
              </a:rPr>
              <a:t>7.3 ms</a:t>
            </a:r>
          </a:p>
        </p:txBody>
      </p:sp>
      <p:sp>
        <p:nvSpPr>
          <p:cNvPr id="25" name="TextBox 24"/>
          <p:cNvSpPr txBox="1"/>
          <p:nvPr/>
        </p:nvSpPr>
        <p:spPr>
          <a:xfrm>
            <a:off x="6309359" y="4434840"/>
            <a:ext cx="2103120" cy="502920"/>
          </a:xfrm>
          <a:prstGeom prst="rect">
            <a:avLst/>
          </a:prstGeom>
          <a:noFill/>
        </p:spPr>
        <p:txBody>
          <a:bodyPr wrap="square">
            <a:spAutoFit/>
          </a:bodyPr>
          <a:lstStyle/>
          <a:p>
            <a:pPr algn="ctr"/>
            <a:r>
              <a:rPr sz="1200" b="0">
                <a:solidFill>
                  <a:srgbClr val="FFFFFF"/>
                </a:solidFill>
                <a:latin typeface="Avenir Next Condensed"/>
              </a:rPr>
              <a:t>latencia real</a:t>
            </a:r>
          </a:p>
        </p:txBody>
      </p:sp>
      <p:sp>
        <p:nvSpPr>
          <p:cNvPr id="26" name="Rectangle 25"/>
          <p:cNvSpPr/>
          <p:nvPr/>
        </p:nvSpPr>
        <p:spPr>
          <a:xfrm>
            <a:off x="8778239" y="3840480"/>
            <a:ext cx="2286000" cy="1188720"/>
          </a:xfrm>
          <a:prstGeom prst="rect">
            <a:avLst/>
          </a:prstGeom>
          <a:solidFill>
            <a:srgbClr val="1B27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9679" y="3886200"/>
            <a:ext cx="2103120" cy="530352"/>
          </a:xfrm>
          <a:prstGeom prst="rect">
            <a:avLst/>
          </a:prstGeom>
          <a:noFill/>
        </p:spPr>
        <p:txBody>
          <a:bodyPr wrap="square">
            <a:spAutoFit/>
          </a:bodyPr>
          <a:lstStyle/>
          <a:p>
            <a:pPr algn="ctr"/>
            <a:r>
              <a:rPr sz="2000" b="1">
                <a:solidFill>
                  <a:srgbClr val="00C896"/>
                </a:solidFill>
                <a:latin typeface="Century Gothic"/>
              </a:rPr>
              <a:t>-15.8%</a:t>
            </a:r>
          </a:p>
        </p:txBody>
      </p:sp>
      <p:sp>
        <p:nvSpPr>
          <p:cNvPr id="28" name="TextBox 27"/>
          <p:cNvSpPr txBox="1"/>
          <p:nvPr/>
        </p:nvSpPr>
        <p:spPr>
          <a:xfrm>
            <a:off x="8869679" y="4434840"/>
            <a:ext cx="2103120" cy="502920"/>
          </a:xfrm>
          <a:prstGeom prst="rect">
            <a:avLst/>
          </a:prstGeom>
          <a:noFill/>
        </p:spPr>
        <p:txBody>
          <a:bodyPr wrap="square">
            <a:spAutoFit/>
          </a:bodyPr>
          <a:lstStyle/>
          <a:p>
            <a:pPr algn="ctr"/>
            <a:r>
              <a:rPr sz="1200" b="0">
                <a:solidFill>
                  <a:srgbClr val="FFFFFF"/>
                </a:solidFill>
                <a:latin typeface="Avenir Next Condensed"/>
              </a:rPr>
              <a:t>vs baseline E3</a:t>
            </a:r>
          </a:p>
        </p:txBody>
      </p:sp>
      <p:sp>
        <p:nvSpPr>
          <p:cNvPr id="29" name="TextBox 28"/>
          <p:cNvSpPr txBox="1"/>
          <p:nvPr/>
        </p:nvSpPr>
        <p:spPr>
          <a:xfrm>
            <a:off x="365760" y="5394960"/>
            <a:ext cx="11521440" cy="411480"/>
          </a:xfrm>
          <a:prstGeom prst="rect">
            <a:avLst/>
          </a:prstGeom>
          <a:noFill/>
        </p:spPr>
        <p:txBody>
          <a:bodyPr wrap="square">
            <a:spAutoFit/>
          </a:bodyPr>
          <a:lstStyle/>
          <a:p>
            <a:pPr algn="ctr"/>
            <a:r>
              <a:rPr sz="1300" b="0">
                <a:solidFill>
                  <a:srgbClr val="D4A017"/>
                </a:solidFill>
                <a:latin typeface="Avenir Next Condensed"/>
              </a:rPr>
              <a:t>Equipo 48  |  Machine Learning  |  Tecnologico de Monterrey  |  Junio 2026</a:t>
            </a:r>
          </a:p>
        </p:txBody>
      </p:sp>
      <p:sp>
        <p:nvSpPr>
          <p:cNvPr id="30" name="TextBox 29"/>
          <p:cNvSpPr txBox="1"/>
          <p:nvPr/>
        </p:nvSpPr>
        <p:spPr>
          <a:xfrm>
            <a:off x="365760" y="5897880"/>
            <a:ext cx="11521440" cy="457200"/>
          </a:xfrm>
          <a:prstGeom prst="rect">
            <a:avLst/>
          </a:prstGeom>
          <a:noFill/>
        </p:spPr>
        <p:txBody>
          <a:bodyPr wrap="square">
            <a:spAutoFit/>
          </a:bodyPr>
          <a:lstStyle/>
          <a:p>
            <a:pPr algn="ctr"/>
            <a:r>
              <a:rPr sz="1500" b="0">
                <a:solidFill>
                  <a:srgbClr val="8899BB"/>
                </a:solidFill>
                <a:latin typeface="Avenir Next Condensed"/>
              </a:rPr>
              <a:t>Preguntas?</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171</Words>
  <Application>Microsoft Macintosh PowerPoint</Application>
  <PresentationFormat>Panorámica</PresentationFormat>
  <Paragraphs>29</Paragraphs>
  <Slides>2</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vt:i4>
      </vt:variant>
    </vt:vector>
  </HeadingPairs>
  <TitlesOfParts>
    <vt:vector size="10" baseType="lpstr">
      <vt:lpstr>Albra Regular</vt:lpstr>
      <vt:lpstr>Arial</vt:lpstr>
      <vt:lpstr>Avenir Next Condensed</vt:lpstr>
      <vt:lpstr>Calibri</vt:lpstr>
      <vt:lpstr>Calibri Light</vt:lpstr>
      <vt:lpstr>Century Gothic</vt:lpstr>
      <vt:lpstr>Gellix</vt:lpstr>
      <vt:lpstr>Tema de Office</vt:lpstr>
      <vt:lpstr>Nombre del proyecto  Empresa / Organización</vt:lpstr>
      <vt:lpstr>Nombre de la sección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Nombre del proyecto  Empresa / Organización</dc:title>
  <dc:creator>Grettel Barceló Alonso</dc:creator>
  <cp:lastModifiedBy>Grettel Barceló Alonso</cp:lastModifiedBy>
  <cp:revision>3</cp:revision>
  <dcterms:created xsi:type="dcterms:W3CDTF">2024-03-01T23:41:35Z</dcterms:created>
  <dcterms:modified xsi:type="dcterms:W3CDTF">2024-03-02T00:46:16Z</dcterms:modified>
</cp:coreProperties>
</file>