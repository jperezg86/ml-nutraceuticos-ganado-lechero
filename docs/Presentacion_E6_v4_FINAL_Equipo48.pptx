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1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3" r:id="rId17"/>
    <p:sldId id="270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749"/>
    <a:srgbClr val="001D58"/>
    <a:srgbClr val="4E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136CAF-04F0-46BD-B6CF-AE07A5B039E0}" v="12" dt="2026-06-18T02:26:19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37"/>
  </p:normalViewPr>
  <p:slideViewPr>
    <p:cSldViewPr snapToGrid="0">
      <p:cViewPr varScale="1">
        <p:scale>
          <a:sx n="135" d="100"/>
          <a:sy n="135" d="100"/>
        </p:scale>
        <p:origin x="65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Luis Guadarrama Jimenez" userId="641fc7e3ac89e697" providerId="LiveId" clId="{5979CE5D-2727-4807-9743-5497872683E2}"/>
    <pc:docChg chg="undo redo custSel addSld delSld modSld">
      <pc:chgData name="Oscar Luis Guadarrama Jimenez" userId="641fc7e3ac89e697" providerId="LiveId" clId="{5979CE5D-2727-4807-9743-5497872683E2}" dt="2026-06-18T02:29:15.890" v="143" actId="1076"/>
      <pc:docMkLst>
        <pc:docMk/>
      </pc:docMkLst>
      <pc:sldChg chg="modSp mod">
        <pc:chgData name="Oscar Luis Guadarrama Jimenez" userId="641fc7e3ac89e697" providerId="LiveId" clId="{5979CE5D-2727-4807-9743-5497872683E2}" dt="2026-06-18T02:26:42.619" v="104" actId="1076"/>
        <pc:sldMkLst>
          <pc:docMk/>
          <pc:sldMk cId="2493874455" sldId="256"/>
        </pc:sldMkLst>
        <pc:spChg chg="mod">
          <ac:chgData name="Oscar Luis Guadarrama Jimenez" userId="641fc7e3ac89e697" providerId="LiveId" clId="{5979CE5D-2727-4807-9743-5497872683E2}" dt="2026-06-18T02:26:42.619" v="104" actId="1076"/>
          <ac:spMkLst>
            <pc:docMk/>
            <pc:sldMk cId="2493874455" sldId="256"/>
            <ac:spMk id="2" creationId="{809871FD-6892-EE65-A61F-660AD52CAD6E}"/>
          </ac:spMkLst>
        </pc:spChg>
        <pc:spChg chg="mod">
          <ac:chgData name="Oscar Luis Guadarrama Jimenez" userId="641fc7e3ac89e697" providerId="LiveId" clId="{5979CE5D-2727-4807-9743-5497872683E2}" dt="2026-06-18T02:26:32.533" v="101" actId="313"/>
          <ac:spMkLst>
            <pc:docMk/>
            <pc:sldMk cId="2493874455" sldId="256"/>
            <ac:spMk id="3" creationId="{6477E962-0DC9-2DBB-100A-EDF92E708ADE}"/>
          </ac:spMkLst>
        </pc:spChg>
      </pc:sldChg>
      <pc:sldChg chg="add del">
        <pc:chgData name="Oscar Luis Guadarrama Jimenez" userId="641fc7e3ac89e697" providerId="LiveId" clId="{5979CE5D-2727-4807-9743-5497872683E2}" dt="2026-06-18T02:25:19.437" v="51" actId="47"/>
        <pc:sldMkLst>
          <pc:docMk/>
          <pc:sldMk cId="633154655" sldId="257"/>
        </pc:sldMkLst>
      </pc:sldChg>
      <pc:sldChg chg="modSp mod">
        <pc:chgData name="Oscar Luis Guadarrama Jimenez" userId="641fc7e3ac89e697" providerId="LiveId" clId="{5979CE5D-2727-4807-9743-5497872683E2}" dt="2026-06-18T02:27:31.821" v="114" actId="1035"/>
        <pc:sldMkLst>
          <pc:docMk/>
          <pc:sldMk cId="0" sldId="258"/>
        </pc:sldMkLst>
        <pc:spChg chg="mod">
          <ac:chgData name="Oscar Luis Guadarrama Jimenez" userId="641fc7e3ac89e697" providerId="LiveId" clId="{5979CE5D-2727-4807-9743-5497872683E2}" dt="2026-06-18T02:27:31.821" v="114" actId="1035"/>
          <ac:spMkLst>
            <pc:docMk/>
            <pc:sldMk cId="0" sldId="258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7:37.227" v="116" actId="22"/>
        <pc:sldMkLst>
          <pc:docMk/>
          <pc:sldMk cId="0" sldId="259"/>
        </pc:sldMkLst>
        <pc:spChg chg="add">
          <ac:chgData name="Oscar Luis Guadarrama Jimenez" userId="641fc7e3ac89e697" providerId="LiveId" clId="{5979CE5D-2727-4807-9743-5497872683E2}" dt="2026-06-18T02:27:37.227" v="116" actId="22"/>
          <ac:spMkLst>
            <pc:docMk/>
            <pc:sldMk cId="0" sldId="259"/>
            <ac:spMk id="3" creationId="{09C62B54-AB75-4E5C-5E32-5E737DDF1179}"/>
          </ac:spMkLst>
        </pc:spChg>
        <pc:spChg chg="del">
          <ac:chgData name="Oscar Luis Guadarrama Jimenez" userId="641fc7e3ac89e697" providerId="LiveId" clId="{5979CE5D-2727-4807-9743-5497872683E2}" dt="2026-06-18T02:27:36.980" v="115" actId="478"/>
          <ac:spMkLst>
            <pc:docMk/>
            <pc:sldMk cId="0" sldId="259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7:42.362" v="118" actId="22"/>
        <pc:sldMkLst>
          <pc:docMk/>
          <pc:sldMk cId="0" sldId="260"/>
        </pc:sldMkLst>
        <pc:spChg chg="add">
          <ac:chgData name="Oscar Luis Guadarrama Jimenez" userId="641fc7e3ac89e697" providerId="LiveId" clId="{5979CE5D-2727-4807-9743-5497872683E2}" dt="2026-06-18T02:27:42.362" v="118" actId="22"/>
          <ac:spMkLst>
            <pc:docMk/>
            <pc:sldMk cId="0" sldId="260"/>
            <ac:spMk id="3" creationId="{27197A77-EE5C-13A4-6F70-3247450AC4E8}"/>
          </ac:spMkLst>
        </pc:spChg>
        <pc:spChg chg="del">
          <ac:chgData name="Oscar Luis Guadarrama Jimenez" userId="641fc7e3ac89e697" providerId="LiveId" clId="{5979CE5D-2727-4807-9743-5497872683E2}" dt="2026-06-18T02:27:42.128" v="117" actId="478"/>
          <ac:spMkLst>
            <pc:docMk/>
            <pc:sldMk cId="0" sldId="260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7:47.567" v="120" actId="22"/>
        <pc:sldMkLst>
          <pc:docMk/>
          <pc:sldMk cId="0" sldId="261"/>
        </pc:sldMkLst>
        <pc:spChg chg="add">
          <ac:chgData name="Oscar Luis Guadarrama Jimenez" userId="641fc7e3ac89e697" providerId="LiveId" clId="{5979CE5D-2727-4807-9743-5497872683E2}" dt="2026-06-18T02:27:47.567" v="120" actId="22"/>
          <ac:spMkLst>
            <pc:docMk/>
            <pc:sldMk cId="0" sldId="261"/>
            <ac:spMk id="3" creationId="{97049163-D85B-AF31-EE19-B82B7469EECB}"/>
          </ac:spMkLst>
        </pc:spChg>
        <pc:spChg chg="del">
          <ac:chgData name="Oscar Luis Guadarrama Jimenez" userId="641fc7e3ac89e697" providerId="LiveId" clId="{5979CE5D-2727-4807-9743-5497872683E2}" dt="2026-06-18T02:27:47.340" v="119" actId="478"/>
          <ac:spMkLst>
            <pc:docMk/>
            <pc:sldMk cId="0" sldId="261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7:55.763" v="122" actId="22"/>
        <pc:sldMkLst>
          <pc:docMk/>
          <pc:sldMk cId="0" sldId="262"/>
        </pc:sldMkLst>
        <pc:spChg chg="add">
          <ac:chgData name="Oscar Luis Guadarrama Jimenez" userId="641fc7e3ac89e697" providerId="LiveId" clId="{5979CE5D-2727-4807-9743-5497872683E2}" dt="2026-06-18T02:27:55.763" v="122" actId="22"/>
          <ac:spMkLst>
            <pc:docMk/>
            <pc:sldMk cId="0" sldId="262"/>
            <ac:spMk id="3" creationId="{B9F17BA8-FE5D-E50C-1ECD-7EEE45ED4745}"/>
          </ac:spMkLst>
        </pc:spChg>
        <pc:spChg chg="del">
          <ac:chgData name="Oscar Luis Guadarrama Jimenez" userId="641fc7e3ac89e697" providerId="LiveId" clId="{5979CE5D-2727-4807-9743-5497872683E2}" dt="2026-06-18T02:27:55.455" v="121" actId="478"/>
          <ac:spMkLst>
            <pc:docMk/>
            <pc:sldMk cId="0" sldId="262"/>
            <ac:spMk id="10" creationId="{BA056F29-3298-1160-5F8C-8B8F0C5D6492}"/>
          </ac:spMkLst>
        </pc:spChg>
      </pc:sldChg>
      <pc:sldChg chg="addSp delSp modSp mod">
        <pc:chgData name="Oscar Luis Guadarrama Jimenez" userId="641fc7e3ac89e697" providerId="LiveId" clId="{5979CE5D-2727-4807-9743-5497872683E2}" dt="2026-06-18T02:28:01.544" v="124" actId="22"/>
        <pc:sldMkLst>
          <pc:docMk/>
          <pc:sldMk cId="0" sldId="263"/>
        </pc:sldMkLst>
        <pc:spChg chg="add">
          <ac:chgData name="Oscar Luis Guadarrama Jimenez" userId="641fc7e3ac89e697" providerId="LiveId" clId="{5979CE5D-2727-4807-9743-5497872683E2}" dt="2026-06-18T02:28:01.544" v="124" actId="22"/>
          <ac:spMkLst>
            <pc:docMk/>
            <pc:sldMk cId="0" sldId="263"/>
            <ac:spMk id="3" creationId="{246D93E6-E643-BBB2-37C5-34AB841C54B5}"/>
          </ac:spMkLst>
        </pc:spChg>
        <pc:spChg chg="del">
          <ac:chgData name="Oscar Luis Guadarrama Jimenez" userId="641fc7e3ac89e697" providerId="LiveId" clId="{5979CE5D-2727-4807-9743-5497872683E2}" dt="2026-06-18T02:28:01.116" v="123" actId="478"/>
          <ac:spMkLst>
            <pc:docMk/>
            <pc:sldMk cId="0" sldId="263"/>
            <ac:spMk id="10" creationId="{BA056F29-3298-1160-5F8C-8B8F0C5D6492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38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39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41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42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43" creationId="{00000000-0000-0000-0000-000000000000}"/>
          </ac:spMkLst>
        </pc:spChg>
      </pc:sldChg>
      <pc:sldChg chg="addSp delSp modSp mod">
        <pc:chgData name="Oscar Luis Guadarrama Jimenez" userId="641fc7e3ac89e697" providerId="LiveId" clId="{5979CE5D-2727-4807-9743-5497872683E2}" dt="2026-06-18T02:29:15.890" v="143" actId="1076"/>
        <pc:sldMkLst>
          <pc:docMk/>
          <pc:sldMk cId="0" sldId="264"/>
        </pc:sldMkLst>
        <pc:spChg chg="add">
          <ac:chgData name="Oscar Luis Guadarrama Jimenez" userId="641fc7e3ac89e697" providerId="LiveId" clId="{5979CE5D-2727-4807-9743-5497872683E2}" dt="2026-06-18T02:28:07.260" v="126" actId="22"/>
          <ac:spMkLst>
            <pc:docMk/>
            <pc:sldMk cId="0" sldId="264"/>
            <ac:spMk id="3" creationId="{BE927A49-4D21-939C-5071-BB4341AB9A2A}"/>
          </ac:spMkLst>
        </pc:spChg>
        <pc:spChg chg="del">
          <ac:chgData name="Oscar Luis Guadarrama Jimenez" userId="641fc7e3ac89e697" providerId="LiveId" clId="{5979CE5D-2727-4807-9743-5497872683E2}" dt="2026-06-18T02:28:07.056" v="125" actId="478"/>
          <ac:spMkLst>
            <pc:docMk/>
            <pc:sldMk cId="0" sldId="264"/>
            <ac:spMk id="10" creationId="{BA056F29-3298-1160-5F8C-8B8F0C5D6492}"/>
          </ac:spMkLst>
        </pc:spChg>
        <pc:spChg chg="mod">
          <ac:chgData name="Oscar Luis Guadarrama Jimenez" userId="641fc7e3ac89e697" providerId="LiveId" clId="{5979CE5D-2727-4807-9743-5497872683E2}" dt="2026-06-18T02:29:08.628" v="142" actId="1076"/>
          <ac:spMkLst>
            <pc:docMk/>
            <pc:sldMk cId="0" sldId="264"/>
            <ac:spMk id="13" creationId="{30FF6E45-5264-8D11-EAC7-F18054430785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1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3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5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6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8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9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51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53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54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55" creationId="{00000000-0000-0000-0000-000000000000}"/>
          </ac:spMkLst>
        </pc:spChg>
      </pc:sldChg>
      <pc:sldChg chg="addSp delSp modSp mod">
        <pc:chgData name="Oscar Luis Guadarrama Jimenez" userId="641fc7e3ac89e697" providerId="LiveId" clId="{5979CE5D-2727-4807-9743-5497872683E2}" dt="2026-06-18T02:28:18.426" v="130" actId="22"/>
        <pc:sldMkLst>
          <pc:docMk/>
          <pc:sldMk cId="0" sldId="265"/>
        </pc:sldMkLst>
        <pc:spChg chg="add del">
          <ac:chgData name="Oscar Luis Guadarrama Jimenez" userId="641fc7e3ac89e697" providerId="LiveId" clId="{5979CE5D-2727-4807-9743-5497872683E2}" dt="2026-06-18T02:28:14.755" v="128" actId="22"/>
          <ac:spMkLst>
            <pc:docMk/>
            <pc:sldMk cId="0" sldId="265"/>
            <ac:spMk id="3" creationId="{28A1A4B7-E575-5040-1C96-4136C8823717}"/>
          </ac:spMkLst>
        </pc:spChg>
        <pc:spChg chg="del">
          <ac:chgData name="Oscar Luis Guadarrama Jimenez" userId="641fc7e3ac89e697" providerId="LiveId" clId="{5979CE5D-2727-4807-9743-5497872683E2}" dt="2026-06-18T02:28:16.791" v="129" actId="478"/>
          <ac:spMkLst>
            <pc:docMk/>
            <pc:sldMk cId="0" sldId="265"/>
            <ac:spMk id="10" creationId="{BA056F29-3298-1160-5F8C-8B8F0C5D6492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35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36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37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38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15.479" v="46" actId="1076"/>
          <ac:spMkLst>
            <pc:docMk/>
            <pc:sldMk cId="0" sldId="265"/>
            <ac:spMk id="39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41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15.479" v="46" actId="1076"/>
          <ac:spMkLst>
            <pc:docMk/>
            <pc:sldMk cId="0" sldId="265"/>
            <ac:spMk id="42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44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45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15.479" v="46" actId="1076"/>
          <ac:spMkLst>
            <pc:docMk/>
            <pc:sldMk cId="0" sldId="265"/>
            <ac:spMk id="46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47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49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15.479" v="46" actId="1076"/>
          <ac:spMkLst>
            <pc:docMk/>
            <pc:sldMk cId="0" sldId="265"/>
            <ac:spMk id="50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51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472" v="57" actId="14100"/>
          <ac:spMkLst>
            <pc:docMk/>
            <pc:sldMk cId="0" sldId="265"/>
            <ac:spMk id="52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940" v="56" actId="14100"/>
          <ac:spMkLst>
            <pc:docMk/>
            <pc:sldMk cId="0" sldId="265"/>
            <ac:spMk id="53" creationId="{00000000-0000-0000-0000-000000000000}"/>
          </ac:spMkLst>
        </pc:spChg>
        <pc:spChg chg="add">
          <ac:chgData name="Oscar Luis Guadarrama Jimenez" userId="641fc7e3ac89e697" providerId="LiveId" clId="{5979CE5D-2727-4807-9743-5497872683E2}" dt="2026-06-18T02:28:18.426" v="130" actId="22"/>
          <ac:spMkLst>
            <pc:docMk/>
            <pc:sldMk cId="0" sldId="265"/>
            <ac:spMk id="55" creationId="{BC5DAF45-63BA-C184-B119-5A13F0361EBF}"/>
          </ac:spMkLst>
        </pc:spChg>
      </pc:sldChg>
      <pc:sldChg chg="addSp delSp mod">
        <pc:chgData name="Oscar Luis Guadarrama Jimenez" userId="641fc7e3ac89e697" providerId="LiveId" clId="{5979CE5D-2727-4807-9743-5497872683E2}" dt="2026-06-18T02:28:23.938" v="132" actId="22"/>
        <pc:sldMkLst>
          <pc:docMk/>
          <pc:sldMk cId="0" sldId="266"/>
        </pc:sldMkLst>
        <pc:spChg chg="add">
          <ac:chgData name="Oscar Luis Guadarrama Jimenez" userId="641fc7e3ac89e697" providerId="LiveId" clId="{5979CE5D-2727-4807-9743-5497872683E2}" dt="2026-06-18T02:28:23.938" v="132" actId="22"/>
          <ac:spMkLst>
            <pc:docMk/>
            <pc:sldMk cId="0" sldId="266"/>
            <ac:spMk id="3" creationId="{3C7682DE-58EC-8AD8-4ED3-D9D3AB03E022}"/>
          </ac:spMkLst>
        </pc:spChg>
        <pc:spChg chg="del">
          <ac:chgData name="Oscar Luis Guadarrama Jimenez" userId="641fc7e3ac89e697" providerId="LiveId" clId="{5979CE5D-2727-4807-9743-5497872683E2}" dt="2026-06-18T02:28:23.724" v="131" actId="478"/>
          <ac:spMkLst>
            <pc:docMk/>
            <pc:sldMk cId="0" sldId="266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8:28.793" v="134" actId="22"/>
        <pc:sldMkLst>
          <pc:docMk/>
          <pc:sldMk cId="0" sldId="267"/>
        </pc:sldMkLst>
        <pc:spChg chg="add">
          <ac:chgData name="Oscar Luis Guadarrama Jimenez" userId="641fc7e3ac89e697" providerId="LiveId" clId="{5979CE5D-2727-4807-9743-5497872683E2}" dt="2026-06-18T02:28:28.793" v="134" actId="22"/>
          <ac:spMkLst>
            <pc:docMk/>
            <pc:sldMk cId="0" sldId="267"/>
            <ac:spMk id="3" creationId="{B7482507-7421-30B7-03F0-856A2E6122D1}"/>
          </ac:spMkLst>
        </pc:spChg>
        <pc:spChg chg="del">
          <ac:chgData name="Oscar Luis Guadarrama Jimenez" userId="641fc7e3ac89e697" providerId="LiveId" clId="{5979CE5D-2727-4807-9743-5497872683E2}" dt="2026-06-18T02:28:28.522" v="133" actId="478"/>
          <ac:spMkLst>
            <pc:docMk/>
            <pc:sldMk cId="0" sldId="267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8:33.434" v="136" actId="22"/>
        <pc:sldMkLst>
          <pc:docMk/>
          <pc:sldMk cId="0" sldId="268"/>
        </pc:sldMkLst>
        <pc:spChg chg="add">
          <ac:chgData name="Oscar Luis Guadarrama Jimenez" userId="641fc7e3ac89e697" providerId="LiveId" clId="{5979CE5D-2727-4807-9743-5497872683E2}" dt="2026-06-18T02:28:33.434" v="136" actId="22"/>
          <ac:spMkLst>
            <pc:docMk/>
            <pc:sldMk cId="0" sldId="268"/>
            <ac:spMk id="3" creationId="{49BB148C-9F02-E91D-C3BB-7E1308D00E51}"/>
          </ac:spMkLst>
        </pc:spChg>
        <pc:spChg chg="del">
          <ac:chgData name="Oscar Luis Guadarrama Jimenez" userId="641fc7e3ac89e697" providerId="LiveId" clId="{5979CE5D-2727-4807-9743-5497872683E2}" dt="2026-06-18T02:28:33.199" v="135" actId="478"/>
          <ac:spMkLst>
            <pc:docMk/>
            <pc:sldMk cId="0" sldId="268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8:41.603" v="138" actId="22"/>
        <pc:sldMkLst>
          <pc:docMk/>
          <pc:sldMk cId="0" sldId="269"/>
        </pc:sldMkLst>
        <pc:spChg chg="add">
          <ac:chgData name="Oscar Luis Guadarrama Jimenez" userId="641fc7e3ac89e697" providerId="LiveId" clId="{5979CE5D-2727-4807-9743-5497872683E2}" dt="2026-06-18T02:28:41.603" v="138" actId="22"/>
          <ac:spMkLst>
            <pc:docMk/>
            <pc:sldMk cId="0" sldId="269"/>
            <ac:spMk id="3" creationId="{8880D810-006C-AA90-D087-C81C561CAC4E}"/>
          </ac:spMkLst>
        </pc:spChg>
        <pc:spChg chg="del">
          <ac:chgData name="Oscar Luis Guadarrama Jimenez" userId="641fc7e3ac89e697" providerId="LiveId" clId="{5979CE5D-2727-4807-9743-5497872683E2}" dt="2026-06-18T02:28:41.401" v="137" actId="478"/>
          <ac:spMkLst>
            <pc:docMk/>
            <pc:sldMk cId="0" sldId="269"/>
            <ac:spMk id="10" creationId="{BA056F29-3298-1160-5F8C-8B8F0C5D6492}"/>
          </ac:spMkLst>
        </pc:spChg>
      </pc:sldChg>
      <pc:sldChg chg="addSp delSp modSp mod">
        <pc:chgData name="Oscar Luis Guadarrama Jimenez" userId="641fc7e3ac89e697" providerId="LiveId" clId="{5979CE5D-2727-4807-9743-5497872683E2}" dt="2026-06-18T02:28:57.980" v="141" actId="478"/>
        <pc:sldMkLst>
          <pc:docMk/>
          <pc:sldMk cId="0" sldId="270"/>
        </pc:sldMkLst>
        <pc:spChg chg="add">
          <ac:chgData name="Oscar Luis Guadarrama Jimenez" userId="641fc7e3ac89e697" providerId="LiveId" clId="{5979CE5D-2727-4807-9743-5497872683E2}" dt="2026-06-18T02:28:49.206" v="140" actId="22"/>
          <ac:spMkLst>
            <pc:docMk/>
            <pc:sldMk cId="0" sldId="270"/>
            <ac:spMk id="3" creationId="{D6BC9DE8-35D3-CA55-4088-A34FA6B29BDC}"/>
          </ac:spMkLst>
        </pc:spChg>
        <pc:spChg chg="del">
          <ac:chgData name="Oscar Luis Guadarrama Jimenez" userId="641fc7e3ac89e697" providerId="LiveId" clId="{5979CE5D-2727-4807-9743-5497872683E2}" dt="2026-06-18T02:28:49.008" v="139" actId="478"/>
          <ac:spMkLst>
            <pc:docMk/>
            <pc:sldMk cId="0" sldId="270"/>
            <ac:spMk id="10" creationId="{BA056F29-3298-1160-5F8C-8B8F0C5D6492}"/>
          </ac:spMkLst>
        </pc:spChg>
        <pc:spChg chg="del">
          <ac:chgData name="Oscar Luis Guadarrama Jimenez" userId="641fc7e3ac89e697" providerId="LiveId" clId="{5979CE5D-2727-4807-9743-5497872683E2}" dt="2026-06-18T02:28:57.980" v="141" actId="478"/>
          <ac:spMkLst>
            <pc:docMk/>
            <pc:sldMk cId="0" sldId="270"/>
            <ac:spMk id="12" creationId="{A17F96BB-950A-839D-5631-82791C07217E}"/>
          </ac:spMkLst>
        </pc:spChg>
        <pc:spChg chg="mod">
          <ac:chgData name="Oscar Luis Guadarrama Jimenez" userId="641fc7e3ac89e697" providerId="LiveId" clId="{5979CE5D-2727-4807-9743-5497872683E2}" dt="2026-06-18T02:25:19.589" v="52" actId="1076"/>
          <ac:spMkLst>
            <pc:docMk/>
            <pc:sldMk cId="0" sldId="270"/>
            <ac:spMk id="14" creationId="{00000000-0000-0000-0000-000000000000}"/>
          </ac:spMkLst>
        </pc:spChg>
        <pc:spChg chg="add del mod">
          <ac:chgData name="Oscar Luis Guadarrama Jimenez" userId="641fc7e3ac89e697" providerId="LiveId" clId="{5979CE5D-2727-4807-9743-5497872683E2}" dt="2026-06-18T02:25:19.958" v="54" actId="478"/>
          <ac:spMkLst>
            <pc:docMk/>
            <pc:sldMk cId="0" sldId="270"/>
            <ac:spMk id="3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4CF47-608E-5F25-6E20-EA9173500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625DF5-30D4-FE9A-8D4E-0FFFC2744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70C30-C33B-67C2-DE43-5852F6DA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DCBD7D-7F9F-F4AA-3FC6-6A952D66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CCF645-5806-1018-4B23-8071D7ED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521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8D588-D9B0-B412-F457-F4A58F38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7E414F-AC9D-21C9-B5DD-99DA8A6AA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1DA5F8-EBD8-30B1-5096-F554C44B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ACC358-3F2B-0F5F-2356-6B4EC0C5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EB45F7-BDE0-51AB-4295-CD5B7B57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567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5A537-C0B0-350A-7812-E02A4A9F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D2575D-62DD-EF11-D7DF-4CA64BF5E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8FD4D5-515C-5134-5A7C-8C70BA533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69E767-CA62-CF96-C97E-879055DA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E3B7F3-0777-BCA8-2E05-F4EC1E72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593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0AD64-296A-672A-56C1-1CC2430D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BC8C44-7E09-D9B1-70E1-5D53DFFDE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D21F0B-8701-5C36-753D-258BC5D8C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2304F7-F770-43A1-976C-BC2AF497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E217DA-0961-CED4-4586-01CC12F9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D8C7A6-0071-D420-0C60-A830BB474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19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7DC3C-BFAB-B70C-B805-0CBB2ED90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3FAEF9-9345-E078-3E1D-D2D1DD91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20BF20-BB01-B7F5-E4FE-B97E4F2EF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54399E-0FA3-71DC-927F-FAE1D8441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476D49-7B53-06DC-0BC7-0D4F671C6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6E0C5B0-1DDC-3B6E-3BB4-569BB996A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A3E4A57-3B21-FC26-4111-80EE4497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48243A-03F4-4065-228A-334843E6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1118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7B4F6-4804-0AC5-0277-5825368F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44A091-7D78-AD9C-AB51-5C6556655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3A245F-2E42-8120-C4C2-4C63B8A4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B13F97-6ECE-1A56-35ED-CE91807D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3866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C71E69-55A7-AEE1-CDB1-390715E29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8643FE-33A0-3986-8AE7-9E37CFF7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239A9A-B675-B885-8009-A5A8BF2F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968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C086D-E7B6-6EA6-86E0-AAF1A7AE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98CF7A-9625-E28B-205B-E6DBA4CF2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68AA42-85EC-DFF5-B282-8265D3B32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9E9704-A979-2A19-60F7-F9B931B4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D8268D-1FFE-4DCA-2B55-8DAA8056B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75C3B4-FFD4-F7BC-C1D6-A683AAB5B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536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D2678-B95F-3208-E583-7758DA8B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4270E7-845C-1E45-35D1-D5D657DA39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3DDE70-99A0-B3AB-7D3B-096573FC8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F50AF6-9E1C-5376-C51E-8A1AF3A80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D1454F-E41D-B214-12EA-BAAFD453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C8B18C-EE04-5617-1D26-54236741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045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8565C-34CD-98FE-ADB1-105F50AF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08ACB9-819E-9490-78E2-0D48043D9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24E33B-C135-85B4-FB67-47A83B37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01031-6DB9-4E35-7B63-FD5E8378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722D5B-33D5-F2B6-9D62-D0774864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055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349E02-8A63-7044-1D65-2841CBB159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DD260B-06B9-D483-A93A-938B63B43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639EAA-2AFB-ED99-929D-A5D2F3C3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97D25-8A4E-9D48-356B-AB80FD6E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2B0827-8CB4-4285-61DF-3ACD1CB3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5425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756A2BD-0544-C92C-9965-42C4DEB4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99DF32-90A6-9F9C-995D-C39FC4A2A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0FFEC8-E387-642C-0AB0-D8E23A9E2B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F9AA1-F357-BF46-95EF-53E371A093C3}" type="datetimeFigureOut">
              <a:rPr lang="es-MX" smtClean="0"/>
              <a:t>19/06/26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D41DA5-B154-A5ED-83CB-2884230FF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B546F6-DF00-779C-B405-C1A4E37A1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594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871FD-6892-EE65-A61F-660AD52CA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4487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s-ES" sz="2800" dirty="0">
                <a:latin typeface="Century Gothic" panose="020B0502020202020204" pitchFamily="34" charset="0"/>
              </a:rPr>
              <a:t>Identificación espacio-temporal de compuestos</a:t>
            </a:r>
            <a:br>
              <a:rPr lang="es-ES" sz="2800" dirty="0">
                <a:latin typeface="Century Gothic" panose="020B0502020202020204" pitchFamily="34" charset="0"/>
              </a:rPr>
            </a:br>
            <a:r>
              <a:rPr lang="es-ES" sz="2800" dirty="0">
                <a:latin typeface="Century Gothic" panose="020B0502020202020204" pitchFamily="34" charset="0"/>
              </a:rPr>
              <a:t>nutracéuticos en ganado lechero mediante</a:t>
            </a:r>
            <a:br>
              <a:rPr lang="es-ES" sz="2800" dirty="0">
                <a:latin typeface="Century Gothic" panose="020B0502020202020204" pitchFamily="34" charset="0"/>
              </a:rPr>
            </a:br>
            <a:r>
              <a:rPr lang="es-ES" sz="2800" dirty="0">
                <a:latin typeface="Century Gothic" panose="020B0502020202020204" pitchFamily="34" charset="0"/>
              </a:rPr>
              <a:t>inteligencia artificial</a:t>
            </a:r>
            <a:br>
              <a:rPr lang="es-ES" sz="2800" dirty="0">
                <a:latin typeface="Century Gothic" panose="020B0502020202020204" pitchFamily="34" charset="0"/>
              </a:rPr>
            </a:br>
            <a:br>
              <a:rPr lang="es-MX" sz="2800" dirty="0">
                <a:latin typeface="Century Gothic" panose="020B0502020202020204" pitchFamily="34" charset="0"/>
              </a:rPr>
            </a:br>
            <a:r>
              <a:rPr lang="es-MX" sz="2000" dirty="0">
                <a:latin typeface="Gellix" pitchFamily="2" charset="77"/>
              </a:rPr>
              <a:t>Tecnológico de Monterrey</a:t>
            </a:r>
            <a:endParaRPr lang="es-MX" sz="2000" dirty="0">
              <a:latin typeface="Century Gothic" panose="020B0502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77E962-0DC9-2DBB-100A-EDF92E708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3283"/>
            <a:ext cx="9144000" cy="3606545"/>
          </a:xfrm>
        </p:spPr>
        <p:txBody>
          <a:bodyPr>
            <a:normAutofit/>
          </a:bodyPr>
          <a:lstStyle/>
          <a:p>
            <a:pPr algn="l"/>
            <a:endParaRPr lang="es-MX" sz="2000" dirty="0">
              <a:latin typeface="Gellix" pitchFamily="2" charset="77"/>
            </a:endParaRPr>
          </a:p>
          <a:p>
            <a:pPr algn="l"/>
            <a:r>
              <a:rPr lang="es-MX" sz="2000" dirty="0">
                <a:latin typeface="Gellix" pitchFamily="2" charset="77"/>
              </a:rPr>
              <a:t>Presenta(n):</a:t>
            </a:r>
            <a:endParaRPr lang="es-MX" sz="1800" dirty="0">
              <a:latin typeface="Avenir Next Condensed" panose="020B0506020202020204" pitchFamily="34" charset="0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venir Next Condensed" panose="020B0506020202020204" pitchFamily="34" charset="0"/>
              </a:rPr>
              <a:t>Oscar Luis Guadarrama Jiménez - A01796245</a:t>
            </a:r>
            <a:endParaRPr lang="es-MX" sz="1800" dirty="0">
              <a:latin typeface="Avenir Next Condensed" panose="020B0506020202020204" pitchFamily="34" charset="0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venir Next Condensed" panose="020B0506020202020204" pitchFamily="34" charset="0"/>
              </a:rPr>
              <a:t>Luis Alejandro Juárez Rodríguez - A01795463</a:t>
            </a:r>
            <a:endParaRPr lang="es-MX" sz="1800" dirty="0">
              <a:latin typeface="Avenir Next Condensed" panose="020B0506020202020204" pitchFamily="34" charset="0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venir Next Condensed" panose="020B0506020202020204" pitchFamily="34" charset="0"/>
              </a:rPr>
              <a:t>José Manuel Pérez González - A01795188</a:t>
            </a:r>
            <a:endParaRPr lang="es-MX" sz="1800" dirty="0">
              <a:latin typeface="Avenir Next Condensed" panose="020B0506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s-MX" sz="1800" dirty="0">
              <a:latin typeface="Avenir Next Condensed" panose="020B0506020202020204" pitchFamily="34" charset="0"/>
            </a:endParaRPr>
          </a:p>
          <a:p>
            <a:pPr algn="l"/>
            <a:endParaRPr lang="es-MX" sz="2000" dirty="0">
              <a:latin typeface="Gellix" pitchFamily="2" charset="77"/>
            </a:endParaRPr>
          </a:p>
          <a:p>
            <a:pPr algn="l"/>
            <a:r>
              <a:rPr lang="es-MX" sz="2000" dirty="0">
                <a:latin typeface="Gellix" pitchFamily="2" charset="77"/>
              </a:rPr>
              <a:t>Asesor: </a:t>
            </a:r>
            <a:r>
              <a:rPr lang="es-MX" sz="2000" dirty="0">
                <a:latin typeface="Avenir Next Condensed" panose="020B0506020202020204" pitchFamily="34" charset="0"/>
              </a:rPr>
              <a:t>Dr. Horacio Martínez Alfaro</a:t>
            </a:r>
          </a:p>
          <a:p>
            <a:pPr algn="l"/>
            <a:r>
              <a:rPr lang="es-MX" sz="2000" dirty="0">
                <a:latin typeface="Gellix" pitchFamily="2" charset="77"/>
              </a:rPr>
              <a:t>Patrocinador(es): </a:t>
            </a:r>
            <a:r>
              <a:rPr lang="es-MX" sz="2000" dirty="0">
                <a:latin typeface="Avenir Next Condensed" panose="020B0506020202020204" pitchFamily="34" charset="0"/>
              </a:rPr>
              <a:t>Tecnológico de Monterrey</a:t>
            </a:r>
          </a:p>
          <a:p>
            <a:endParaRPr lang="es-MX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331023E-4CB4-82E2-087A-FA103E758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47" y="0"/>
            <a:ext cx="3606800" cy="1020460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01127A1B-88DA-9A03-2675-463791875510}"/>
              </a:ext>
            </a:extLst>
          </p:cNvPr>
          <p:cNvGrpSpPr/>
          <p:nvPr/>
        </p:nvGrpSpPr>
        <p:grpSpPr>
          <a:xfrm rot="5400000">
            <a:off x="-3171598" y="3164288"/>
            <a:ext cx="6983895" cy="655320"/>
            <a:chOff x="703525" y="2152230"/>
            <a:chExt cx="10523975" cy="847409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DAB67E3-160D-D5B9-0294-3EAD0B8EB2DF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49068DCE-588D-03E6-7DB9-66EF7942DECC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5E10BFA8-612A-10A1-6323-6078458470B0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91E05268-686A-7900-E5CF-E35C35042577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20" name="Paralelogramo 19">
                <a:extLst>
                  <a:ext uri="{FF2B5EF4-FFF2-40B4-BE49-F238E27FC236}">
                    <a16:creationId xmlns:a16="http://schemas.microsoft.com/office/drawing/2014/main" id="{9072E59B-7ED5-0A29-D89B-C3B8F9A87E06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17900E0-22A9-3D21-7199-BE9A85326727}"/>
              </a:ext>
            </a:extLst>
          </p:cNvPr>
          <p:cNvSpPr txBox="1"/>
          <p:nvPr/>
        </p:nvSpPr>
        <p:spPr>
          <a:xfrm>
            <a:off x="8941677" y="129744"/>
            <a:ext cx="31484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1B2749"/>
                </a:solidFill>
                <a:latin typeface="Albra Regular" pitchFamily="2" charset="77"/>
              </a:rPr>
              <a:t>Maestría en Inteligencia Artificial Aplicada (MNA)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C0D8AC7-99E5-12F3-A2A9-22FE58CA3C98}"/>
              </a:ext>
            </a:extLst>
          </p:cNvPr>
          <p:cNvSpPr txBox="1"/>
          <p:nvPr/>
        </p:nvSpPr>
        <p:spPr>
          <a:xfrm>
            <a:off x="5878687" y="6293354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1800" dirty="0">
                <a:latin typeface="Avenir Next Condensed" panose="020B0506020202020204" pitchFamily="34" charset="0"/>
              </a:rPr>
              <a:t>Junio 2026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4CB87F-F06E-8B15-2DCE-249E13B733CA}"/>
              </a:ext>
            </a:extLst>
          </p:cNvPr>
          <p:cNvSpPr/>
          <p:nvPr/>
        </p:nvSpPr>
        <p:spPr>
          <a:xfrm rot="16200000">
            <a:off x="-1568328" y="4294039"/>
            <a:ext cx="3915900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ES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Presentación del </a:t>
            </a:r>
            <a:r>
              <a:rPr lang="es-ES" sz="140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Proyecto Integrador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87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0"/>
            <a:ext cx="12322630" cy="714750"/>
            <a:chOff x="703525" y="2152231"/>
            <a:chExt cx="10523975" cy="92425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24259"/>
              <a:chOff x="703525" y="2152450"/>
              <a:chExt cx="10412414" cy="1552594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BA056F29-3298-1160-5F8C-8B8F0C5D6492}"/>
                  </a:ext>
                </a:extLst>
              </p:cNvPr>
              <p:cNvSpPr/>
              <p:nvPr/>
            </p:nvSpPr>
            <p:spPr>
              <a:xfrm>
                <a:off x="2510246" y="2367656"/>
                <a:ext cx="8600319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s-MX" sz="1400" dirty="0">
                    <a:solidFill>
                      <a:srgbClr val="FFFFFF"/>
                    </a:solidFill>
                    <a:effectLst/>
                    <a:latin typeface="Gellix" pitchFamily="2" charset="77"/>
                    <a:ea typeface="Fira Sans Extra Condensed"/>
                    <a:cs typeface="Fira Sans Extra Condensed"/>
                  </a:rPr>
                  <a:t>Identificación espacio-temporal de compuestos nutracéuticos en ganado lechero mediante inteligencia artificial</a:t>
                </a:r>
                <a:endParaRPr lang="es-MX" sz="1100" dirty="0"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Agenda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55448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175564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Problematica y objetivo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55448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175564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Hallazgos del EDA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1460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260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71576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Modelos desarrollados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1460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260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271576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Solucion final: StackingRegressor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7472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675887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Recomendaciones + Arquitectura GCP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8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3675887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SLOs y Monitoreo en Produccion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3484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526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63600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Seguridad y Compliance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43484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0528" y="4526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463600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Handoff + Ejemplo de uso en campo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9496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5486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559612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Analisis costo-beneficio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39496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10528" y="5486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559612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Riesgos, Go/No-Go y Cierre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01 | Problematica y Objetivo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5394960" cy="4480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E44"/>
                </a:solidFill>
                <a:latin typeface="Century Gothic"/>
              </a:rPr>
              <a:t>El problema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12848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26771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El ganado bovino genera el 14.5% de los GEI globales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72968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22783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Sin herramientas predictivas, la dosificacion es empirica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33087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Exceso de suplemento: costo innecesario. Deficit: metano alto persistente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93208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14807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Regulaciones ambientales exigen metricas verificables de carbono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645920"/>
            <a:ext cx="5760720" cy="210312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7190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Century Gothic"/>
              </a:rPr>
              <a:t>Objetivo del proyecto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488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venir Next Condensed"/>
              </a:rPr>
              <a:t>Predecir la intensidad de emision de metano (g CH4/kg leche) por vaca mediante ML para optimizar la dosis de nutraceuticos y reducir la huella de carbono.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886200"/>
            <a:ext cx="576072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950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E44"/>
                </a:solidFill>
                <a:latin typeface="Century Gothic"/>
              </a:rPr>
              <a:t>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73,000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registros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vacas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razas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9024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9024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meses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C62B54-AB75-4E5C-5E32-5E737DDF1179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02 | Hallazgos del Analisis Exploratorio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4592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Distribucion de metano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Media: 16.5 g CH4/kg leche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Rango: 8-35 g/kg · 23% en nivel "Alto" (&gt;25 g)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Distribucion bimodal: dos perfiles de vaca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64592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64592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Diferencias por raza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Holstein: ~15.2 g/kg (mas eficiente)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Jersey: ~17.1 g/kg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Pardo Suizo: ~18.3 g/kg → raza es predictor clave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1239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Correlaciones clave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177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Leche vs CH4: r = -0.72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Dosis nutraceutico: r = -0.61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DIMS vs CH4: r = +0.45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06908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406908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1239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Ventana critica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177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Alertas concentradas en meses 8-14 de lactacion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Intervencion preventiva debe ser antes del mes 7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Justifica el modelo como herramienta de anticipacion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197A77-EE5C-13A4-6F70-3247450AC4E8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03 | Modelos Desarrollados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11521440" cy="45720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6733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Avance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67335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673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673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R2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6733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Latencia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76272"/>
            <a:ext cx="1152144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286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Ridge 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0.7268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0.9688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889504"/>
            <a:ext cx="1152144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9992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E4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9992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MLP Neural 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9992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0.6555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9992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0.9746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9992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5.7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602736"/>
            <a:ext cx="1152144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712463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E4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712463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80"/>
                </a:solidFill>
                <a:latin typeface="Avenir Next Condensed"/>
              </a:rPr>
              <a:t>k-NN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3712463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0.8121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712463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0.9602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712463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12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15968"/>
            <a:ext cx="1152144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442569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E4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44256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80"/>
                </a:solidFill>
                <a:latin typeface="Avenir Next Condensed"/>
              </a:rPr>
              <a:t>Random Forest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4256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1.4754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4256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0.8714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44256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8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029200"/>
            <a:ext cx="1152144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51389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E5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1389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VotingRegressor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5138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0.6485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138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0.9752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51389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6.7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742432"/>
            <a:ext cx="11521440" cy="640080"/>
          </a:xfrm>
          <a:prstGeom prst="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5852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96"/>
                </a:solidFill>
                <a:latin typeface="Avenir Next Condensed"/>
              </a:rPr>
              <a:t>E5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5852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Avenir Next Condensed"/>
              </a:rPr>
              <a:t>StackingRegressor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96"/>
                </a:solidFill>
                <a:latin typeface="Avenir Next Condensed"/>
              </a:rPr>
              <a:t>0.6117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96"/>
                </a:solidFill>
                <a:latin typeface="Avenir Next Condensed"/>
              </a:rPr>
              <a:t>0.9779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96"/>
                </a:solidFill>
                <a:latin typeface="Avenir Next Condensed"/>
              </a:rPr>
              <a:t>7.3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0080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6"/>
                </a:solidFill>
                <a:latin typeface="Avenir Next Condensed"/>
              </a:rPr>
              <a:t>★ Modelo seleccionado — RMSE 0.6117 cumple todos los criterios de exito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7049163-D85B-AF31-EE19-B82B7469EECB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04 | Solucion Final: StackingRegressor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2743200" cy="128016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1737360"/>
            <a:ext cx="2523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MLP Neural 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212848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RMSE 0.6555</a:t>
            </a:r>
          </a:p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Captura no-linealidades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691640"/>
            <a:ext cx="2743200" cy="128016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01568" y="1737360"/>
            <a:ext cx="2523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BayesianRidge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212848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RMSE 0.6832</a:t>
            </a:r>
          </a:p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Robustez con incertidumbre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691640"/>
            <a:ext cx="2743200" cy="128016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1737360"/>
            <a:ext cx="2523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ElasticNet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212848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RMSE 0.7021</a:t>
            </a:r>
          </a:p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Regularizacion combinada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06324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4A017"/>
                </a:solidFill>
                <a:latin typeface="Avenir Next Condensed"/>
              </a:rPr>
              <a:t>predicciones como features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493008"/>
            <a:ext cx="4572000" cy="96012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23160" y="3538728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96"/>
                </a:solidFill>
                <a:latin typeface="Century Gothic"/>
              </a:rPr>
              <a:t>Meta-modelo: Ridge Regression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0050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venir Next Condensed"/>
              </a:rPr>
              <a:t>Aprende el peso optimo de cada predictor 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691640"/>
            <a:ext cx="2651760" cy="1051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19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RMSE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198424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96"/>
                </a:solidFill>
                <a:latin typeface="Century Gothic"/>
              </a:rPr>
              <a:t>0.6117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80"/>
                </a:solidFill>
                <a:latin typeface="Avenir Next Condensed"/>
              </a:rPr>
              <a:t>error ~0.6 g CH4/kg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880360"/>
            <a:ext cx="2651760" cy="1051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19" y="2926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R²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31729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96"/>
                </a:solidFill>
                <a:latin typeface="Century Gothic"/>
              </a:rPr>
              <a:t>0.9779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9" y="3611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80"/>
                </a:solidFill>
                <a:latin typeface="Avenir Next Condensed"/>
              </a:rPr>
              <a:t>97.8% varianza explicada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4069080"/>
            <a:ext cx="2651760" cy="1051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19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Latencia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19" y="436168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96"/>
                </a:solidFill>
                <a:latin typeface="Century Gothic"/>
              </a:rPr>
              <a:t>7.3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80"/>
                </a:solidFill>
                <a:latin typeface="Avenir Next Condensed"/>
              </a:rPr>
              <a:t>tiempo real en campo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5257800"/>
            <a:ext cx="2651760" cy="1051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19" y="5303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Mejora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19" y="55504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96"/>
                </a:solidFill>
                <a:latin typeface="Century Gothic"/>
              </a:rPr>
              <a:t>-15.8%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19" y="5989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80"/>
                </a:solidFill>
                <a:latin typeface="Avenir Next Condensed"/>
              </a:rPr>
              <a:t>vs baseline Ridge E3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F17BA8-FE5D-E50C-1ECD-7EEE45ED4745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05 | Recomendaciones Comerciales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3749039" cy="50292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719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0-3 meses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34086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Desplegar API REST en GCP Cloud Run ($31/mes)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62102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Integrar dashboard con sistema de gestion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4901183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Capacitar 2-3 operadores / veterinarios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691640"/>
            <a:ext cx="3749039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1719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3-6 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28600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07992" y="234086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Ampliar dataset con 3+ granjas adicionales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56616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07992" y="362102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Reentrenamiento mensual automatizado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84632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07992" y="4901183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Establecer KPIs de reduccion de metano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691640"/>
            <a:ext cx="3749039" cy="502920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1719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6-12 meses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28600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85632" y="234086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Certificacion de creditos de carbono (Verra)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56616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85632" y="362102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Expansion a modulo prediccion de leche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84632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85632" y="4901183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Alianza con proveedores de nutraceuticos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102" y="6192608"/>
            <a:ext cx="11521440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8982" y="621089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61E44"/>
                </a:solidFill>
                <a:latin typeface="Century Gothic"/>
              </a:rPr>
              <a:t>Plataforma cloud </a:t>
            </a:r>
            <a:r>
              <a:rPr sz="1200" b="1" dirty="0" err="1">
                <a:solidFill>
                  <a:srgbClr val="161E44"/>
                </a:solidFill>
                <a:latin typeface="Century Gothic"/>
              </a:rPr>
              <a:t>recomendada</a:t>
            </a:r>
            <a:r>
              <a:rPr sz="1200" b="1" dirty="0">
                <a:solidFill>
                  <a:srgbClr val="161E44"/>
                </a:solidFill>
                <a:latin typeface="Century Gothic"/>
              </a:rPr>
              <a:t>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75062" y="6210896"/>
            <a:ext cx="1965960" cy="310896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00C896"/>
                </a:solidFill>
                <a:latin typeface="Avenir Next Condensed"/>
              </a:rPr>
              <a:t>GCP 8.85 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78182" y="6210896"/>
            <a:ext cx="196596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AWS 8.55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81301" y="6210896"/>
            <a:ext cx="196596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Azure 8.50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84422" y="6210896"/>
            <a:ext cx="1965960" cy="31089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IBM Watson 6.55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46D93E6-E643-BBB2-37C5-34AB841C54B5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05B | Arquitectura Tecnica en GCP (Produccion)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4592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Frontend — Veterinario /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Dashboard web (Firebase Hosting — gratuito)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App movil en roadmap (prioridad alta)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Interfaz: ingresa datos → ve prediccion en 1 seg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Modo offline con sincronizacion posterior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64592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64592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API — Cloud Run (FastAPI)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Containerizada en Docker — imagen &lt; 200 MB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Serverless: 0-10 instancias segun demanda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Endpoint: POST /predict — latencia: 7.3 ms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HTTPS + TLS 1.3 · JWT auth (24h) · Rate limit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Costo: $126/ano (min-instances=1)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1239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Modelo — Vertex AI + MLflow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177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StackingRegressor sklearn serializado (pickle)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Monitoreo KS mensual · Reentrenamiento trimestral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Drift detection: KS test (p&lt;0.05) + RMSE +10%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Versionado de modelos con rollback inmediato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Costo: $315/ano (4 reentrenamientos/ano)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06908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406908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1239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Datos y Monitoreo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177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Cloud SQL PostgreSQL: historial de predicciones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Cloud Storage: datasets, artefactos, backups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Cloud Monitoring: SLOs, alertas, uptime checks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Logs de auditoria (retencion 90 dias — LFPDPPP)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Costo total datos+monitoreo: $261/ano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197A77-EE5C-13A4-6F70-3247450AC4E8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06 | SLOs y Monitoreo en Produccion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723" y="1489087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557784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SERVICE SLOs — API en Produccion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76272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22199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P50 Latencia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2199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≤ 50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22199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mediana de requests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557784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89864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P95 Latencia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898648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≤ 200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89864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percentil 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29584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575304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P99 Latencia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575304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≤ 500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57530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percentil 99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06240"/>
            <a:ext cx="557784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25196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Uptime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251960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99.5 %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25196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≤ 43.8 h downtime/año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82896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928616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Error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4928616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&lt; 1 %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928616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errores HTTP 5xx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59552"/>
            <a:ext cx="557784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60527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Error Budget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560527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0.5 %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60527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~43.8 h/año para mantenimiento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1124778"/>
            <a:ext cx="566928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MONITOREO DE MODELO (ML Drift)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636842"/>
            <a:ext cx="566928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63640" y="1636842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167341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KPIs del modelo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057466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RMSE degradation &gt; 10% → trigger retraining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KS test p &lt; 0.05 → data drift detectado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Feature importance shift → revisar pipeline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862138"/>
            <a:ext cx="566928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63640" y="2862138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289871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Alert Policies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282761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P95 &gt; 150 ms por 5 min → alerta Tier 1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Error rate &gt; 0.5% en 10 min → alerta Tier 1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RMSE &gt; 0.673 (10% above baseline) → alerta Tier 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087434"/>
            <a:ext cx="566928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63640" y="4087434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412401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Dashboard GCP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50805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Cloud Monitoring: latencia, throughput, errors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Vertex AI: drift metrics, model versions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MLflow: experimentos y artefactos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312730"/>
            <a:ext cx="566928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63640" y="5312730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534930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Reentrenamiento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73335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Trigger automatico o manual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Revalidacion con hold-out reciente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Promocion con aprobacion del equipo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927A49-4D21-939C-5071-BB4341AB9A2A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07 | Seguridad y Compliance (LFPDPPP)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713232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ROLES IAM — Control de Acceso (GCP)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76272"/>
            <a:ext cx="71323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221992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1E44"/>
                </a:solidFill>
                <a:latin typeface="Avenir Next Condensed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22199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Equipo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22199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Gestion total del stack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713232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898648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1E44"/>
                </a:solidFill>
                <a:latin typeface="Avenir Next Condensed"/>
              </a:rPr>
              <a:t>Veterinario / Operador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898648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Usuarios de campo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898648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Consulta de predicciones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29584"/>
            <a:ext cx="71323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575304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1E44"/>
                </a:solidFill>
                <a:latin typeface="Avenir Next Condensed"/>
              </a:rPr>
              <a:t>Pipeline 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575304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Service 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575304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Reentrenamiento automatizado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06240"/>
            <a:ext cx="713232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251960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1E44"/>
                </a:solidFill>
                <a:latin typeface="Avenir Next Condensed"/>
              </a:rPr>
              <a:t>Sponsor / Readonly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251960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Direccion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25196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Reportes y dashboard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82896"/>
            <a:ext cx="71323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928616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1E44"/>
                </a:solidFill>
                <a:latin typeface="Avenir Next Condensed"/>
              </a:rPr>
              <a:t>Auditor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928616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Cumplimiento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928616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Acceso solo-lectura a logs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1325880"/>
            <a:ext cx="4114800" cy="43891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Century Gothic"/>
              </a:rPr>
              <a:t>Seguridad</a:t>
            </a:r>
            <a:r>
              <a:rPr sz="1300" b="1" dirty="0">
                <a:solidFill>
                  <a:srgbClr val="FFFFFF"/>
                </a:solidFill>
                <a:latin typeface="Century Gothic"/>
              </a:rPr>
              <a:t> y Compliance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1837944"/>
            <a:ext cx="411480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0" y="1837944"/>
            <a:ext cx="4114800" cy="34747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09560" y="18745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Transporte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25856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HTTPS + TLS 1.3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Certificados GCP-managed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063240"/>
            <a:ext cx="411480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0" y="3063240"/>
            <a:ext cx="4114800" cy="34747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09560" y="309981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Autenticacion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3483863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JWT tokens (24h expiry)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OAuth 2.0 con Google IAP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4288536"/>
            <a:ext cx="411480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772400" y="4288536"/>
            <a:ext cx="4114800" cy="34747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09560" y="43251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API Protection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47091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Rate limiting: 100 req/min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Input validation + sanitizacion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5513832"/>
            <a:ext cx="411480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772400" y="5513832"/>
            <a:ext cx="4114800" cy="34747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09560" y="555040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LFPDPPP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5934456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Aplica si se almacenan nombres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Aviso privacidad obligatorio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Minimizacion de datos PII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309360"/>
            <a:ext cx="7217229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6327648"/>
            <a:ext cx="7132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Incident Response (7 fases):  Detectar → Contener → Erradicar → Recuperar → Postmortem → Documentar → Prevenir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BC5DAF45-63BA-C184-B119-5A13F0361EBF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08 | Plan de Handoff y Operaciones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5715000" cy="2331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6420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19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IaC — Terraform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7 modulos: cloudrun.tf, storage.tf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sql.tf, monitoring.tf, iam.tf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vertex.tf, variables.tf</a:t>
            </a:r>
          </a:p>
          <a:p>
            <a:pPr algn="l"/>
            <a:endParaRPr sz="1050" b="0">
              <a:solidFill>
                <a:srgbClr val="161E44"/>
              </a:solidFill>
              <a:latin typeface="Avenir Next Condensed"/>
            </a:endParaRP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Deployment: terraform init → plan → apply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Rollback: redirigir tráfico a versión estable · backup solo si falla BD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664208"/>
            <a:ext cx="5715000" cy="2331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664208"/>
            <a:ext cx="571500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719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Runbook Operaciones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6 procedimientos documentados: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Deploy nueva versión (30 min)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Rollback a versión anterior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Escalado horizontal (max 10 instancias)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Reentrenamiento del modelo (2–3h)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Incident response y decommissioning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33088"/>
            <a:ext cx="5715000" cy="2331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133088"/>
            <a:ext cx="5715000" cy="43891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187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Knowledge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63440"/>
            <a:ext cx="539496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161E44"/>
                </a:solidFill>
                <a:latin typeface="Avenir Next Condensed"/>
              </a:rPr>
              <a:t>Plan de 3 </a:t>
            </a:r>
            <a:r>
              <a:rPr sz="1050" b="0" dirty="0" err="1">
                <a:solidFill>
                  <a:srgbClr val="161E44"/>
                </a:solidFill>
                <a:latin typeface="Avenir Next Condensed"/>
              </a:rPr>
              <a:t>sesiones</a:t>
            </a:r>
            <a:r>
              <a:rPr sz="1050" b="0" dirty="0">
                <a:solidFill>
                  <a:srgbClr val="161E44"/>
                </a:solidFill>
                <a:latin typeface="Avenir Next Condensed"/>
              </a:rPr>
              <a:t>:</a:t>
            </a:r>
          </a:p>
          <a:p>
            <a:pPr algn="l"/>
            <a:r>
              <a:rPr sz="1050" b="0" dirty="0">
                <a:solidFill>
                  <a:srgbClr val="161E44"/>
                </a:solidFill>
                <a:latin typeface="Avenir Next Condensed"/>
              </a:rPr>
              <a:t>• </a:t>
            </a:r>
            <a:r>
              <a:rPr sz="1050" b="0" dirty="0" err="1">
                <a:solidFill>
                  <a:srgbClr val="161E44"/>
                </a:solidFill>
                <a:latin typeface="Avenir Next Condensed"/>
              </a:rPr>
              <a:t>Sesion</a:t>
            </a:r>
            <a:r>
              <a:rPr sz="1050" b="0" dirty="0">
                <a:solidFill>
                  <a:srgbClr val="161E44"/>
                </a:solidFill>
                <a:latin typeface="Avenir Next Condensed"/>
              </a:rPr>
              <a:t> 1: </a:t>
            </a:r>
            <a:r>
              <a:rPr sz="1050" b="0" dirty="0" err="1">
                <a:solidFill>
                  <a:srgbClr val="161E44"/>
                </a:solidFill>
                <a:latin typeface="Avenir Next Condensed"/>
              </a:rPr>
              <a:t>Arquitectura</a:t>
            </a:r>
            <a:r>
              <a:rPr sz="1050" b="0" dirty="0">
                <a:solidFill>
                  <a:srgbClr val="161E44"/>
                </a:solidFill>
                <a:latin typeface="Avenir Next Condensed"/>
              </a:rPr>
              <a:t> y GCP</a:t>
            </a:r>
          </a:p>
          <a:p>
            <a:pPr algn="l"/>
            <a:r>
              <a:rPr sz="1050" b="0" dirty="0">
                <a:solidFill>
                  <a:srgbClr val="161E44"/>
                </a:solidFill>
                <a:latin typeface="Avenir Next Condensed"/>
              </a:rPr>
              <a:t>• </a:t>
            </a:r>
            <a:r>
              <a:rPr sz="1050" b="0" dirty="0" err="1">
                <a:solidFill>
                  <a:srgbClr val="161E44"/>
                </a:solidFill>
                <a:latin typeface="Avenir Next Condensed"/>
              </a:rPr>
              <a:t>Sesion</a:t>
            </a:r>
            <a:r>
              <a:rPr sz="1050" b="0" dirty="0">
                <a:solidFill>
                  <a:srgbClr val="161E44"/>
                </a:solidFill>
                <a:latin typeface="Avenir Next Condensed"/>
              </a:rPr>
              <a:t> 2: </a:t>
            </a:r>
            <a:r>
              <a:rPr sz="1050" b="0" dirty="0" err="1">
                <a:solidFill>
                  <a:srgbClr val="161E44"/>
                </a:solidFill>
                <a:latin typeface="Avenir Next Condensed"/>
              </a:rPr>
              <a:t>Operaciones</a:t>
            </a:r>
            <a:r>
              <a:rPr sz="1050" b="0" dirty="0">
                <a:solidFill>
                  <a:srgbClr val="161E44"/>
                </a:solidFill>
                <a:latin typeface="Avenir Next Condensed"/>
              </a:rPr>
              <a:t> y runbook</a:t>
            </a:r>
          </a:p>
          <a:p>
            <a:pPr algn="l"/>
            <a:r>
              <a:rPr sz="1050" b="0" dirty="0">
                <a:solidFill>
                  <a:srgbClr val="161E44"/>
                </a:solidFill>
                <a:latin typeface="Avenir Next Condensed"/>
              </a:rPr>
              <a:t>• </a:t>
            </a:r>
            <a:r>
              <a:rPr sz="1050" b="0" dirty="0" err="1">
                <a:solidFill>
                  <a:srgbClr val="161E44"/>
                </a:solidFill>
                <a:latin typeface="Avenir Next Condensed"/>
              </a:rPr>
              <a:t>Sesion</a:t>
            </a:r>
            <a:r>
              <a:rPr sz="1050" b="0" dirty="0">
                <a:solidFill>
                  <a:srgbClr val="161E44"/>
                </a:solidFill>
                <a:latin typeface="Avenir Next Condensed"/>
              </a:rPr>
              <a:t> 3: ML monitoring y retraining</a:t>
            </a:r>
          </a:p>
          <a:p>
            <a:pPr algn="l"/>
            <a:endParaRPr sz="1050" b="0" dirty="0">
              <a:solidFill>
                <a:srgbClr val="161E44"/>
              </a:solidFill>
              <a:latin typeface="Avenir Next Condensed"/>
            </a:endParaRPr>
          </a:p>
          <a:p>
            <a:pPr algn="l"/>
            <a:r>
              <a:rPr sz="1050" b="0" dirty="0" err="1">
                <a:solidFill>
                  <a:srgbClr val="161E44"/>
                </a:solidFill>
                <a:latin typeface="Avenir Next Condensed"/>
              </a:rPr>
              <a:t>Documentacion</a:t>
            </a:r>
            <a:r>
              <a:rPr sz="1050" b="0" dirty="0">
                <a:solidFill>
                  <a:srgbClr val="161E44"/>
                </a:solidFill>
                <a:latin typeface="Avenir Next Condensed"/>
              </a:rPr>
              <a:t> completa </a:t>
            </a:r>
            <a:r>
              <a:rPr sz="1050" b="0" dirty="0" err="1">
                <a:solidFill>
                  <a:srgbClr val="161E44"/>
                </a:solidFill>
                <a:latin typeface="Avenir Next Condensed"/>
              </a:rPr>
              <a:t>en</a:t>
            </a:r>
            <a:r>
              <a:rPr sz="1050" b="0" dirty="0">
                <a:solidFill>
                  <a:srgbClr val="161E44"/>
                </a:solidFill>
                <a:latin typeface="Avenir Next Condensed"/>
              </a:rPr>
              <a:t> Confluence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133088"/>
            <a:ext cx="5715000" cy="2331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413308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187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Century Gothic"/>
              </a:rPr>
              <a:t>Decommissioning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634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30 dias antes: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  → Backup completo de datos y modelos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15 dias antes: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  → Redirect de trafico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Dia 0: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  → Shutdown + terraform destroy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  → Evidencia archivada 5 años (LFPDPPP)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7682DE-58EC-8AD8-4ED3-D9D3AB03E022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08B | Como lo Usa el Veterinario en Campo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5394960" cy="4480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E44"/>
                </a:solidFill>
                <a:latin typeface="Century Gothic"/>
              </a:rPr>
              <a:t>Flujo de uso — 4 pasos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12848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26771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1. Veterinario ingresa: ID vaca, mes de lactacion,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   litros/dia producidos y raza (Holstein / Jersey / PS)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72968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22783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2. API recibe datos → StackingRegressor predice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   intensidad de metano en 7 milisegundos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33087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3. Sistema responde: "Vaca #A47 → 18.3 g CH4/kg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   Nivel: MEDIO — supera promedio del hato"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93208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14807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4. Recomendacion: "Reducir dosis nutraceutico 15%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   Re-evaluar en 7 dias — alerta activada en dashboard"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645920"/>
            <a:ext cx="5760720" cy="210312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7190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Century Gothic"/>
              </a:rPr>
              <a:t>Sin modelo vs Con 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488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venir Next Condensed"/>
              </a:rPr>
              <a:t>Sin modelo: 1 dosis estandar fija para las 100 vacas</a:t>
            </a:r>
          </a:p>
          <a:p>
            <a:r>
              <a:rPr sz="1300" b="0">
                <a:solidFill>
                  <a:srgbClr val="FFFFFF"/>
                </a:solidFill>
                <a:latin typeface="Avenir Next Condensed"/>
              </a:rPr>
              <a:t>Resultado actual: 23% en nivel critico de forma permanente</a:t>
            </a:r>
          </a:p>
          <a:p>
            <a:endParaRPr sz="1300" b="0">
              <a:solidFill>
                <a:srgbClr val="FFFFFF"/>
              </a:solidFill>
              <a:latin typeface="Avenir Next Condensed"/>
            </a:endParaRPr>
          </a:p>
          <a:p>
            <a:r>
              <a:rPr sz="1300" b="0">
                <a:solidFill>
                  <a:srgbClr val="FFFFFF"/>
                </a:solidFill>
                <a:latin typeface="Avenir Next Condensed"/>
              </a:rPr>
              <a:t>Con modelo: dosis personalizada por vaca cada dia</a:t>
            </a:r>
          </a:p>
          <a:p>
            <a:r>
              <a:rPr sz="1300" b="0">
                <a:solidFill>
                  <a:srgbClr val="FFFFFF"/>
                </a:solidFill>
                <a:latin typeface="Avenir Next Condensed"/>
              </a:rPr>
              <a:t>Resultado esperado: -50% dosis excedentes | +1% eficiencia</a:t>
            </a:r>
          </a:p>
          <a:p>
            <a:r>
              <a:rPr sz="1300" b="0">
                <a:solidFill>
                  <a:srgbClr val="FFFFFF"/>
                </a:solidFill>
                <a:latin typeface="Avenir Next Condensed"/>
              </a:rPr>
              <a:t>Ahorro proyectado: $100/vaca/ano = $10,000 para el hato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886200"/>
            <a:ext cx="576072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950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E44"/>
                </a:solidFill>
                <a:latin typeface="Century Gothic"/>
              </a:rPr>
              <a:t>Impacto en numeros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$10,000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ahorro ano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7.3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por prediccion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149%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ROI primer 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9024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99.5%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9024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uptime SLO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C62B54-AB75-4E5C-5E32-5E737DDF1179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09 | Analisis Costo-Beneficio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566928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COSTOS — Ano 1 (por fase CRISP-ML)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76272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21284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Desarrollo e integracion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128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$3,200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70632"/>
            <a:ext cx="566928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8072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Infraestructura GCP (Cloud Run + Vertex AI + SQL + Monitoring)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072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$732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64991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Adquisicion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015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$800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566928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9959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Capacitacion de personal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9959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53712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59028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Mantenimiento y reentrenamiento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5902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$720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48072"/>
            <a:ext cx="566928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518464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Seg. + Compliance (incluido en GCP)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1846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42432"/>
            <a:ext cx="5669280" cy="53035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779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venir Next Condensed"/>
              </a:rPr>
              <a:t>TOTAL COSTOS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7790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D4A017"/>
                </a:solidFill>
                <a:latin typeface="Avenir Next Condensed"/>
              </a:rPr>
              <a:t>$5,952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664208"/>
            <a:ext cx="5577840" cy="438912"/>
          </a:xfrm>
          <a:prstGeom prst="rect">
            <a:avLst/>
          </a:prstGeom>
          <a:solidFill>
            <a:srgbClr val="00A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BENEFICIOS — Ano 1 (estimados)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176272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222199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Ahorro en suplementacion optima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221992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$10,000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852928"/>
            <a:ext cx="5577840" cy="603504"/>
          </a:xfrm>
          <a:prstGeom prst="rect">
            <a:avLst/>
          </a:prstGeom>
          <a:solidFill>
            <a:srgbClr val="F0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2898648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Mejora eficiencia produccion (+1%)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898648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$2,500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529584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3575304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Créditos de carbono (~50 ton CO₂e)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3575304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$1,500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206240"/>
            <a:ext cx="5577840" cy="603504"/>
          </a:xfrm>
          <a:prstGeom prst="rect">
            <a:avLst/>
          </a:prstGeom>
          <a:solidFill>
            <a:srgbClr val="F0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4251960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Reduccion costos veterinarios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4251960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$800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882896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4928616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Potencial adicional (no contabilizado)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4928616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$0 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559552"/>
            <a:ext cx="5577840" cy="603504"/>
          </a:xfrm>
          <a:prstGeom prst="rect">
            <a:avLst/>
          </a:prstGeom>
          <a:solidFill>
            <a:srgbClr val="00A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0" y="560527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venir Next Condensed"/>
              </a:rPr>
              <a:t>TOTAL BENEFICIOS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5605272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venir Next Condensed"/>
              </a:rPr>
              <a:t>$14,800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327648"/>
            <a:ext cx="11521440" cy="329184"/>
          </a:xfrm>
          <a:prstGeom prst="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61E44"/>
                </a:solidFill>
                <a:latin typeface="Century Gothic"/>
              </a:rPr>
              <a:t>ROI Ano 1: 149%   |   Periodo de recuperacion: ~5.0 meses   |   TCO 12 meses: $5,952 USD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7482507-7421-30B7-03F0-856A2E6122D1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10 | Riesgos y Desafios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571500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6420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19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4444"/>
                </a:solidFill>
                <a:latin typeface="Century Gothic"/>
              </a:rPr>
              <a:t>Riesgo: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46888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Sesgo en sensores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Datos faltantes en calor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Drift estacional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6"/>
                </a:solidFill>
                <a:latin typeface="Century Gothic"/>
              </a:rPr>
              <a:t>Mitigacion: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46888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Pipeline deteccion anomalias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Reentrenamiento trimestral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Validacion cruzada temporal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664208"/>
            <a:ext cx="571500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166420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719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SEGURIDAD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4444"/>
                </a:solidFill>
                <a:latin typeface="Century Gothic"/>
              </a:rPr>
              <a:t>Riesgo: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6888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Ataques adversariales a API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Data poisoning en retrain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Filtracion de datos PII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6"/>
                </a:solidFill>
                <a:latin typeface="Century Gothic"/>
              </a:rPr>
              <a:t>Mitigacion: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46888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Auth + rate limiting API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Validacion estricta de inputs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Encriptacion GCP end-to-end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33088"/>
            <a:ext cx="571500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413308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187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CONFIANZA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663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4444"/>
                </a:solidFill>
                <a:latin typeface="Century Gothic"/>
              </a:rPr>
              <a:t>Riesgo: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3776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Baja adopcion (veterinarios)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Sobreconfianza en predicciones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Falta de explicabilidad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79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6"/>
                </a:solidFill>
                <a:latin typeface="Century Gothic"/>
              </a:rPr>
              <a:t>Mitigacion: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79" y="493776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SHAP para explicar alertas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Intervalos de confianza visibles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Capacitacion y onboarding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133088"/>
            <a:ext cx="571500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413308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4187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CUMPLIMIENTO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663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4444"/>
                </a:solidFill>
                <a:latin typeface="Century Gothic"/>
              </a:rPr>
              <a:t>Riesgo: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93776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Regulacion datos agropecuarios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Normas NOM-SEMARNAT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LFPDPPP — PII de propietarios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6"/>
                </a:solidFill>
                <a:latin typeface="Century Gothic"/>
              </a:rPr>
              <a:t>Mitigacion: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93776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Documentacion CRISP-ML(Q)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Versionado en MLflow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Aviso de privacidad obligatorio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9BB148C-9F02-E91D-C3BB-7E1308D00E51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10 | Trabajos Futuros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6420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282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AutoML &amp; Series Temporales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21284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XGBoost, LightGBM y redes LSTM para capturar patrones de lactacion con mayor precision.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66420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166420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17282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IoT Tiempo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21284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Sensores wearables (collar o rumen bolus) para prediccion continua y alertas automaticas.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66420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166420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17282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Multi-granja Escalable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21284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Federated Learning para entrenar con multiples granjas sin compartir datos sensibles.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4164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04164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1056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Modulo de Carbono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9028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Certificacion automatica de creditos usando el modelo como evidencia (Verra, Gold Standard).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04164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43400" y="404164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0" y="41056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Dashboard Predictivo Avanzado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59028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Panel de control en tiempo real con historico por vaca,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tendencias del hato y reportes de cumplimiento ambiental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automatizados. Integracion con sistemas ERP agropecuarios.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04164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404164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41056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App Movil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59028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Version movil con modo offline y sincronizacion para uso en campo.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880D810-006C-AA90-D087-C81C561CAC4E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11 | Criterios Go / No-Go — CRISP-ML(Q)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4592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Precision del 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RMSE &lt; 0.75 g CH4/kg  →  0.6117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R2 &gt; 0.95             →  0.9779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Latencia &lt; 100 ms     →  7.3 ms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Test estadistico: p &lt; 0.0001 vs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64592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64592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Infraestructura y SLOs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Plataforma cloud evaluada   →  GCP 8.85/10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SLO Uptime 99.5% definido  →  configurado 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Pipeline reentrenamiento   →  automatizado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IaC Terraform: 7 modulos listos para deploy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1239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Seguridad y Cumplimiento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177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IAM 5 roles minimo privilegio  →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Compliance LFPDPPP             →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Incident Response 7 fases      →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Encriptacion TLS1.3 + AES-256  →  [GO]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06908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406908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1239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Viabilidad de Negocio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177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ROI &gt; 100% en ano 1   →  149% 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Plan de handoff       →  Terraform + Runbook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8 riesgos clasificados en 4 categorias  [GO]</a:t>
            </a:r>
          </a:p>
          <a:p>
            <a:r>
              <a:rPr sz="1200" b="0">
                <a:solidFill>
                  <a:srgbClr val="161E44"/>
                </a:solidFill>
                <a:latin typeface="Avenir Next Condensed"/>
              </a:rPr>
              <a:t>Dataset representativo: 73K registros  [GO]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197A77-EE5C-13A4-6F70-3247450AC4E8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38082"/>
            <a:ext cx="11521440" cy="484632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103120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entury Gothic"/>
              </a:rPr>
              <a:t>Decision: 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C896"/>
                </a:solidFill>
                <a:latin typeface="Avenir Next Condensed"/>
              </a:rPr>
              <a:t>El modelo cumple los 9 criterios de exito definidos en CRISP-ML(Q)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840480"/>
            <a:ext cx="2286000" cy="1188720"/>
          </a:xfrm>
          <a:prstGeom prst="rect">
            <a:avLst/>
          </a:prstGeom>
          <a:solidFill>
            <a:srgbClr val="1B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88620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96"/>
                </a:solidFill>
                <a:latin typeface="Century Gothic"/>
              </a:rPr>
              <a:t>RMSE 0.6117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venir Next Condensed"/>
              </a:rPr>
              <a:t>g CH4/kg leche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840480"/>
            <a:ext cx="2286000" cy="1188720"/>
          </a:xfrm>
          <a:prstGeom prst="rect">
            <a:avLst/>
          </a:prstGeom>
          <a:solidFill>
            <a:srgbClr val="1B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39" y="388620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96"/>
                </a:solidFill>
                <a:latin typeface="Century Gothic"/>
              </a:rPr>
              <a:t>R2 0.9779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venir Next Condensed"/>
              </a:rPr>
              <a:t>97.8% varianza explicada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2286000" cy="1188720"/>
          </a:xfrm>
          <a:prstGeom prst="rect">
            <a:avLst/>
          </a:prstGeom>
          <a:solidFill>
            <a:srgbClr val="1B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59" y="388620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96"/>
                </a:solidFill>
                <a:latin typeface="Century Gothic"/>
              </a:rPr>
              <a:t>7.3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venir Next Condensed"/>
              </a:rPr>
              <a:t>latencia real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39" y="3840480"/>
            <a:ext cx="2286000" cy="1188720"/>
          </a:xfrm>
          <a:prstGeom prst="rect">
            <a:avLst/>
          </a:prstGeom>
          <a:solidFill>
            <a:srgbClr val="1B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79" y="388620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96"/>
                </a:solidFill>
                <a:latin typeface="Century Gothic"/>
              </a:rPr>
              <a:t>ROI 149%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79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venir Next Condensed"/>
              </a:rPr>
              <a:t>primer año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3949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4A017"/>
                </a:solidFill>
                <a:latin typeface="Avenir Next Condensed"/>
              </a:rPr>
              <a:t>Equipo 48  |  Machine Learning  |  Tecnologico de Monterrey  |  Junio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6BC9DE8-35D3-CA55-4088-A34FA6B29BDC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2243</Words>
  <Application>Microsoft Macintosh PowerPoint</Application>
  <PresentationFormat>Panorámica</PresentationFormat>
  <Paragraphs>575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Albra Regular</vt:lpstr>
      <vt:lpstr>Arial</vt:lpstr>
      <vt:lpstr>Avenir Next Condensed</vt:lpstr>
      <vt:lpstr>Calibri</vt:lpstr>
      <vt:lpstr>Calibri Light</vt:lpstr>
      <vt:lpstr>Century Gothic</vt:lpstr>
      <vt:lpstr>Gellix</vt:lpstr>
      <vt:lpstr>Tema de Office</vt:lpstr>
      <vt:lpstr>Identificación espacio-temporal de compuestos nutracéuticos en ganado lechero mediante inteligencia artificial  Tecnológico de Monterrey</vt:lpstr>
      <vt:lpstr>Agenda</vt:lpstr>
      <vt:lpstr>01 | Problematica y Objetivo</vt:lpstr>
      <vt:lpstr>02 | Hallazgos del Analisis Exploratorio</vt:lpstr>
      <vt:lpstr>03 | Modelos Desarrollados</vt:lpstr>
      <vt:lpstr>04 | Solucion Final: StackingRegressor</vt:lpstr>
      <vt:lpstr>05 | Recomendaciones Comerciales</vt:lpstr>
      <vt:lpstr>05B | Arquitectura Tecnica en GCP (Produccion)</vt:lpstr>
      <vt:lpstr>06 | SLOs y Monitoreo en Produccion</vt:lpstr>
      <vt:lpstr>07 | Seguridad y Compliance (LFPDPPP)</vt:lpstr>
      <vt:lpstr>08 | Plan de Handoff y Operaciones</vt:lpstr>
      <vt:lpstr>08B | Como lo Usa el Veterinario en Campo</vt:lpstr>
      <vt:lpstr>09 | Analisis Costo-Beneficio</vt:lpstr>
      <vt:lpstr>10 | Riesgos y Desafios</vt:lpstr>
      <vt:lpstr>10 | Trabajos Futuros</vt:lpstr>
      <vt:lpstr>11 | Criterios Go / No-Go — CRISP-ML(Q)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del proyecto  Empresa / Organización</dc:title>
  <dc:creator>Grettel Barceló Alonso</dc:creator>
  <cp:lastModifiedBy>Oscar Luis Guadarrama Jiménez</cp:lastModifiedBy>
  <cp:revision>4</cp:revision>
  <dcterms:created xsi:type="dcterms:W3CDTF">2024-03-01T23:41:35Z</dcterms:created>
  <dcterms:modified xsi:type="dcterms:W3CDTF">2026-06-19T16:58:24Z</dcterms:modified>
</cp:coreProperties>
</file>