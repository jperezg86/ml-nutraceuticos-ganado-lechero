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B2749"/>
    <a:srgbClr val="001D58"/>
    <a:srgbClr val="4E8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1136CAF-04F0-46BD-B6CF-AE07A5B039E0}" v="12" dt="2026-06-18T02:26:19.38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31"/>
  </p:normalViewPr>
  <p:slideViewPr>
    <p:cSldViewPr snapToGrid="0">
      <p:cViewPr varScale="1">
        <p:scale>
          <a:sx n="78" d="100"/>
          <a:sy n="78" d="100"/>
        </p:scale>
        <p:origin x="126" y="16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scar Luis Guadarrama Jimenez" userId="641fc7e3ac89e697" providerId="LiveId" clId="{5979CE5D-2727-4807-9743-5497872683E2}"/>
    <pc:docChg chg="undo redo custSel addSld delSld modSld">
      <pc:chgData name="Oscar Luis Guadarrama Jimenez" userId="641fc7e3ac89e697" providerId="LiveId" clId="{5979CE5D-2727-4807-9743-5497872683E2}" dt="2026-06-18T02:29:15.890" v="143" actId="1076"/>
      <pc:docMkLst>
        <pc:docMk/>
      </pc:docMkLst>
      <pc:sldChg chg="modSp mod">
        <pc:chgData name="Oscar Luis Guadarrama Jimenez" userId="641fc7e3ac89e697" providerId="LiveId" clId="{5979CE5D-2727-4807-9743-5497872683E2}" dt="2026-06-18T02:26:42.619" v="104" actId="1076"/>
        <pc:sldMkLst>
          <pc:docMk/>
          <pc:sldMk cId="2493874455" sldId="256"/>
        </pc:sldMkLst>
        <pc:spChg chg="mod">
          <ac:chgData name="Oscar Luis Guadarrama Jimenez" userId="641fc7e3ac89e697" providerId="LiveId" clId="{5979CE5D-2727-4807-9743-5497872683E2}" dt="2026-06-18T02:26:42.619" v="104" actId="1076"/>
          <ac:spMkLst>
            <pc:docMk/>
            <pc:sldMk cId="2493874455" sldId="256"/>
            <ac:spMk id="2" creationId="{809871FD-6892-EE65-A61F-660AD52CAD6E}"/>
          </ac:spMkLst>
        </pc:spChg>
        <pc:spChg chg="mod">
          <ac:chgData name="Oscar Luis Guadarrama Jimenez" userId="641fc7e3ac89e697" providerId="LiveId" clId="{5979CE5D-2727-4807-9743-5497872683E2}" dt="2026-06-18T02:26:32.533" v="101" actId="313"/>
          <ac:spMkLst>
            <pc:docMk/>
            <pc:sldMk cId="2493874455" sldId="256"/>
            <ac:spMk id="3" creationId="{6477E962-0DC9-2DBB-100A-EDF92E708ADE}"/>
          </ac:spMkLst>
        </pc:spChg>
      </pc:sldChg>
      <pc:sldChg chg="add del">
        <pc:chgData name="Oscar Luis Guadarrama Jimenez" userId="641fc7e3ac89e697" providerId="LiveId" clId="{5979CE5D-2727-4807-9743-5497872683E2}" dt="2026-06-18T02:25:19.437" v="51" actId="47"/>
        <pc:sldMkLst>
          <pc:docMk/>
          <pc:sldMk cId="633154655" sldId="257"/>
        </pc:sldMkLst>
      </pc:sldChg>
      <pc:sldChg chg="modSp mod">
        <pc:chgData name="Oscar Luis Guadarrama Jimenez" userId="641fc7e3ac89e697" providerId="LiveId" clId="{5979CE5D-2727-4807-9743-5497872683E2}" dt="2026-06-18T02:27:31.821" v="114" actId="1035"/>
        <pc:sldMkLst>
          <pc:docMk/>
          <pc:sldMk cId="0" sldId="258"/>
        </pc:sldMkLst>
        <pc:spChg chg="mod">
          <ac:chgData name="Oscar Luis Guadarrama Jimenez" userId="641fc7e3ac89e697" providerId="LiveId" clId="{5979CE5D-2727-4807-9743-5497872683E2}" dt="2026-06-18T02:27:31.821" v="114" actId="1035"/>
          <ac:spMkLst>
            <pc:docMk/>
            <pc:sldMk cId="0" sldId="258"/>
            <ac:spMk id="10" creationId="{BA056F29-3298-1160-5F8C-8B8F0C5D6492}"/>
          </ac:spMkLst>
        </pc:spChg>
      </pc:sldChg>
      <pc:sldChg chg="addSp delSp mod">
        <pc:chgData name="Oscar Luis Guadarrama Jimenez" userId="641fc7e3ac89e697" providerId="LiveId" clId="{5979CE5D-2727-4807-9743-5497872683E2}" dt="2026-06-18T02:27:37.227" v="116" actId="22"/>
        <pc:sldMkLst>
          <pc:docMk/>
          <pc:sldMk cId="0" sldId="259"/>
        </pc:sldMkLst>
        <pc:spChg chg="add">
          <ac:chgData name="Oscar Luis Guadarrama Jimenez" userId="641fc7e3ac89e697" providerId="LiveId" clId="{5979CE5D-2727-4807-9743-5497872683E2}" dt="2026-06-18T02:27:37.227" v="116" actId="22"/>
          <ac:spMkLst>
            <pc:docMk/>
            <pc:sldMk cId="0" sldId="259"/>
            <ac:spMk id="3" creationId="{09C62B54-AB75-4E5C-5E32-5E737DDF1179}"/>
          </ac:spMkLst>
        </pc:spChg>
        <pc:spChg chg="del">
          <ac:chgData name="Oscar Luis Guadarrama Jimenez" userId="641fc7e3ac89e697" providerId="LiveId" clId="{5979CE5D-2727-4807-9743-5497872683E2}" dt="2026-06-18T02:27:36.980" v="115" actId="478"/>
          <ac:spMkLst>
            <pc:docMk/>
            <pc:sldMk cId="0" sldId="259"/>
            <ac:spMk id="10" creationId="{BA056F29-3298-1160-5F8C-8B8F0C5D6492}"/>
          </ac:spMkLst>
        </pc:spChg>
      </pc:sldChg>
      <pc:sldChg chg="addSp delSp mod">
        <pc:chgData name="Oscar Luis Guadarrama Jimenez" userId="641fc7e3ac89e697" providerId="LiveId" clId="{5979CE5D-2727-4807-9743-5497872683E2}" dt="2026-06-18T02:27:42.362" v="118" actId="22"/>
        <pc:sldMkLst>
          <pc:docMk/>
          <pc:sldMk cId="0" sldId="260"/>
        </pc:sldMkLst>
        <pc:spChg chg="add">
          <ac:chgData name="Oscar Luis Guadarrama Jimenez" userId="641fc7e3ac89e697" providerId="LiveId" clId="{5979CE5D-2727-4807-9743-5497872683E2}" dt="2026-06-18T02:27:42.362" v="118" actId="22"/>
          <ac:spMkLst>
            <pc:docMk/>
            <pc:sldMk cId="0" sldId="260"/>
            <ac:spMk id="3" creationId="{27197A77-EE5C-13A4-6F70-3247450AC4E8}"/>
          </ac:spMkLst>
        </pc:spChg>
        <pc:spChg chg="del">
          <ac:chgData name="Oscar Luis Guadarrama Jimenez" userId="641fc7e3ac89e697" providerId="LiveId" clId="{5979CE5D-2727-4807-9743-5497872683E2}" dt="2026-06-18T02:27:42.128" v="117" actId="478"/>
          <ac:spMkLst>
            <pc:docMk/>
            <pc:sldMk cId="0" sldId="260"/>
            <ac:spMk id="10" creationId="{BA056F29-3298-1160-5F8C-8B8F0C5D6492}"/>
          </ac:spMkLst>
        </pc:spChg>
      </pc:sldChg>
      <pc:sldChg chg="addSp delSp mod">
        <pc:chgData name="Oscar Luis Guadarrama Jimenez" userId="641fc7e3ac89e697" providerId="LiveId" clId="{5979CE5D-2727-4807-9743-5497872683E2}" dt="2026-06-18T02:27:47.567" v="120" actId="22"/>
        <pc:sldMkLst>
          <pc:docMk/>
          <pc:sldMk cId="0" sldId="261"/>
        </pc:sldMkLst>
        <pc:spChg chg="add">
          <ac:chgData name="Oscar Luis Guadarrama Jimenez" userId="641fc7e3ac89e697" providerId="LiveId" clId="{5979CE5D-2727-4807-9743-5497872683E2}" dt="2026-06-18T02:27:47.567" v="120" actId="22"/>
          <ac:spMkLst>
            <pc:docMk/>
            <pc:sldMk cId="0" sldId="261"/>
            <ac:spMk id="3" creationId="{97049163-D85B-AF31-EE19-B82B7469EECB}"/>
          </ac:spMkLst>
        </pc:spChg>
        <pc:spChg chg="del">
          <ac:chgData name="Oscar Luis Guadarrama Jimenez" userId="641fc7e3ac89e697" providerId="LiveId" clId="{5979CE5D-2727-4807-9743-5497872683E2}" dt="2026-06-18T02:27:47.340" v="119" actId="478"/>
          <ac:spMkLst>
            <pc:docMk/>
            <pc:sldMk cId="0" sldId="261"/>
            <ac:spMk id="10" creationId="{BA056F29-3298-1160-5F8C-8B8F0C5D6492}"/>
          </ac:spMkLst>
        </pc:spChg>
      </pc:sldChg>
      <pc:sldChg chg="addSp delSp mod">
        <pc:chgData name="Oscar Luis Guadarrama Jimenez" userId="641fc7e3ac89e697" providerId="LiveId" clId="{5979CE5D-2727-4807-9743-5497872683E2}" dt="2026-06-18T02:27:55.763" v="122" actId="22"/>
        <pc:sldMkLst>
          <pc:docMk/>
          <pc:sldMk cId="0" sldId="262"/>
        </pc:sldMkLst>
        <pc:spChg chg="add">
          <ac:chgData name="Oscar Luis Guadarrama Jimenez" userId="641fc7e3ac89e697" providerId="LiveId" clId="{5979CE5D-2727-4807-9743-5497872683E2}" dt="2026-06-18T02:27:55.763" v="122" actId="22"/>
          <ac:spMkLst>
            <pc:docMk/>
            <pc:sldMk cId="0" sldId="262"/>
            <ac:spMk id="3" creationId="{B9F17BA8-FE5D-E50C-1ECD-7EEE45ED4745}"/>
          </ac:spMkLst>
        </pc:spChg>
        <pc:spChg chg="del">
          <ac:chgData name="Oscar Luis Guadarrama Jimenez" userId="641fc7e3ac89e697" providerId="LiveId" clId="{5979CE5D-2727-4807-9743-5497872683E2}" dt="2026-06-18T02:27:55.455" v="121" actId="478"/>
          <ac:spMkLst>
            <pc:docMk/>
            <pc:sldMk cId="0" sldId="262"/>
            <ac:spMk id="10" creationId="{BA056F29-3298-1160-5F8C-8B8F0C5D6492}"/>
          </ac:spMkLst>
        </pc:spChg>
      </pc:sldChg>
      <pc:sldChg chg="addSp delSp modSp mod">
        <pc:chgData name="Oscar Luis Guadarrama Jimenez" userId="641fc7e3ac89e697" providerId="LiveId" clId="{5979CE5D-2727-4807-9743-5497872683E2}" dt="2026-06-18T02:28:01.544" v="124" actId="22"/>
        <pc:sldMkLst>
          <pc:docMk/>
          <pc:sldMk cId="0" sldId="263"/>
        </pc:sldMkLst>
        <pc:spChg chg="add">
          <ac:chgData name="Oscar Luis Guadarrama Jimenez" userId="641fc7e3ac89e697" providerId="LiveId" clId="{5979CE5D-2727-4807-9743-5497872683E2}" dt="2026-06-18T02:28:01.544" v="124" actId="22"/>
          <ac:spMkLst>
            <pc:docMk/>
            <pc:sldMk cId="0" sldId="263"/>
            <ac:spMk id="3" creationId="{246D93E6-E643-BBB2-37C5-34AB841C54B5}"/>
          </ac:spMkLst>
        </pc:spChg>
        <pc:spChg chg="del">
          <ac:chgData name="Oscar Luis Guadarrama Jimenez" userId="641fc7e3ac89e697" providerId="LiveId" clId="{5979CE5D-2727-4807-9743-5497872683E2}" dt="2026-06-18T02:28:01.116" v="123" actId="478"/>
          <ac:spMkLst>
            <pc:docMk/>
            <pc:sldMk cId="0" sldId="263"/>
            <ac:spMk id="10" creationId="{BA056F29-3298-1160-5F8C-8B8F0C5D6492}"/>
          </ac:spMkLst>
        </pc:spChg>
        <pc:spChg chg="mod">
          <ac:chgData name="Oscar Luis Guadarrama Jimenez" userId="641fc7e3ac89e697" providerId="LiveId" clId="{5979CE5D-2727-4807-9743-5497872683E2}" dt="2026-06-18T02:25:21.674" v="58" actId="1076"/>
          <ac:spMkLst>
            <pc:docMk/>
            <pc:sldMk cId="0" sldId="263"/>
            <ac:spMk id="38" creationId="{00000000-0000-0000-0000-000000000000}"/>
          </ac:spMkLst>
        </pc:spChg>
        <pc:spChg chg="mod">
          <ac:chgData name="Oscar Luis Guadarrama Jimenez" userId="641fc7e3ac89e697" providerId="LiveId" clId="{5979CE5D-2727-4807-9743-5497872683E2}" dt="2026-06-18T02:25:21.674" v="58" actId="1076"/>
          <ac:spMkLst>
            <pc:docMk/>
            <pc:sldMk cId="0" sldId="263"/>
            <ac:spMk id="39" creationId="{00000000-0000-0000-0000-000000000000}"/>
          </ac:spMkLst>
        </pc:spChg>
        <pc:spChg chg="mod">
          <ac:chgData name="Oscar Luis Guadarrama Jimenez" userId="641fc7e3ac89e697" providerId="LiveId" clId="{5979CE5D-2727-4807-9743-5497872683E2}" dt="2026-06-18T02:25:21.674" v="58" actId="1076"/>
          <ac:spMkLst>
            <pc:docMk/>
            <pc:sldMk cId="0" sldId="263"/>
            <ac:spMk id="40" creationId="{00000000-0000-0000-0000-000000000000}"/>
          </ac:spMkLst>
        </pc:spChg>
        <pc:spChg chg="mod">
          <ac:chgData name="Oscar Luis Guadarrama Jimenez" userId="641fc7e3ac89e697" providerId="LiveId" clId="{5979CE5D-2727-4807-9743-5497872683E2}" dt="2026-06-18T02:25:21.674" v="58" actId="1076"/>
          <ac:spMkLst>
            <pc:docMk/>
            <pc:sldMk cId="0" sldId="263"/>
            <ac:spMk id="41" creationId="{00000000-0000-0000-0000-000000000000}"/>
          </ac:spMkLst>
        </pc:spChg>
        <pc:spChg chg="mod">
          <ac:chgData name="Oscar Luis Guadarrama Jimenez" userId="641fc7e3ac89e697" providerId="LiveId" clId="{5979CE5D-2727-4807-9743-5497872683E2}" dt="2026-06-18T02:25:21.674" v="58" actId="1076"/>
          <ac:spMkLst>
            <pc:docMk/>
            <pc:sldMk cId="0" sldId="263"/>
            <ac:spMk id="42" creationId="{00000000-0000-0000-0000-000000000000}"/>
          </ac:spMkLst>
        </pc:spChg>
        <pc:spChg chg="mod">
          <ac:chgData name="Oscar Luis Guadarrama Jimenez" userId="641fc7e3ac89e697" providerId="LiveId" clId="{5979CE5D-2727-4807-9743-5497872683E2}" dt="2026-06-18T02:25:21.674" v="58" actId="1076"/>
          <ac:spMkLst>
            <pc:docMk/>
            <pc:sldMk cId="0" sldId="263"/>
            <ac:spMk id="43" creationId="{00000000-0000-0000-0000-000000000000}"/>
          </ac:spMkLst>
        </pc:spChg>
      </pc:sldChg>
      <pc:sldChg chg="addSp delSp modSp mod">
        <pc:chgData name="Oscar Luis Guadarrama Jimenez" userId="641fc7e3ac89e697" providerId="LiveId" clId="{5979CE5D-2727-4807-9743-5497872683E2}" dt="2026-06-18T02:29:15.890" v="143" actId="1076"/>
        <pc:sldMkLst>
          <pc:docMk/>
          <pc:sldMk cId="0" sldId="264"/>
        </pc:sldMkLst>
        <pc:spChg chg="add">
          <ac:chgData name="Oscar Luis Guadarrama Jimenez" userId="641fc7e3ac89e697" providerId="LiveId" clId="{5979CE5D-2727-4807-9743-5497872683E2}" dt="2026-06-18T02:28:07.260" v="126" actId="22"/>
          <ac:spMkLst>
            <pc:docMk/>
            <pc:sldMk cId="0" sldId="264"/>
            <ac:spMk id="3" creationId="{BE927A49-4D21-939C-5071-BB4341AB9A2A}"/>
          </ac:spMkLst>
        </pc:spChg>
        <pc:spChg chg="del">
          <ac:chgData name="Oscar Luis Guadarrama Jimenez" userId="641fc7e3ac89e697" providerId="LiveId" clId="{5979CE5D-2727-4807-9743-5497872683E2}" dt="2026-06-18T02:28:07.056" v="125" actId="478"/>
          <ac:spMkLst>
            <pc:docMk/>
            <pc:sldMk cId="0" sldId="264"/>
            <ac:spMk id="10" creationId="{BA056F29-3298-1160-5F8C-8B8F0C5D6492}"/>
          </ac:spMkLst>
        </pc:spChg>
        <pc:spChg chg="mod">
          <ac:chgData name="Oscar Luis Guadarrama Jimenez" userId="641fc7e3ac89e697" providerId="LiveId" clId="{5979CE5D-2727-4807-9743-5497872683E2}" dt="2026-06-18T02:29:08.628" v="142" actId="1076"/>
          <ac:spMkLst>
            <pc:docMk/>
            <pc:sldMk cId="0" sldId="264"/>
            <ac:spMk id="13" creationId="{30FF6E45-5264-8D11-EAC7-F18054430785}"/>
          </ac:spMkLst>
        </pc:spChg>
        <pc:spChg chg="mod">
          <ac:chgData name="Oscar Luis Guadarrama Jimenez" userId="641fc7e3ac89e697" providerId="LiveId" clId="{5979CE5D-2727-4807-9743-5497872683E2}" dt="2026-06-18T02:29:15.890" v="143" actId="1076"/>
          <ac:spMkLst>
            <pc:docMk/>
            <pc:sldMk cId="0" sldId="264"/>
            <ac:spMk id="41" creationId="{00000000-0000-0000-0000-000000000000}"/>
          </ac:spMkLst>
        </pc:spChg>
        <pc:spChg chg="mod">
          <ac:chgData name="Oscar Luis Guadarrama Jimenez" userId="641fc7e3ac89e697" providerId="LiveId" clId="{5979CE5D-2727-4807-9743-5497872683E2}" dt="2026-06-18T02:29:15.890" v="143" actId="1076"/>
          <ac:spMkLst>
            <pc:docMk/>
            <pc:sldMk cId="0" sldId="264"/>
            <ac:spMk id="43" creationId="{00000000-0000-0000-0000-000000000000}"/>
          </ac:spMkLst>
        </pc:spChg>
        <pc:spChg chg="mod">
          <ac:chgData name="Oscar Luis Guadarrama Jimenez" userId="641fc7e3ac89e697" providerId="LiveId" clId="{5979CE5D-2727-4807-9743-5497872683E2}" dt="2026-06-18T02:29:15.890" v="143" actId="1076"/>
          <ac:spMkLst>
            <pc:docMk/>
            <pc:sldMk cId="0" sldId="264"/>
            <ac:spMk id="45" creationId="{00000000-0000-0000-0000-000000000000}"/>
          </ac:spMkLst>
        </pc:spChg>
        <pc:spChg chg="mod">
          <ac:chgData name="Oscar Luis Guadarrama Jimenez" userId="641fc7e3ac89e697" providerId="LiveId" clId="{5979CE5D-2727-4807-9743-5497872683E2}" dt="2026-06-18T02:29:15.890" v="143" actId="1076"/>
          <ac:spMkLst>
            <pc:docMk/>
            <pc:sldMk cId="0" sldId="264"/>
            <ac:spMk id="46" creationId="{00000000-0000-0000-0000-000000000000}"/>
          </ac:spMkLst>
        </pc:spChg>
        <pc:spChg chg="mod">
          <ac:chgData name="Oscar Luis Guadarrama Jimenez" userId="641fc7e3ac89e697" providerId="LiveId" clId="{5979CE5D-2727-4807-9743-5497872683E2}" dt="2026-06-18T02:29:15.890" v="143" actId="1076"/>
          <ac:spMkLst>
            <pc:docMk/>
            <pc:sldMk cId="0" sldId="264"/>
            <ac:spMk id="48" creationId="{00000000-0000-0000-0000-000000000000}"/>
          </ac:spMkLst>
        </pc:spChg>
        <pc:spChg chg="mod">
          <ac:chgData name="Oscar Luis Guadarrama Jimenez" userId="641fc7e3ac89e697" providerId="LiveId" clId="{5979CE5D-2727-4807-9743-5497872683E2}" dt="2026-06-18T02:29:15.890" v="143" actId="1076"/>
          <ac:spMkLst>
            <pc:docMk/>
            <pc:sldMk cId="0" sldId="264"/>
            <ac:spMk id="49" creationId="{00000000-0000-0000-0000-000000000000}"/>
          </ac:spMkLst>
        </pc:spChg>
        <pc:spChg chg="mod">
          <ac:chgData name="Oscar Luis Guadarrama Jimenez" userId="641fc7e3ac89e697" providerId="LiveId" clId="{5979CE5D-2727-4807-9743-5497872683E2}" dt="2026-06-18T02:29:15.890" v="143" actId="1076"/>
          <ac:spMkLst>
            <pc:docMk/>
            <pc:sldMk cId="0" sldId="264"/>
            <ac:spMk id="51" creationId="{00000000-0000-0000-0000-000000000000}"/>
          </ac:spMkLst>
        </pc:spChg>
        <pc:spChg chg="mod">
          <ac:chgData name="Oscar Luis Guadarrama Jimenez" userId="641fc7e3ac89e697" providerId="LiveId" clId="{5979CE5D-2727-4807-9743-5497872683E2}" dt="2026-06-18T02:29:15.890" v="143" actId="1076"/>
          <ac:spMkLst>
            <pc:docMk/>
            <pc:sldMk cId="0" sldId="264"/>
            <ac:spMk id="53" creationId="{00000000-0000-0000-0000-000000000000}"/>
          </ac:spMkLst>
        </pc:spChg>
        <pc:spChg chg="mod">
          <ac:chgData name="Oscar Luis Guadarrama Jimenez" userId="641fc7e3ac89e697" providerId="LiveId" clId="{5979CE5D-2727-4807-9743-5497872683E2}" dt="2026-06-18T02:29:15.890" v="143" actId="1076"/>
          <ac:spMkLst>
            <pc:docMk/>
            <pc:sldMk cId="0" sldId="264"/>
            <ac:spMk id="54" creationId="{00000000-0000-0000-0000-000000000000}"/>
          </ac:spMkLst>
        </pc:spChg>
        <pc:spChg chg="mod">
          <ac:chgData name="Oscar Luis Guadarrama Jimenez" userId="641fc7e3ac89e697" providerId="LiveId" clId="{5979CE5D-2727-4807-9743-5497872683E2}" dt="2026-06-18T02:29:15.890" v="143" actId="1076"/>
          <ac:spMkLst>
            <pc:docMk/>
            <pc:sldMk cId="0" sldId="264"/>
            <ac:spMk id="55" creationId="{00000000-0000-0000-0000-000000000000}"/>
          </ac:spMkLst>
        </pc:spChg>
      </pc:sldChg>
      <pc:sldChg chg="addSp delSp modSp mod">
        <pc:chgData name="Oscar Luis Guadarrama Jimenez" userId="641fc7e3ac89e697" providerId="LiveId" clId="{5979CE5D-2727-4807-9743-5497872683E2}" dt="2026-06-18T02:28:18.426" v="130" actId="22"/>
        <pc:sldMkLst>
          <pc:docMk/>
          <pc:sldMk cId="0" sldId="265"/>
        </pc:sldMkLst>
        <pc:spChg chg="add del">
          <ac:chgData name="Oscar Luis Guadarrama Jimenez" userId="641fc7e3ac89e697" providerId="LiveId" clId="{5979CE5D-2727-4807-9743-5497872683E2}" dt="2026-06-18T02:28:14.755" v="128" actId="22"/>
          <ac:spMkLst>
            <pc:docMk/>
            <pc:sldMk cId="0" sldId="265"/>
            <ac:spMk id="3" creationId="{28A1A4B7-E575-5040-1C96-4136C8823717}"/>
          </ac:spMkLst>
        </pc:spChg>
        <pc:spChg chg="del">
          <ac:chgData name="Oscar Luis Guadarrama Jimenez" userId="641fc7e3ac89e697" providerId="LiveId" clId="{5979CE5D-2727-4807-9743-5497872683E2}" dt="2026-06-18T02:28:16.791" v="129" actId="478"/>
          <ac:spMkLst>
            <pc:docMk/>
            <pc:sldMk cId="0" sldId="265"/>
            <ac:spMk id="10" creationId="{BA056F29-3298-1160-5F8C-8B8F0C5D6492}"/>
          </ac:spMkLst>
        </pc:spChg>
        <pc:spChg chg="mod">
          <ac:chgData name="Oscar Luis Guadarrama Jimenez" userId="641fc7e3ac89e697" providerId="LiveId" clId="{5979CE5D-2727-4807-9743-5497872683E2}" dt="2026-06-18T02:25:20.347" v="55" actId="1076"/>
          <ac:spMkLst>
            <pc:docMk/>
            <pc:sldMk cId="0" sldId="265"/>
            <ac:spMk id="35" creationId="{00000000-0000-0000-0000-000000000000}"/>
          </ac:spMkLst>
        </pc:spChg>
        <pc:spChg chg="mod">
          <ac:chgData name="Oscar Luis Guadarrama Jimenez" userId="641fc7e3ac89e697" providerId="LiveId" clId="{5979CE5D-2727-4807-9743-5497872683E2}" dt="2026-06-18T02:25:20.347" v="55" actId="1076"/>
          <ac:spMkLst>
            <pc:docMk/>
            <pc:sldMk cId="0" sldId="265"/>
            <ac:spMk id="36" creationId="{00000000-0000-0000-0000-000000000000}"/>
          </ac:spMkLst>
        </pc:spChg>
        <pc:spChg chg="mod">
          <ac:chgData name="Oscar Luis Guadarrama Jimenez" userId="641fc7e3ac89e697" providerId="LiveId" clId="{5979CE5D-2727-4807-9743-5497872683E2}" dt="2026-06-18T02:25:20.347" v="55" actId="1076"/>
          <ac:spMkLst>
            <pc:docMk/>
            <pc:sldMk cId="0" sldId="265"/>
            <ac:spMk id="37" creationId="{00000000-0000-0000-0000-000000000000}"/>
          </ac:spMkLst>
        </pc:spChg>
        <pc:spChg chg="mod">
          <ac:chgData name="Oscar Luis Guadarrama Jimenez" userId="641fc7e3ac89e697" providerId="LiveId" clId="{5979CE5D-2727-4807-9743-5497872683E2}" dt="2026-06-18T02:25:20.347" v="55" actId="1076"/>
          <ac:spMkLst>
            <pc:docMk/>
            <pc:sldMk cId="0" sldId="265"/>
            <ac:spMk id="38" creationId="{00000000-0000-0000-0000-000000000000}"/>
          </ac:spMkLst>
        </pc:spChg>
        <pc:spChg chg="mod">
          <ac:chgData name="Oscar Luis Guadarrama Jimenez" userId="641fc7e3ac89e697" providerId="LiveId" clId="{5979CE5D-2727-4807-9743-5497872683E2}" dt="2026-06-18T02:25:15.479" v="46" actId="1076"/>
          <ac:spMkLst>
            <pc:docMk/>
            <pc:sldMk cId="0" sldId="265"/>
            <ac:spMk id="39" creationId="{00000000-0000-0000-0000-000000000000}"/>
          </ac:spMkLst>
        </pc:spChg>
        <pc:spChg chg="mod">
          <ac:chgData name="Oscar Luis Guadarrama Jimenez" userId="641fc7e3ac89e697" providerId="LiveId" clId="{5979CE5D-2727-4807-9743-5497872683E2}" dt="2026-06-18T02:25:20.347" v="55" actId="1076"/>
          <ac:spMkLst>
            <pc:docMk/>
            <pc:sldMk cId="0" sldId="265"/>
            <ac:spMk id="41" creationId="{00000000-0000-0000-0000-000000000000}"/>
          </ac:spMkLst>
        </pc:spChg>
        <pc:spChg chg="mod">
          <ac:chgData name="Oscar Luis Guadarrama Jimenez" userId="641fc7e3ac89e697" providerId="LiveId" clId="{5979CE5D-2727-4807-9743-5497872683E2}" dt="2026-06-18T02:25:15.479" v="46" actId="1076"/>
          <ac:spMkLst>
            <pc:docMk/>
            <pc:sldMk cId="0" sldId="265"/>
            <ac:spMk id="42" creationId="{00000000-0000-0000-0000-000000000000}"/>
          </ac:spMkLst>
        </pc:spChg>
        <pc:spChg chg="mod">
          <ac:chgData name="Oscar Luis Guadarrama Jimenez" userId="641fc7e3ac89e697" providerId="LiveId" clId="{5979CE5D-2727-4807-9743-5497872683E2}" dt="2026-06-18T02:25:20.347" v="55" actId="1076"/>
          <ac:spMkLst>
            <pc:docMk/>
            <pc:sldMk cId="0" sldId="265"/>
            <ac:spMk id="44" creationId="{00000000-0000-0000-0000-000000000000}"/>
          </ac:spMkLst>
        </pc:spChg>
        <pc:spChg chg="mod">
          <ac:chgData name="Oscar Luis Guadarrama Jimenez" userId="641fc7e3ac89e697" providerId="LiveId" clId="{5979CE5D-2727-4807-9743-5497872683E2}" dt="2026-06-18T02:25:20.347" v="55" actId="1076"/>
          <ac:spMkLst>
            <pc:docMk/>
            <pc:sldMk cId="0" sldId="265"/>
            <ac:spMk id="45" creationId="{00000000-0000-0000-0000-000000000000}"/>
          </ac:spMkLst>
        </pc:spChg>
        <pc:spChg chg="mod">
          <ac:chgData name="Oscar Luis Guadarrama Jimenez" userId="641fc7e3ac89e697" providerId="LiveId" clId="{5979CE5D-2727-4807-9743-5497872683E2}" dt="2026-06-18T02:25:15.479" v="46" actId="1076"/>
          <ac:spMkLst>
            <pc:docMk/>
            <pc:sldMk cId="0" sldId="265"/>
            <ac:spMk id="46" creationId="{00000000-0000-0000-0000-000000000000}"/>
          </ac:spMkLst>
        </pc:spChg>
        <pc:spChg chg="mod">
          <ac:chgData name="Oscar Luis Guadarrama Jimenez" userId="641fc7e3ac89e697" providerId="LiveId" clId="{5979CE5D-2727-4807-9743-5497872683E2}" dt="2026-06-18T02:25:20.347" v="55" actId="1076"/>
          <ac:spMkLst>
            <pc:docMk/>
            <pc:sldMk cId="0" sldId="265"/>
            <ac:spMk id="47" creationId="{00000000-0000-0000-0000-000000000000}"/>
          </ac:spMkLst>
        </pc:spChg>
        <pc:spChg chg="mod">
          <ac:chgData name="Oscar Luis Guadarrama Jimenez" userId="641fc7e3ac89e697" providerId="LiveId" clId="{5979CE5D-2727-4807-9743-5497872683E2}" dt="2026-06-18T02:25:20.347" v="55" actId="1076"/>
          <ac:spMkLst>
            <pc:docMk/>
            <pc:sldMk cId="0" sldId="265"/>
            <ac:spMk id="49" creationId="{00000000-0000-0000-0000-000000000000}"/>
          </ac:spMkLst>
        </pc:spChg>
        <pc:spChg chg="mod">
          <ac:chgData name="Oscar Luis Guadarrama Jimenez" userId="641fc7e3ac89e697" providerId="LiveId" clId="{5979CE5D-2727-4807-9743-5497872683E2}" dt="2026-06-18T02:25:15.479" v="46" actId="1076"/>
          <ac:spMkLst>
            <pc:docMk/>
            <pc:sldMk cId="0" sldId="265"/>
            <ac:spMk id="50" creationId="{00000000-0000-0000-0000-000000000000}"/>
          </ac:spMkLst>
        </pc:spChg>
        <pc:spChg chg="mod">
          <ac:chgData name="Oscar Luis Guadarrama Jimenez" userId="641fc7e3ac89e697" providerId="LiveId" clId="{5979CE5D-2727-4807-9743-5497872683E2}" dt="2026-06-18T02:25:20.347" v="55" actId="1076"/>
          <ac:spMkLst>
            <pc:docMk/>
            <pc:sldMk cId="0" sldId="265"/>
            <ac:spMk id="51" creationId="{00000000-0000-0000-0000-000000000000}"/>
          </ac:spMkLst>
        </pc:spChg>
        <pc:spChg chg="mod">
          <ac:chgData name="Oscar Luis Guadarrama Jimenez" userId="641fc7e3ac89e697" providerId="LiveId" clId="{5979CE5D-2727-4807-9743-5497872683E2}" dt="2026-06-18T02:25:21.472" v="57" actId="14100"/>
          <ac:spMkLst>
            <pc:docMk/>
            <pc:sldMk cId="0" sldId="265"/>
            <ac:spMk id="52" creationId="{00000000-0000-0000-0000-000000000000}"/>
          </ac:spMkLst>
        </pc:spChg>
        <pc:spChg chg="mod">
          <ac:chgData name="Oscar Luis Guadarrama Jimenez" userId="641fc7e3ac89e697" providerId="LiveId" clId="{5979CE5D-2727-4807-9743-5497872683E2}" dt="2026-06-18T02:25:20.940" v="56" actId="14100"/>
          <ac:spMkLst>
            <pc:docMk/>
            <pc:sldMk cId="0" sldId="265"/>
            <ac:spMk id="53" creationId="{00000000-0000-0000-0000-000000000000}"/>
          </ac:spMkLst>
        </pc:spChg>
        <pc:spChg chg="add">
          <ac:chgData name="Oscar Luis Guadarrama Jimenez" userId="641fc7e3ac89e697" providerId="LiveId" clId="{5979CE5D-2727-4807-9743-5497872683E2}" dt="2026-06-18T02:28:18.426" v="130" actId="22"/>
          <ac:spMkLst>
            <pc:docMk/>
            <pc:sldMk cId="0" sldId="265"/>
            <ac:spMk id="55" creationId="{BC5DAF45-63BA-C184-B119-5A13F0361EBF}"/>
          </ac:spMkLst>
        </pc:spChg>
      </pc:sldChg>
      <pc:sldChg chg="addSp delSp mod">
        <pc:chgData name="Oscar Luis Guadarrama Jimenez" userId="641fc7e3ac89e697" providerId="LiveId" clId="{5979CE5D-2727-4807-9743-5497872683E2}" dt="2026-06-18T02:28:23.938" v="132" actId="22"/>
        <pc:sldMkLst>
          <pc:docMk/>
          <pc:sldMk cId="0" sldId="266"/>
        </pc:sldMkLst>
        <pc:spChg chg="add">
          <ac:chgData name="Oscar Luis Guadarrama Jimenez" userId="641fc7e3ac89e697" providerId="LiveId" clId="{5979CE5D-2727-4807-9743-5497872683E2}" dt="2026-06-18T02:28:23.938" v="132" actId="22"/>
          <ac:spMkLst>
            <pc:docMk/>
            <pc:sldMk cId="0" sldId="266"/>
            <ac:spMk id="3" creationId="{3C7682DE-58EC-8AD8-4ED3-D9D3AB03E022}"/>
          </ac:spMkLst>
        </pc:spChg>
        <pc:spChg chg="del">
          <ac:chgData name="Oscar Luis Guadarrama Jimenez" userId="641fc7e3ac89e697" providerId="LiveId" clId="{5979CE5D-2727-4807-9743-5497872683E2}" dt="2026-06-18T02:28:23.724" v="131" actId="478"/>
          <ac:spMkLst>
            <pc:docMk/>
            <pc:sldMk cId="0" sldId="266"/>
            <ac:spMk id="10" creationId="{BA056F29-3298-1160-5F8C-8B8F0C5D6492}"/>
          </ac:spMkLst>
        </pc:spChg>
      </pc:sldChg>
      <pc:sldChg chg="addSp delSp mod">
        <pc:chgData name="Oscar Luis Guadarrama Jimenez" userId="641fc7e3ac89e697" providerId="LiveId" clId="{5979CE5D-2727-4807-9743-5497872683E2}" dt="2026-06-18T02:28:28.793" v="134" actId="22"/>
        <pc:sldMkLst>
          <pc:docMk/>
          <pc:sldMk cId="0" sldId="267"/>
        </pc:sldMkLst>
        <pc:spChg chg="add">
          <ac:chgData name="Oscar Luis Guadarrama Jimenez" userId="641fc7e3ac89e697" providerId="LiveId" clId="{5979CE5D-2727-4807-9743-5497872683E2}" dt="2026-06-18T02:28:28.793" v="134" actId="22"/>
          <ac:spMkLst>
            <pc:docMk/>
            <pc:sldMk cId="0" sldId="267"/>
            <ac:spMk id="3" creationId="{B7482507-7421-30B7-03F0-856A2E6122D1}"/>
          </ac:spMkLst>
        </pc:spChg>
        <pc:spChg chg="del">
          <ac:chgData name="Oscar Luis Guadarrama Jimenez" userId="641fc7e3ac89e697" providerId="LiveId" clId="{5979CE5D-2727-4807-9743-5497872683E2}" dt="2026-06-18T02:28:28.522" v="133" actId="478"/>
          <ac:spMkLst>
            <pc:docMk/>
            <pc:sldMk cId="0" sldId="267"/>
            <ac:spMk id="10" creationId="{BA056F29-3298-1160-5F8C-8B8F0C5D6492}"/>
          </ac:spMkLst>
        </pc:spChg>
      </pc:sldChg>
      <pc:sldChg chg="addSp delSp mod">
        <pc:chgData name="Oscar Luis Guadarrama Jimenez" userId="641fc7e3ac89e697" providerId="LiveId" clId="{5979CE5D-2727-4807-9743-5497872683E2}" dt="2026-06-18T02:28:33.434" v="136" actId="22"/>
        <pc:sldMkLst>
          <pc:docMk/>
          <pc:sldMk cId="0" sldId="268"/>
        </pc:sldMkLst>
        <pc:spChg chg="add">
          <ac:chgData name="Oscar Luis Guadarrama Jimenez" userId="641fc7e3ac89e697" providerId="LiveId" clId="{5979CE5D-2727-4807-9743-5497872683E2}" dt="2026-06-18T02:28:33.434" v="136" actId="22"/>
          <ac:spMkLst>
            <pc:docMk/>
            <pc:sldMk cId="0" sldId="268"/>
            <ac:spMk id="3" creationId="{49BB148C-9F02-E91D-C3BB-7E1308D00E51}"/>
          </ac:spMkLst>
        </pc:spChg>
        <pc:spChg chg="del">
          <ac:chgData name="Oscar Luis Guadarrama Jimenez" userId="641fc7e3ac89e697" providerId="LiveId" clId="{5979CE5D-2727-4807-9743-5497872683E2}" dt="2026-06-18T02:28:33.199" v="135" actId="478"/>
          <ac:spMkLst>
            <pc:docMk/>
            <pc:sldMk cId="0" sldId="268"/>
            <ac:spMk id="10" creationId="{BA056F29-3298-1160-5F8C-8B8F0C5D6492}"/>
          </ac:spMkLst>
        </pc:spChg>
      </pc:sldChg>
      <pc:sldChg chg="addSp delSp mod">
        <pc:chgData name="Oscar Luis Guadarrama Jimenez" userId="641fc7e3ac89e697" providerId="LiveId" clId="{5979CE5D-2727-4807-9743-5497872683E2}" dt="2026-06-18T02:28:41.603" v="138" actId="22"/>
        <pc:sldMkLst>
          <pc:docMk/>
          <pc:sldMk cId="0" sldId="269"/>
        </pc:sldMkLst>
        <pc:spChg chg="add">
          <ac:chgData name="Oscar Luis Guadarrama Jimenez" userId="641fc7e3ac89e697" providerId="LiveId" clId="{5979CE5D-2727-4807-9743-5497872683E2}" dt="2026-06-18T02:28:41.603" v="138" actId="22"/>
          <ac:spMkLst>
            <pc:docMk/>
            <pc:sldMk cId="0" sldId="269"/>
            <ac:spMk id="3" creationId="{8880D810-006C-AA90-D087-C81C561CAC4E}"/>
          </ac:spMkLst>
        </pc:spChg>
        <pc:spChg chg="del">
          <ac:chgData name="Oscar Luis Guadarrama Jimenez" userId="641fc7e3ac89e697" providerId="LiveId" clId="{5979CE5D-2727-4807-9743-5497872683E2}" dt="2026-06-18T02:28:41.401" v="137" actId="478"/>
          <ac:spMkLst>
            <pc:docMk/>
            <pc:sldMk cId="0" sldId="269"/>
            <ac:spMk id="10" creationId="{BA056F29-3298-1160-5F8C-8B8F0C5D6492}"/>
          </ac:spMkLst>
        </pc:spChg>
      </pc:sldChg>
      <pc:sldChg chg="addSp delSp modSp mod">
        <pc:chgData name="Oscar Luis Guadarrama Jimenez" userId="641fc7e3ac89e697" providerId="LiveId" clId="{5979CE5D-2727-4807-9743-5497872683E2}" dt="2026-06-18T02:28:57.980" v="141" actId="478"/>
        <pc:sldMkLst>
          <pc:docMk/>
          <pc:sldMk cId="0" sldId="270"/>
        </pc:sldMkLst>
        <pc:spChg chg="add">
          <ac:chgData name="Oscar Luis Guadarrama Jimenez" userId="641fc7e3ac89e697" providerId="LiveId" clId="{5979CE5D-2727-4807-9743-5497872683E2}" dt="2026-06-18T02:28:49.206" v="140" actId="22"/>
          <ac:spMkLst>
            <pc:docMk/>
            <pc:sldMk cId="0" sldId="270"/>
            <ac:spMk id="3" creationId="{D6BC9DE8-35D3-CA55-4088-A34FA6B29BDC}"/>
          </ac:spMkLst>
        </pc:spChg>
        <pc:spChg chg="del">
          <ac:chgData name="Oscar Luis Guadarrama Jimenez" userId="641fc7e3ac89e697" providerId="LiveId" clId="{5979CE5D-2727-4807-9743-5497872683E2}" dt="2026-06-18T02:28:49.008" v="139" actId="478"/>
          <ac:spMkLst>
            <pc:docMk/>
            <pc:sldMk cId="0" sldId="270"/>
            <ac:spMk id="10" creationId="{BA056F29-3298-1160-5F8C-8B8F0C5D6492}"/>
          </ac:spMkLst>
        </pc:spChg>
        <pc:spChg chg="del">
          <ac:chgData name="Oscar Luis Guadarrama Jimenez" userId="641fc7e3ac89e697" providerId="LiveId" clId="{5979CE5D-2727-4807-9743-5497872683E2}" dt="2026-06-18T02:28:57.980" v="141" actId="478"/>
          <ac:spMkLst>
            <pc:docMk/>
            <pc:sldMk cId="0" sldId="270"/>
            <ac:spMk id="12" creationId="{A17F96BB-950A-839D-5631-82791C07217E}"/>
          </ac:spMkLst>
        </pc:spChg>
        <pc:spChg chg="mod">
          <ac:chgData name="Oscar Luis Guadarrama Jimenez" userId="641fc7e3ac89e697" providerId="LiveId" clId="{5979CE5D-2727-4807-9743-5497872683E2}" dt="2026-06-18T02:25:19.589" v="52" actId="1076"/>
          <ac:spMkLst>
            <pc:docMk/>
            <pc:sldMk cId="0" sldId="270"/>
            <ac:spMk id="14" creationId="{00000000-0000-0000-0000-000000000000}"/>
          </ac:spMkLst>
        </pc:spChg>
        <pc:spChg chg="add del mod">
          <ac:chgData name="Oscar Luis Guadarrama Jimenez" userId="641fc7e3ac89e697" providerId="LiveId" clId="{5979CE5D-2727-4807-9743-5497872683E2}" dt="2026-06-18T02:25:19.958" v="54" actId="478"/>
          <ac:spMkLst>
            <pc:docMk/>
            <pc:sldMk cId="0" sldId="270"/>
            <ac:spMk id="30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74CF47-608E-5F25-6E20-EA91735009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F625DF5-30D4-FE9A-8D4E-0FFFC27440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BF70C30-C33B-67C2-DE43-5852F6DAE4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F9AA1-F357-BF46-95EF-53E371A093C3}" type="datetimeFigureOut">
              <a:rPr lang="es-MX" smtClean="0"/>
              <a:t>17/06/2026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EDCBD7D-7F9F-F4AA-3FC6-6A952D66AF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9CCF645-5806-1018-4B23-8071D7ED8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E4BB6-41B3-9646-8A48-EB73997F261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352123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B8D588-D9B0-B412-F457-F4A58F38BE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27E414F-AC9D-21C9-B5DD-99DA8A6AA5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E1DA5F8-EBD8-30B1-5096-F554C44B23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F9AA1-F357-BF46-95EF-53E371A093C3}" type="datetimeFigureOut">
              <a:rPr lang="es-MX" smtClean="0"/>
              <a:t>17/06/2026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9ACC358-3F2B-0F5F-2356-6B4EC0C5F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DEB45F7-BDE0-51AB-4295-CD5B7B5710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E4BB6-41B3-9646-8A48-EB73997F261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756724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A5A537-C0B0-350A-7812-E02A4A9FFA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5D2575D-62DD-EF11-D7DF-4CA64BF5EB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88FD4D5-515C-5134-5A7C-8C70BA5332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F9AA1-F357-BF46-95EF-53E371A093C3}" type="datetimeFigureOut">
              <a:rPr lang="es-MX" smtClean="0"/>
              <a:t>17/06/2026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769E767-CA62-CF96-C97E-879055DAEB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1E3B7F3-0777-BCA8-2E05-F4EC1E72C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E4BB6-41B3-9646-8A48-EB73997F261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559368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20AD64-296A-672A-56C1-1CC2430DDA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2BC8C44-7E09-D9B1-70E1-5D53DFFDE4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9D21F0B-8701-5C36-753D-258BC5D8CF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F2304F7-F770-43A1-976C-BC2AF49790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F9AA1-F357-BF46-95EF-53E371A093C3}" type="datetimeFigureOut">
              <a:rPr lang="es-MX" smtClean="0"/>
              <a:t>17/06/2026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FE217DA-0961-CED4-4586-01CC12F9F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ED8C7A6-0071-D420-0C60-A830BB474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E4BB6-41B3-9646-8A48-EB73997F261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51931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27DC3C-BFAB-B70C-B805-0CBB2ED90C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33FAEF9-9345-E078-3E1D-D2D1DD9144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B20BF20-BB01-B7F5-E4FE-B97E4F2EF3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F54399E-0FA3-71DC-927F-FAE1D8441C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B0476D49-7B53-06DC-0BC7-0D4F671C69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E6E0C5B0-1DDC-3B6E-3BB4-569BB996A2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F9AA1-F357-BF46-95EF-53E371A093C3}" type="datetimeFigureOut">
              <a:rPr lang="es-MX" smtClean="0"/>
              <a:t>17/06/2026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9A3E4A57-3B21-FC26-4111-80EE4497D8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B248243A-03F4-4065-228A-334843E64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E4BB6-41B3-9646-8A48-EB73997F261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711183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37B4F6-4804-0AC5-0277-5825368FF6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CB44A091-7D78-AD9C-AB51-5C65566550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F9AA1-F357-BF46-95EF-53E371A093C3}" type="datetimeFigureOut">
              <a:rPr lang="es-MX" smtClean="0"/>
              <a:t>17/06/2026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D73A245F-2E42-8120-C4C2-4C63B8A43E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8B13F97-6ECE-1A56-35ED-CE91807D2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E4BB6-41B3-9646-8A48-EB73997F261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738667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D3C71E69-55A7-AEE1-CDB1-390715E294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F9AA1-F357-BF46-95EF-53E371A093C3}" type="datetimeFigureOut">
              <a:rPr lang="es-MX" smtClean="0"/>
              <a:t>17/06/2026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68643FE-33A0-3986-8AE7-9E37CFF7D5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D239A9A-B675-B885-8009-A5A8BF2F5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E4BB6-41B3-9646-8A48-EB73997F261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496848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1C086D-E7B6-6EA6-86E0-AAF1A7AE87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398CF7A-9625-E28B-205B-E6DBA4CF24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A68AA42-85EC-DFF5-B282-8265D3B321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D9E9704-A979-2A19-60F7-F9B931B49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F9AA1-F357-BF46-95EF-53E371A093C3}" type="datetimeFigureOut">
              <a:rPr lang="es-MX" smtClean="0"/>
              <a:t>17/06/2026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AD8268D-1FFE-4DCA-2B55-8DAA8056B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075C3B4-FFD4-F7BC-C1D6-A683AAB5B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E4BB6-41B3-9646-8A48-EB73997F261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153694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9D2678-B95F-3208-E583-7758DA8B57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2F4270E7-845C-1E45-35D1-D5D657DA39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63DDE70-99A0-B3AB-7D3B-096573FC8B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6F50AF6-9E1C-5376-C51E-8A1AF3A803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F9AA1-F357-BF46-95EF-53E371A093C3}" type="datetimeFigureOut">
              <a:rPr lang="es-MX" smtClean="0"/>
              <a:t>17/06/2026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CD1454F-E41D-B214-12EA-BAAFD453F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9C8B18C-EE04-5617-1D26-542367414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E4BB6-41B3-9646-8A48-EB73997F261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60456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08565C-34CD-98FE-ADB1-105F50AF3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908ACB9-819E-9490-78E2-0D48043D90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024E33B-C135-85B4-FB67-47A83B370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F9AA1-F357-BF46-95EF-53E371A093C3}" type="datetimeFigureOut">
              <a:rPr lang="es-MX" smtClean="0"/>
              <a:t>17/06/2026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5B01031-6DB9-4E35-7B63-FD5E83786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7722D5B-33D5-F2B6-9D62-D077486475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E4BB6-41B3-9646-8A48-EB73997F261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305554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7349E02-8A63-7044-1D65-2841CBB159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BDD260B-06B9-D483-A93A-938B63B437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0639EAA-2AFB-ED99-929D-A5D2F3C35A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F9AA1-F357-BF46-95EF-53E371A093C3}" type="datetimeFigureOut">
              <a:rPr lang="es-MX" smtClean="0"/>
              <a:t>17/06/2026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D897D25-8A4E-9D48-356B-AB80FD6EDC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12B0827-8CB4-4285-61DF-3ACD1CB3F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E4BB6-41B3-9646-8A48-EB73997F261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054250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2756A2BD-0544-C92C-9965-42C4DEB4C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A99DF32-90A6-9F9C-995D-C39FC4A2A0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80FFEC8-E387-642C-0AB0-D8E23A9E2B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7F9AA1-F357-BF46-95EF-53E371A093C3}" type="datetimeFigureOut">
              <a:rPr lang="es-MX" smtClean="0"/>
              <a:t>17/06/2026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1D41DA5-B154-A5ED-83CB-2884230FF1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2B546F6-DF00-779C-B405-C1A4E37A1C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1E4BB6-41B3-9646-8A48-EB73997F261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059438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9871FD-6892-EE65-A61F-660AD52CAD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884487"/>
            <a:ext cx="9144000" cy="238760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Aft>
                <a:spcPts val="1200"/>
              </a:spcAft>
            </a:pPr>
            <a:r>
              <a:rPr lang="es-ES" sz="2800" dirty="0">
                <a:latin typeface="Century Gothic" panose="020B0502020202020204" pitchFamily="34" charset="0"/>
              </a:rPr>
              <a:t>Identificación espacio-temporal de compuestos</a:t>
            </a:r>
            <a:br>
              <a:rPr lang="es-ES" sz="2800" dirty="0">
                <a:latin typeface="Century Gothic" panose="020B0502020202020204" pitchFamily="34" charset="0"/>
              </a:rPr>
            </a:br>
            <a:r>
              <a:rPr lang="es-ES" sz="2800" dirty="0">
                <a:latin typeface="Century Gothic" panose="020B0502020202020204" pitchFamily="34" charset="0"/>
              </a:rPr>
              <a:t>nutracéuticos en ganado lechero mediante</a:t>
            </a:r>
            <a:br>
              <a:rPr lang="es-ES" sz="2800" dirty="0">
                <a:latin typeface="Century Gothic" panose="020B0502020202020204" pitchFamily="34" charset="0"/>
              </a:rPr>
            </a:br>
            <a:r>
              <a:rPr lang="es-ES" sz="2800" dirty="0">
                <a:latin typeface="Century Gothic" panose="020B0502020202020204" pitchFamily="34" charset="0"/>
              </a:rPr>
              <a:t>inteligencia artificial</a:t>
            </a:r>
            <a:br>
              <a:rPr lang="es-ES" sz="2800" dirty="0">
                <a:latin typeface="Century Gothic" panose="020B0502020202020204" pitchFamily="34" charset="0"/>
              </a:rPr>
            </a:br>
            <a:br>
              <a:rPr lang="es-MX" sz="2800" dirty="0">
                <a:latin typeface="Century Gothic" panose="020B0502020202020204" pitchFamily="34" charset="0"/>
              </a:rPr>
            </a:br>
            <a:r>
              <a:rPr lang="es-MX" sz="2000" dirty="0">
                <a:latin typeface="Gellix" pitchFamily="2" charset="77"/>
              </a:rPr>
              <a:t>Tecnológico de Monterrey</a:t>
            </a:r>
            <a:endParaRPr lang="es-MX" sz="2000" dirty="0">
              <a:latin typeface="Century Gothic" panose="020B0502020202020204" pitchFamily="34" charset="0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477E962-0DC9-2DBB-100A-EDF92E708A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953283"/>
            <a:ext cx="9144000" cy="3606545"/>
          </a:xfrm>
        </p:spPr>
        <p:txBody>
          <a:bodyPr>
            <a:normAutofit/>
          </a:bodyPr>
          <a:lstStyle/>
          <a:p>
            <a:pPr algn="l"/>
            <a:endParaRPr lang="es-MX" sz="2000" dirty="0">
              <a:latin typeface="Gellix" pitchFamily="2" charset="77"/>
            </a:endParaRPr>
          </a:p>
          <a:p>
            <a:pPr algn="l"/>
            <a:r>
              <a:rPr lang="es-MX" sz="2000" dirty="0">
                <a:latin typeface="Gellix" pitchFamily="2" charset="77"/>
              </a:rPr>
              <a:t>Presenta(n):</a:t>
            </a:r>
            <a:endParaRPr lang="es-MX" sz="1800" dirty="0">
              <a:latin typeface="Avenir Next Condensed" panose="020B0506020202020204" pitchFamily="34" charset="0"/>
            </a:endParaRPr>
          </a:p>
          <a:p>
            <a:pPr marL="800100" lvl="1" indent="-3429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s-ES" sz="1800" dirty="0">
                <a:latin typeface="Avenir Next Condensed" panose="020B0506020202020204" pitchFamily="34" charset="0"/>
              </a:rPr>
              <a:t>Oscar Luis Guadarrama Jiménez - A01796245</a:t>
            </a:r>
            <a:endParaRPr lang="es-MX" sz="1800" dirty="0">
              <a:latin typeface="Avenir Next Condensed" panose="020B0506020202020204" pitchFamily="34" charset="0"/>
            </a:endParaRPr>
          </a:p>
          <a:p>
            <a:pPr marL="800100" lvl="1" indent="-3429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s-ES" sz="1800" dirty="0">
                <a:latin typeface="Avenir Next Condensed" panose="020B0506020202020204" pitchFamily="34" charset="0"/>
              </a:rPr>
              <a:t>Luis Alejandro Juárez Rodríguez - A01795463</a:t>
            </a:r>
            <a:endParaRPr lang="es-MX" sz="1800" dirty="0">
              <a:latin typeface="Avenir Next Condensed" panose="020B0506020202020204" pitchFamily="34" charset="0"/>
            </a:endParaRPr>
          </a:p>
          <a:p>
            <a:pPr marL="800100" lvl="1" indent="-3429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s-ES" sz="1800" dirty="0">
                <a:latin typeface="Avenir Next Condensed" panose="020B0506020202020204" pitchFamily="34" charset="0"/>
              </a:rPr>
              <a:t>José Manuel Pérez González - A01795188</a:t>
            </a:r>
            <a:endParaRPr lang="es-MX" sz="1800" dirty="0">
              <a:latin typeface="Avenir Next Condensed" panose="020B0506020202020204" pitchFamily="34" charset="0"/>
            </a:endParaRPr>
          </a:p>
          <a:p>
            <a:pPr marL="800100" lvl="1" indent="-342900" algn="l">
              <a:buFont typeface="Arial" panose="020B0604020202020204" pitchFamily="34" charset="0"/>
              <a:buChar char="•"/>
            </a:pPr>
            <a:endParaRPr lang="es-MX" sz="1800" dirty="0">
              <a:latin typeface="Avenir Next Condensed" panose="020B0506020202020204" pitchFamily="34" charset="0"/>
            </a:endParaRPr>
          </a:p>
          <a:p>
            <a:pPr algn="l"/>
            <a:endParaRPr lang="es-MX" sz="2000" dirty="0">
              <a:latin typeface="Gellix" pitchFamily="2" charset="77"/>
            </a:endParaRPr>
          </a:p>
          <a:p>
            <a:pPr algn="l"/>
            <a:r>
              <a:rPr lang="es-MX" sz="2000" dirty="0">
                <a:latin typeface="Gellix" pitchFamily="2" charset="77"/>
              </a:rPr>
              <a:t>Asesor: </a:t>
            </a:r>
            <a:r>
              <a:rPr lang="es-MX" sz="2000" dirty="0">
                <a:latin typeface="Avenir Next Condensed" panose="020B0506020202020204" pitchFamily="34" charset="0"/>
              </a:rPr>
              <a:t>Dr. Horacio Martínez Alfaro</a:t>
            </a:r>
          </a:p>
          <a:p>
            <a:pPr algn="l"/>
            <a:r>
              <a:rPr lang="es-MX" sz="2000" dirty="0">
                <a:latin typeface="Gellix" pitchFamily="2" charset="77"/>
              </a:rPr>
              <a:t>Patrocinador(es): </a:t>
            </a:r>
            <a:r>
              <a:rPr lang="es-MX" sz="2000" dirty="0">
                <a:latin typeface="Avenir Next Condensed" panose="020B0506020202020204" pitchFamily="34" charset="0"/>
              </a:rPr>
              <a:t>Tecnológico de Monterrey</a:t>
            </a:r>
          </a:p>
          <a:p>
            <a:endParaRPr lang="es-MX" dirty="0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8331023E-4CB4-82E2-087A-FA103E7589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047" y="0"/>
            <a:ext cx="3606800" cy="1020460"/>
          </a:xfrm>
          <a:prstGeom prst="rect">
            <a:avLst/>
          </a:prstGeom>
        </p:spPr>
      </p:pic>
      <p:grpSp>
        <p:nvGrpSpPr>
          <p:cNvPr id="13" name="Grupo 12">
            <a:extLst>
              <a:ext uri="{FF2B5EF4-FFF2-40B4-BE49-F238E27FC236}">
                <a16:creationId xmlns:a16="http://schemas.microsoft.com/office/drawing/2014/main" id="{01127A1B-88DA-9A03-2675-463791875510}"/>
              </a:ext>
            </a:extLst>
          </p:cNvPr>
          <p:cNvGrpSpPr/>
          <p:nvPr/>
        </p:nvGrpSpPr>
        <p:grpSpPr>
          <a:xfrm rot="5400000">
            <a:off x="-3171598" y="3164288"/>
            <a:ext cx="6983895" cy="655320"/>
            <a:chOff x="703525" y="2152230"/>
            <a:chExt cx="10523975" cy="847409"/>
          </a:xfrm>
        </p:grpSpPr>
        <p:sp>
          <p:nvSpPr>
            <p:cNvPr id="14" name="Rectángulo 13">
              <a:extLst>
                <a:ext uri="{FF2B5EF4-FFF2-40B4-BE49-F238E27FC236}">
                  <a16:creationId xmlns:a16="http://schemas.microsoft.com/office/drawing/2014/main" id="{DDAB67E3-160D-D5B9-0294-3EAD0B8EB2DF}"/>
                </a:ext>
              </a:extLst>
            </p:cNvPr>
            <p:cNvSpPr/>
            <p:nvPr/>
          </p:nvSpPr>
          <p:spPr>
            <a:xfrm>
              <a:off x="703525" y="2152232"/>
              <a:ext cx="10523975" cy="84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lnSpc>
                  <a:spcPct val="115000"/>
                </a:lnSpc>
              </a:pPr>
              <a:r>
                <a:rPr lang="es-ES" sz="1100">
                  <a:effectLst/>
                  <a:latin typeface="Arial" panose="020B0604020202020204" pitchFamily="34" charset="0"/>
                  <a:ea typeface="Arial" panose="020B0604020202020204" pitchFamily="34" charset="0"/>
                </a:rPr>
                <a:t> </a:t>
              </a:r>
              <a:endParaRPr lang="es-MX" sz="1100">
                <a:effectLst/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grpSp>
          <p:nvGrpSpPr>
            <p:cNvPr id="15" name="Grupo 14">
              <a:extLst>
                <a:ext uri="{FF2B5EF4-FFF2-40B4-BE49-F238E27FC236}">
                  <a16:creationId xmlns:a16="http://schemas.microsoft.com/office/drawing/2014/main" id="{49068DCE-588D-03E6-7DB9-66EF7942DECC}"/>
                </a:ext>
              </a:extLst>
            </p:cNvPr>
            <p:cNvGrpSpPr/>
            <p:nvPr/>
          </p:nvGrpSpPr>
          <p:grpSpPr>
            <a:xfrm>
              <a:off x="703525" y="2152230"/>
              <a:ext cx="10412414" cy="847409"/>
              <a:chOff x="703525" y="2152450"/>
              <a:chExt cx="10412414" cy="1423500"/>
            </a:xfrm>
          </p:grpSpPr>
          <p:sp>
            <p:nvSpPr>
              <p:cNvPr id="16" name="Rectángulo 15">
                <a:extLst>
                  <a:ext uri="{FF2B5EF4-FFF2-40B4-BE49-F238E27FC236}">
                    <a16:creationId xmlns:a16="http://schemas.microsoft.com/office/drawing/2014/main" id="{5E10BFA8-612A-10A1-6323-6078458470B0}"/>
                  </a:ext>
                </a:extLst>
              </p:cNvPr>
              <p:cNvSpPr/>
              <p:nvPr/>
            </p:nvSpPr>
            <p:spPr>
              <a:xfrm>
                <a:off x="3657601" y="2152450"/>
                <a:ext cx="7458338" cy="1418699"/>
              </a:xfrm>
              <a:prstGeom prst="rect">
                <a:avLst/>
              </a:prstGeom>
              <a:solidFill>
                <a:srgbClr val="161E4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lnSpc>
                    <a:spcPct val="115000"/>
                  </a:lnSpc>
                </a:pPr>
                <a:r>
                  <a:rPr lang="es-ES" sz="1100">
                    <a:effectLst/>
                    <a:latin typeface="Arial" panose="020B0604020202020204" pitchFamily="34" charset="0"/>
                    <a:ea typeface="Arial" panose="020B0604020202020204" pitchFamily="34" charset="0"/>
                  </a:rPr>
                  <a:t> </a:t>
                </a:r>
                <a:endParaRPr lang="es-MX" sz="1100">
                  <a:effectLst/>
                  <a:latin typeface="Arial" panose="020B0604020202020204" pitchFamily="34" charset="0"/>
                  <a:ea typeface="Arial" panose="020B0604020202020204" pitchFamily="34" charset="0"/>
                </a:endParaRPr>
              </a:p>
            </p:txBody>
          </p:sp>
          <p:sp>
            <p:nvSpPr>
              <p:cNvPr id="18" name="Rectángulo 17">
                <a:extLst>
                  <a:ext uri="{FF2B5EF4-FFF2-40B4-BE49-F238E27FC236}">
                    <a16:creationId xmlns:a16="http://schemas.microsoft.com/office/drawing/2014/main" id="{91E05268-686A-7900-E5CF-E35C35042577}"/>
                  </a:ext>
                </a:extLst>
              </p:cNvPr>
              <p:cNvSpPr/>
              <p:nvPr/>
            </p:nvSpPr>
            <p:spPr>
              <a:xfrm>
                <a:off x="703525" y="2157250"/>
                <a:ext cx="2458800" cy="1418700"/>
              </a:xfrm>
              <a:prstGeom prst="rect">
                <a:avLst/>
              </a:pr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lnSpc>
                    <a:spcPct val="115000"/>
                  </a:lnSpc>
                </a:pPr>
                <a:r>
                  <a:rPr lang="es-ES" sz="1100">
                    <a:effectLst/>
                    <a:latin typeface="Arial" panose="020B0604020202020204" pitchFamily="34" charset="0"/>
                    <a:ea typeface="Arial" panose="020B0604020202020204" pitchFamily="34" charset="0"/>
                  </a:rPr>
                  <a:t> </a:t>
                </a:r>
                <a:endParaRPr lang="es-MX" sz="1100">
                  <a:effectLst/>
                  <a:latin typeface="Arial" panose="020B0604020202020204" pitchFamily="34" charset="0"/>
                  <a:ea typeface="Arial" panose="020B0604020202020204" pitchFamily="34" charset="0"/>
                </a:endParaRPr>
              </a:p>
            </p:txBody>
          </p:sp>
          <p:sp>
            <p:nvSpPr>
              <p:cNvPr id="20" name="Paralelogramo 19">
                <a:extLst>
                  <a:ext uri="{FF2B5EF4-FFF2-40B4-BE49-F238E27FC236}">
                    <a16:creationId xmlns:a16="http://schemas.microsoft.com/office/drawing/2014/main" id="{9072E59B-7ED5-0A29-D89B-C3B8F9A87E06}"/>
                  </a:ext>
                </a:extLst>
              </p:cNvPr>
              <p:cNvSpPr/>
              <p:nvPr/>
            </p:nvSpPr>
            <p:spPr>
              <a:xfrm>
                <a:off x="2860775" y="2152450"/>
                <a:ext cx="1127400" cy="1418700"/>
              </a:xfrm>
              <a:prstGeom prst="parallelogram">
                <a:avLst>
                  <a:gd name="adj" fmla="val 25000"/>
                </a:avLst>
              </a:prstGeom>
              <a:solidFill>
                <a:srgbClr val="97A7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lnSpc>
                    <a:spcPct val="115000"/>
                  </a:lnSpc>
                </a:pPr>
                <a:r>
                  <a:rPr lang="es-ES" sz="1100">
                    <a:effectLst/>
                    <a:latin typeface="Arial" panose="020B0604020202020204" pitchFamily="34" charset="0"/>
                    <a:ea typeface="Arial" panose="020B0604020202020204" pitchFamily="34" charset="0"/>
                  </a:rPr>
                  <a:t> </a:t>
                </a:r>
                <a:endParaRPr lang="es-MX" sz="1100">
                  <a:effectLst/>
                  <a:latin typeface="Arial" panose="020B0604020202020204" pitchFamily="34" charset="0"/>
                  <a:ea typeface="Arial" panose="020B0604020202020204" pitchFamily="34" charset="0"/>
                </a:endParaRPr>
              </a:p>
            </p:txBody>
          </p:sp>
        </p:grpSp>
      </p:grpSp>
      <p:sp>
        <p:nvSpPr>
          <p:cNvPr id="37" name="CuadroTexto 36">
            <a:extLst>
              <a:ext uri="{FF2B5EF4-FFF2-40B4-BE49-F238E27FC236}">
                <a16:creationId xmlns:a16="http://schemas.microsoft.com/office/drawing/2014/main" id="{B17900E0-22A9-3D21-7199-BE9A85326727}"/>
              </a:ext>
            </a:extLst>
          </p:cNvPr>
          <p:cNvSpPr txBox="1"/>
          <p:nvPr/>
        </p:nvSpPr>
        <p:spPr>
          <a:xfrm>
            <a:off x="8941677" y="129744"/>
            <a:ext cx="314849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2000" b="1" dirty="0">
                <a:solidFill>
                  <a:srgbClr val="1B2749"/>
                </a:solidFill>
                <a:latin typeface="Albra Regular" pitchFamily="2" charset="77"/>
              </a:rPr>
              <a:t>Maestría en Inteligencia Artificial Aplicada (MNA)</a:t>
            </a:r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6C0D8AC7-99E5-12F3-A2A9-22FE58CA3C98}"/>
              </a:ext>
            </a:extLst>
          </p:cNvPr>
          <p:cNvSpPr txBox="1"/>
          <p:nvPr/>
        </p:nvSpPr>
        <p:spPr>
          <a:xfrm>
            <a:off x="5878687" y="6293354"/>
            <a:ext cx="61026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s-MX" sz="1800" dirty="0">
                <a:latin typeface="Avenir Next Condensed" panose="020B0506020202020204" pitchFamily="34" charset="0"/>
              </a:rPr>
              <a:t>Junio 2026</a:t>
            </a:r>
            <a:endParaRPr lang="es-MX"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3E4CB87F-F06E-8B15-2DCE-249E13B733CA}"/>
              </a:ext>
            </a:extLst>
          </p:cNvPr>
          <p:cNvSpPr/>
          <p:nvPr/>
        </p:nvSpPr>
        <p:spPr>
          <a:xfrm rot="16200000">
            <a:off x="-1568328" y="4294039"/>
            <a:ext cx="3915900" cy="6156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15000"/>
              </a:lnSpc>
            </a:pPr>
            <a:r>
              <a:rPr lang="es-ES" sz="1400" dirty="0">
                <a:solidFill>
                  <a:srgbClr val="FFFFFF"/>
                </a:solidFill>
                <a:effectLst/>
                <a:latin typeface="Gellix" pitchFamily="2" charset="77"/>
                <a:ea typeface="Fira Sans Extra Condensed"/>
                <a:cs typeface="Fira Sans Extra Condensed"/>
              </a:rPr>
              <a:t>Presentación del </a:t>
            </a:r>
            <a:r>
              <a:rPr lang="es-ES" sz="1400">
                <a:solidFill>
                  <a:srgbClr val="FFFFFF"/>
                </a:solidFill>
                <a:effectLst/>
                <a:latin typeface="Gellix" pitchFamily="2" charset="77"/>
                <a:ea typeface="Fira Sans Extra Condensed"/>
                <a:cs typeface="Fira Sans Extra Condensed"/>
              </a:rPr>
              <a:t>Proyecto Integrador</a:t>
            </a:r>
            <a:endParaRPr lang="es-MX" sz="1100" dirty="0">
              <a:effectLst/>
              <a:latin typeface="Gellix" pitchFamily="2" charset="77"/>
              <a:ea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38744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o 3">
            <a:extLst>
              <a:ext uri="{FF2B5EF4-FFF2-40B4-BE49-F238E27FC236}">
                <a16:creationId xmlns:a16="http://schemas.microsoft.com/office/drawing/2014/main" id="{BA2F9B76-D70D-0F10-BC27-39EB895783B8}"/>
              </a:ext>
            </a:extLst>
          </p:cNvPr>
          <p:cNvGrpSpPr/>
          <p:nvPr/>
        </p:nvGrpSpPr>
        <p:grpSpPr>
          <a:xfrm>
            <a:off x="-1" y="0"/>
            <a:ext cx="12322630" cy="714750"/>
            <a:chOff x="703525" y="2152231"/>
            <a:chExt cx="10523975" cy="924259"/>
          </a:xfrm>
        </p:grpSpPr>
        <p:sp>
          <p:nvSpPr>
            <p:cNvPr id="5" name="Rectángulo 4">
              <a:extLst>
                <a:ext uri="{FF2B5EF4-FFF2-40B4-BE49-F238E27FC236}">
                  <a16:creationId xmlns:a16="http://schemas.microsoft.com/office/drawing/2014/main" id="{DFAF7A8C-333D-C58F-9C95-59591841527A}"/>
                </a:ext>
              </a:extLst>
            </p:cNvPr>
            <p:cNvSpPr/>
            <p:nvPr/>
          </p:nvSpPr>
          <p:spPr>
            <a:xfrm>
              <a:off x="703525" y="2152232"/>
              <a:ext cx="10523975" cy="84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lnSpc>
                  <a:spcPct val="115000"/>
                </a:lnSpc>
              </a:pPr>
              <a:r>
                <a:rPr lang="es-ES" sz="1100">
                  <a:effectLst/>
                  <a:latin typeface="Arial" panose="020B0604020202020204" pitchFamily="34" charset="0"/>
                  <a:ea typeface="Arial" panose="020B0604020202020204" pitchFamily="34" charset="0"/>
                </a:rPr>
                <a:t> </a:t>
              </a:r>
              <a:endParaRPr lang="es-MX" sz="1100">
                <a:effectLst/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grpSp>
          <p:nvGrpSpPr>
            <p:cNvPr id="6" name="Grupo 5">
              <a:extLst>
                <a:ext uri="{FF2B5EF4-FFF2-40B4-BE49-F238E27FC236}">
                  <a16:creationId xmlns:a16="http://schemas.microsoft.com/office/drawing/2014/main" id="{F0F2FE41-68B0-2A54-4B88-859454FD71BF}"/>
                </a:ext>
              </a:extLst>
            </p:cNvPr>
            <p:cNvGrpSpPr/>
            <p:nvPr/>
          </p:nvGrpSpPr>
          <p:grpSpPr>
            <a:xfrm>
              <a:off x="703525" y="2152231"/>
              <a:ext cx="10412414" cy="924259"/>
              <a:chOff x="703525" y="2152450"/>
              <a:chExt cx="10412414" cy="1552594"/>
            </a:xfrm>
          </p:grpSpPr>
          <p:sp>
            <p:nvSpPr>
              <p:cNvPr id="7" name="Rectángulo 6">
                <a:extLst>
                  <a:ext uri="{FF2B5EF4-FFF2-40B4-BE49-F238E27FC236}">
                    <a16:creationId xmlns:a16="http://schemas.microsoft.com/office/drawing/2014/main" id="{1927F4A0-FF65-DE13-8DB0-F182C45D1F8F}"/>
                  </a:ext>
                </a:extLst>
              </p:cNvPr>
              <p:cNvSpPr/>
              <p:nvPr/>
            </p:nvSpPr>
            <p:spPr>
              <a:xfrm>
                <a:off x="3657601" y="2152450"/>
                <a:ext cx="7458338" cy="1418699"/>
              </a:xfrm>
              <a:prstGeom prst="rect">
                <a:avLst/>
              </a:prstGeom>
              <a:solidFill>
                <a:srgbClr val="161E4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lnSpc>
                    <a:spcPct val="115000"/>
                  </a:lnSpc>
                </a:pPr>
                <a:r>
                  <a:rPr lang="es-ES" sz="1100">
                    <a:effectLst/>
                    <a:latin typeface="Arial" panose="020B0604020202020204" pitchFamily="34" charset="0"/>
                    <a:ea typeface="Arial" panose="020B0604020202020204" pitchFamily="34" charset="0"/>
                  </a:rPr>
                  <a:t> </a:t>
                </a:r>
                <a:endParaRPr lang="es-MX" sz="1100">
                  <a:effectLst/>
                  <a:latin typeface="Arial" panose="020B0604020202020204" pitchFamily="34" charset="0"/>
                  <a:ea typeface="Arial" panose="020B0604020202020204" pitchFamily="34" charset="0"/>
                </a:endParaRPr>
              </a:p>
            </p:txBody>
          </p:sp>
          <p:sp>
            <p:nvSpPr>
              <p:cNvPr id="8" name="Rectángulo 7">
                <a:extLst>
                  <a:ext uri="{FF2B5EF4-FFF2-40B4-BE49-F238E27FC236}">
                    <a16:creationId xmlns:a16="http://schemas.microsoft.com/office/drawing/2014/main" id="{0F2B72AB-467F-B766-220B-492375030E4E}"/>
                  </a:ext>
                </a:extLst>
              </p:cNvPr>
              <p:cNvSpPr/>
              <p:nvPr/>
            </p:nvSpPr>
            <p:spPr>
              <a:xfrm>
                <a:off x="703525" y="2157250"/>
                <a:ext cx="2458800" cy="1418700"/>
              </a:xfrm>
              <a:prstGeom prst="rect">
                <a:avLst/>
              </a:pr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lnSpc>
                    <a:spcPct val="115000"/>
                  </a:lnSpc>
                </a:pPr>
                <a:r>
                  <a:rPr lang="es-ES" sz="1100">
                    <a:effectLst/>
                    <a:latin typeface="Arial" panose="020B0604020202020204" pitchFamily="34" charset="0"/>
                    <a:ea typeface="Arial" panose="020B0604020202020204" pitchFamily="34" charset="0"/>
                  </a:rPr>
                  <a:t> </a:t>
                </a:r>
                <a:endParaRPr lang="es-MX" sz="1100">
                  <a:effectLst/>
                  <a:latin typeface="Arial" panose="020B0604020202020204" pitchFamily="34" charset="0"/>
                  <a:ea typeface="Arial" panose="020B0604020202020204" pitchFamily="34" charset="0"/>
                </a:endParaRPr>
              </a:p>
            </p:txBody>
          </p:sp>
          <p:sp>
            <p:nvSpPr>
              <p:cNvPr id="9" name="Paralelogramo 8">
                <a:extLst>
                  <a:ext uri="{FF2B5EF4-FFF2-40B4-BE49-F238E27FC236}">
                    <a16:creationId xmlns:a16="http://schemas.microsoft.com/office/drawing/2014/main" id="{8623E56F-A27D-F7E7-D667-DB06C7907134}"/>
                  </a:ext>
                </a:extLst>
              </p:cNvPr>
              <p:cNvSpPr/>
              <p:nvPr/>
            </p:nvSpPr>
            <p:spPr>
              <a:xfrm>
                <a:off x="2860775" y="2152450"/>
                <a:ext cx="1127400" cy="1418700"/>
              </a:xfrm>
              <a:prstGeom prst="parallelogram">
                <a:avLst>
                  <a:gd name="adj" fmla="val 25000"/>
                </a:avLst>
              </a:prstGeom>
              <a:solidFill>
                <a:srgbClr val="97A7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lnSpc>
                    <a:spcPct val="115000"/>
                  </a:lnSpc>
                </a:pPr>
                <a:r>
                  <a:rPr lang="es-ES" sz="1100">
                    <a:effectLst/>
                    <a:latin typeface="Arial" panose="020B0604020202020204" pitchFamily="34" charset="0"/>
                    <a:ea typeface="Arial" panose="020B0604020202020204" pitchFamily="34" charset="0"/>
                  </a:rPr>
                  <a:t> </a:t>
                </a:r>
                <a:endParaRPr lang="es-MX" sz="1100">
                  <a:effectLst/>
                  <a:latin typeface="Arial" panose="020B0604020202020204" pitchFamily="34" charset="0"/>
                  <a:ea typeface="Arial" panose="020B0604020202020204" pitchFamily="34" charset="0"/>
                </a:endParaRPr>
              </a:p>
            </p:txBody>
          </p:sp>
          <p:sp>
            <p:nvSpPr>
              <p:cNvPr id="10" name="Rectángulo 9">
                <a:extLst>
                  <a:ext uri="{FF2B5EF4-FFF2-40B4-BE49-F238E27FC236}">
                    <a16:creationId xmlns:a16="http://schemas.microsoft.com/office/drawing/2014/main" id="{BA056F29-3298-1160-5F8C-8B8F0C5D6492}"/>
                  </a:ext>
                </a:extLst>
              </p:cNvPr>
              <p:cNvSpPr/>
              <p:nvPr/>
            </p:nvSpPr>
            <p:spPr>
              <a:xfrm>
                <a:off x="2510246" y="2367656"/>
                <a:ext cx="8600319" cy="13373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algn="r">
                  <a:lnSpc>
                    <a:spcPct val="115000"/>
                  </a:lnSpc>
                </a:pPr>
                <a:r>
                  <a:rPr lang="es-MX" sz="1400" dirty="0">
                    <a:solidFill>
                      <a:srgbClr val="FFFFFF"/>
                    </a:solidFill>
                    <a:effectLst/>
                    <a:latin typeface="Gellix" pitchFamily="2" charset="77"/>
                    <a:ea typeface="Fira Sans Extra Condensed"/>
                    <a:cs typeface="Fira Sans Extra Condensed"/>
                  </a:rPr>
                  <a:t>Identificación espacio-temporal de compuestos nutracéuticos en ganado lechero mediante inteligencia artificial</a:t>
                </a:r>
                <a:endParaRPr lang="es-MX" sz="1100" dirty="0">
                  <a:effectLst/>
                  <a:latin typeface="Gellix" pitchFamily="2" charset="77"/>
                  <a:ea typeface="Arial" panose="020B0604020202020204" pitchFamily="34" charset="0"/>
                </a:endParaRPr>
              </a:p>
            </p:txBody>
          </p:sp>
        </p:grpSp>
      </p:grpSp>
      <p:sp>
        <p:nvSpPr>
          <p:cNvPr id="11" name="Cuadro de texto 3">
            <a:extLst>
              <a:ext uri="{FF2B5EF4-FFF2-40B4-BE49-F238E27FC236}">
                <a16:creationId xmlns:a16="http://schemas.microsoft.com/office/drawing/2014/main" id="{A928BFB0-6995-2B29-CDC2-F7D5286D22C5}"/>
              </a:ext>
            </a:extLst>
          </p:cNvPr>
          <p:cNvSpPr txBox="1"/>
          <p:nvPr/>
        </p:nvSpPr>
        <p:spPr>
          <a:xfrm>
            <a:off x="608605" y="98129"/>
            <a:ext cx="1308735" cy="478790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5000"/>
              </a:lnSpc>
            </a:pPr>
            <a:r>
              <a:rPr lang="es-ES_tradnl" sz="2200">
                <a:solidFill>
                  <a:srgbClr val="161E43"/>
                </a:solidFill>
                <a:effectLst/>
                <a:latin typeface="Century Gothic" panose="020B0502020202020204" pitchFamily="34" charset="0"/>
                <a:ea typeface="Arial" panose="020B0604020202020204" pitchFamily="34" charset="0"/>
              </a:rPr>
              <a:t>MNA</a:t>
            </a:r>
            <a:endParaRPr lang="es-MX" sz="110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A17F96BB-950A-839D-5631-82791C0721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6723" y="570742"/>
            <a:ext cx="6970643" cy="931121"/>
          </a:xfrm>
        </p:spPr>
        <p:txBody>
          <a:bodyPr>
            <a:normAutofit/>
          </a:bodyPr>
          <a:lstStyle/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lang="es-MX" sz="2800" dirty="0">
                <a:latin typeface="Gellix" pitchFamily="2" charset="77"/>
              </a:rPr>
              <a:t>Agenda</a:t>
            </a:r>
            <a:endParaRPr lang="es-MX" sz="2000" dirty="0">
              <a:latin typeface="Gellix" pitchFamily="2" charset="77"/>
            </a:endParaRPr>
          </a:p>
        </p:txBody>
      </p:sp>
      <p:sp>
        <p:nvSpPr>
          <p:cNvPr id="13" name="Subtítulo 2">
            <a:extLst>
              <a:ext uri="{FF2B5EF4-FFF2-40B4-BE49-F238E27FC236}">
                <a16:creationId xmlns:a16="http://schemas.microsoft.com/office/drawing/2014/main" id="{30FF6E45-5264-8D11-EAC7-F180544307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6619" y="1501863"/>
            <a:ext cx="10844720" cy="3934690"/>
          </a:xfrm>
        </p:spPr>
        <p:txBody>
          <a:bodyPr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endParaRPr lang="es-MX" sz="2000" dirty="0">
              <a:latin typeface="Avenir Next Condensed" panose="020B05060202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s-MX" sz="2000" dirty="0">
              <a:latin typeface="Avenir Next Condensed" panose="020B05060202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s-MX" sz="2000" dirty="0">
              <a:latin typeface="Avenir Next Condensed" panose="020B05060202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s-MX" sz="2000" dirty="0">
              <a:latin typeface="Avenir Next Condensed" panose="020B05060202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s-MX" sz="2000" dirty="0">
              <a:latin typeface="Avenir Next Condensed" panose="020B05060202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s-MX" sz="2800" dirty="0">
              <a:latin typeface="Avenir Next Condensed" panose="020B0506020202020204" pitchFamily="34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57200" y="1554480"/>
            <a:ext cx="5577840" cy="841248"/>
          </a:xfrm>
          <a:prstGeom prst="rect">
            <a:avLst/>
          </a:prstGeom>
          <a:solidFill>
            <a:srgbClr val="161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66928" y="164592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D4A017"/>
                </a:solidFill>
                <a:latin typeface="Century Gothic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98448" y="1755648"/>
            <a:ext cx="4572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venir Next Condensed"/>
              </a:rPr>
              <a:t>Problematica y objetivo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1554480"/>
            <a:ext cx="5577840" cy="841248"/>
          </a:xfrm>
          <a:prstGeom prst="rect">
            <a:avLst/>
          </a:prstGeom>
          <a:solidFill>
            <a:srgbClr val="161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10528" y="164592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D4A017"/>
                </a:solidFill>
                <a:latin typeface="Century Gothic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42048" y="1755648"/>
            <a:ext cx="4572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venir Next Condensed"/>
              </a:rPr>
              <a:t>Hallazgos del EDA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514600"/>
            <a:ext cx="5577840" cy="841248"/>
          </a:xfrm>
          <a:prstGeom prst="rect">
            <a:avLst/>
          </a:prstGeom>
          <a:solidFill>
            <a:srgbClr val="161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66928" y="260604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D4A017"/>
                </a:solidFill>
                <a:latin typeface="Century Gothic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98448" y="2715768"/>
            <a:ext cx="4572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venir Next Condensed"/>
              </a:rPr>
              <a:t>Modelos desarrollados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2514600"/>
            <a:ext cx="5577840" cy="841248"/>
          </a:xfrm>
          <a:prstGeom prst="rect">
            <a:avLst/>
          </a:prstGeom>
          <a:solidFill>
            <a:srgbClr val="161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10528" y="260604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D4A017"/>
                </a:solidFill>
                <a:latin typeface="Century Gothic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42048" y="2715768"/>
            <a:ext cx="4572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venir Next Condensed"/>
              </a:rPr>
              <a:t>Solucion final: StackingRegressor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3474720"/>
            <a:ext cx="5577840" cy="841248"/>
          </a:xfrm>
          <a:prstGeom prst="rect">
            <a:avLst/>
          </a:prstGeom>
          <a:solidFill>
            <a:srgbClr val="161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66928" y="356616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D4A017"/>
                </a:solidFill>
                <a:latin typeface="Century Gothic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98448" y="3675887"/>
            <a:ext cx="4572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venir Next Condensed"/>
              </a:rPr>
              <a:t>Recomendaciones comerciales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0" y="3474720"/>
            <a:ext cx="5577840" cy="841248"/>
          </a:xfrm>
          <a:prstGeom prst="rect">
            <a:avLst/>
          </a:prstGeom>
          <a:solidFill>
            <a:srgbClr val="161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510528" y="356616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D4A017"/>
                </a:solidFill>
                <a:latin typeface="Century Gothic"/>
              </a:rPr>
              <a:t>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42048" y="3675887"/>
            <a:ext cx="4572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venir Next Condensed"/>
              </a:rPr>
              <a:t>SLOs y Monitoreo en Produccion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4434840"/>
            <a:ext cx="5577840" cy="841248"/>
          </a:xfrm>
          <a:prstGeom prst="rect">
            <a:avLst/>
          </a:prstGeom>
          <a:solidFill>
            <a:srgbClr val="161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66928" y="452628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D4A017"/>
                </a:solidFill>
                <a:latin typeface="Century Gothic"/>
              </a:rPr>
              <a:t>07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98448" y="4636008"/>
            <a:ext cx="4572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venir Next Condensed"/>
              </a:rPr>
              <a:t>Seguridad y Compliance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0" y="4434840"/>
            <a:ext cx="5577840" cy="841248"/>
          </a:xfrm>
          <a:prstGeom prst="rect">
            <a:avLst/>
          </a:prstGeom>
          <a:solidFill>
            <a:srgbClr val="161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510528" y="452628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D4A017"/>
                </a:solidFill>
                <a:latin typeface="Century Gothic"/>
              </a:rPr>
              <a:t>08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42048" y="4636008"/>
            <a:ext cx="4572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venir Next Condensed"/>
              </a:rPr>
              <a:t>Plan de Handoff y Operaciones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5394960"/>
            <a:ext cx="5577840" cy="841248"/>
          </a:xfrm>
          <a:prstGeom prst="rect">
            <a:avLst/>
          </a:prstGeom>
          <a:solidFill>
            <a:srgbClr val="161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66928" y="548640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D4A017"/>
                </a:solidFill>
                <a:latin typeface="Century Gothic"/>
              </a:rPr>
              <a:t>09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98448" y="5596128"/>
            <a:ext cx="4572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venir Next Condensed"/>
              </a:rPr>
              <a:t>Analisis costo-beneficio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0" y="5394960"/>
            <a:ext cx="5577840" cy="841248"/>
          </a:xfrm>
          <a:prstGeom prst="rect">
            <a:avLst/>
          </a:prstGeom>
          <a:solidFill>
            <a:srgbClr val="161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510528" y="548640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D4A017"/>
                </a:solidFill>
                <a:latin typeface="Century Gothic"/>
              </a:rPr>
              <a:t>10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42048" y="5596128"/>
            <a:ext cx="4572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venir Next Condensed"/>
              </a:rPr>
              <a:t>Riesgos y trabajos futuros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o 3">
            <a:extLst>
              <a:ext uri="{FF2B5EF4-FFF2-40B4-BE49-F238E27FC236}">
                <a16:creationId xmlns:a16="http://schemas.microsoft.com/office/drawing/2014/main" id="{BA2F9B76-D70D-0F10-BC27-39EB895783B8}"/>
              </a:ext>
            </a:extLst>
          </p:cNvPr>
          <p:cNvGrpSpPr/>
          <p:nvPr/>
        </p:nvGrpSpPr>
        <p:grpSpPr>
          <a:xfrm>
            <a:off x="-1" y="-2"/>
            <a:ext cx="12322630" cy="655320"/>
            <a:chOff x="703525" y="2152230"/>
            <a:chExt cx="10523975" cy="847409"/>
          </a:xfrm>
        </p:grpSpPr>
        <p:sp>
          <p:nvSpPr>
            <p:cNvPr id="5" name="Rectángulo 4">
              <a:extLst>
                <a:ext uri="{FF2B5EF4-FFF2-40B4-BE49-F238E27FC236}">
                  <a16:creationId xmlns:a16="http://schemas.microsoft.com/office/drawing/2014/main" id="{DFAF7A8C-333D-C58F-9C95-59591841527A}"/>
                </a:ext>
              </a:extLst>
            </p:cNvPr>
            <p:cNvSpPr/>
            <p:nvPr/>
          </p:nvSpPr>
          <p:spPr>
            <a:xfrm>
              <a:off x="703525" y="2152232"/>
              <a:ext cx="10523975" cy="84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lnSpc>
                  <a:spcPct val="115000"/>
                </a:lnSpc>
              </a:pPr>
              <a:r>
                <a:rPr lang="es-ES" sz="1100">
                  <a:effectLst/>
                  <a:latin typeface="Arial" panose="020B0604020202020204" pitchFamily="34" charset="0"/>
                  <a:ea typeface="Arial" panose="020B0604020202020204" pitchFamily="34" charset="0"/>
                </a:rPr>
                <a:t> </a:t>
              </a:r>
              <a:endParaRPr lang="es-MX" sz="1100">
                <a:effectLst/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grpSp>
          <p:nvGrpSpPr>
            <p:cNvPr id="6" name="Grupo 5">
              <a:extLst>
                <a:ext uri="{FF2B5EF4-FFF2-40B4-BE49-F238E27FC236}">
                  <a16:creationId xmlns:a16="http://schemas.microsoft.com/office/drawing/2014/main" id="{F0F2FE41-68B0-2A54-4B88-859454FD71BF}"/>
                </a:ext>
              </a:extLst>
            </p:cNvPr>
            <p:cNvGrpSpPr/>
            <p:nvPr/>
          </p:nvGrpSpPr>
          <p:grpSpPr>
            <a:xfrm>
              <a:off x="703525" y="2152230"/>
              <a:ext cx="10412414" cy="847409"/>
              <a:chOff x="703525" y="2152450"/>
              <a:chExt cx="10412414" cy="1423500"/>
            </a:xfrm>
          </p:grpSpPr>
          <p:sp>
            <p:nvSpPr>
              <p:cNvPr id="7" name="Rectángulo 6">
                <a:extLst>
                  <a:ext uri="{FF2B5EF4-FFF2-40B4-BE49-F238E27FC236}">
                    <a16:creationId xmlns:a16="http://schemas.microsoft.com/office/drawing/2014/main" id="{1927F4A0-FF65-DE13-8DB0-F182C45D1F8F}"/>
                  </a:ext>
                </a:extLst>
              </p:cNvPr>
              <p:cNvSpPr/>
              <p:nvPr/>
            </p:nvSpPr>
            <p:spPr>
              <a:xfrm>
                <a:off x="3657601" y="2152450"/>
                <a:ext cx="7458338" cy="1418699"/>
              </a:xfrm>
              <a:prstGeom prst="rect">
                <a:avLst/>
              </a:prstGeom>
              <a:solidFill>
                <a:srgbClr val="161E4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lnSpc>
                    <a:spcPct val="115000"/>
                  </a:lnSpc>
                </a:pPr>
                <a:r>
                  <a:rPr lang="es-ES" sz="1100">
                    <a:effectLst/>
                    <a:latin typeface="Arial" panose="020B0604020202020204" pitchFamily="34" charset="0"/>
                    <a:ea typeface="Arial" panose="020B0604020202020204" pitchFamily="34" charset="0"/>
                  </a:rPr>
                  <a:t> </a:t>
                </a:r>
                <a:endParaRPr lang="es-MX" sz="1100">
                  <a:effectLst/>
                  <a:latin typeface="Arial" panose="020B0604020202020204" pitchFamily="34" charset="0"/>
                  <a:ea typeface="Arial" panose="020B0604020202020204" pitchFamily="34" charset="0"/>
                </a:endParaRPr>
              </a:p>
            </p:txBody>
          </p:sp>
          <p:sp>
            <p:nvSpPr>
              <p:cNvPr id="8" name="Rectángulo 7">
                <a:extLst>
                  <a:ext uri="{FF2B5EF4-FFF2-40B4-BE49-F238E27FC236}">
                    <a16:creationId xmlns:a16="http://schemas.microsoft.com/office/drawing/2014/main" id="{0F2B72AB-467F-B766-220B-492375030E4E}"/>
                  </a:ext>
                </a:extLst>
              </p:cNvPr>
              <p:cNvSpPr/>
              <p:nvPr/>
            </p:nvSpPr>
            <p:spPr>
              <a:xfrm>
                <a:off x="703525" y="2157250"/>
                <a:ext cx="2458800" cy="1418700"/>
              </a:xfrm>
              <a:prstGeom prst="rect">
                <a:avLst/>
              </a:pr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lnSpc>
                    <a:spcPct val="115000"/>
                  </a:lnSpc>
                </a:pPr>
                <a:r>
                  <a:rPr lang="es-ES" sz="1100">
                    <a:effectLst/>
                    <a:latin typeface="Arial" panose="020B0604020202020204" pitchFamily="34" charset="0"/>
                    <a:ea typeface="Arial" panose="020B0604020202020204" pitchFamily="34" charset="0"/>
                  </a:rPr>
                  <a:t> </a:t>
                </a:r>
                <a:endParaRPr lang="es-MX" sz="1100">
                  <a:effectLst/>
                  <a:latin typeface="Arial" panose="020B0604020202020204" pitchFamily="34" charset="0"/>
                  <a:ea typeface="Arial" panose="020B0604020202020204" pitchFamily="34" charset="0"/>
                </a:endParaRPr>
              </a:p>
            </p:txBody>
          </p:sp>
          <p:sp>
            <p:nvSpPr>
              <p:cNvPr id="9" name="Paralelogramo 8">
                <a:extLst>
                  <a:ext uri="{FF2B5EF4-FFF2-40B4-BE49-F238E27FC236}">
                    <a16:creationId xmlns:a16="http://schemas.microsoft.com/office/drawing/2014/main" id="{8623E56F-A27D-F7E7-D667-DB06C7907134}"/>
                  </a:ext>
                </a:extLst>
              </p:cNvPr>
              <p:cNvSpPr/>
              <p:nvPr/>
            </p:nvSpPr>
            <p:spPr>
              <a:xfrm>
                <a:off x="2860775" y="2152450"/>
                <a:ext cx="1127400" cy="1418700"/>
              </a:xfrm>
              <a:prstGeom prst="parallelogram">
                <a:avLst>
                  <a:gd name="adj" fmla="val 25000"/>
                </a:avLst>
              </a:prstGeom>
              <a:solidFill>
                <a:srgbClr val="97A7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lnSpc>
                    <a:spcPct val="115000"/>
                  </a:lnSpc>
                </a:pPr>
                <a:r>
                  <a:rPr lang="es-ES" sz="1100">
                    <a:effectLst/>
                    <a:latin typeface="Arial" panose="020B0604020202020204" pitchFamily="34" charset="0"/>
                    <a:ea typeface="Arial" panose="020B0604020202020204" pitchFamily="34" charset="0"/>
                  </a:rPr>
                  <a:t> </a:t>
                </a:r>
                <a:endParaRPr lang="es-MX" sz="1100">
                  <a:effectLst/>
                  <a:latin typeface="Arial" panose="020B0604020202020204" pitchFamily="34" charset="0"/>
                  <a:ea typeface="Arial" panose="020B0604020202020204" pitchFamily="34" charset="0"/>
                </a:endParaRPr>
              </a:p>
            </p:txBody>
          </p:sp>
        </p:grpSp>
      </p:grpSp>
      <p:sp>
        <p:nvSpPr>
          <p:cNvPr id="11" name="Cuadro de texto 3">
            <a:extLst>
              <a:ext uri="{FF2B5EF4-FFF2-40B4-BE49-F238E27FC236}">
                <a16:creationId xmlns:a16="http://schemas.microsoft.com/office/drawing/2014/main" id="{A928BFB0-6995-2B29-CDC2-F7D5286D22C5}"/>
              </a:ext>
            </a:extLst>
          </p:cNvPr>
          <p:cNvSpPr txBox="1"/>
          <p:nvPr/>
        </p:nvSpPr>
        <p:spPr>
          <a:xfrm>
            <a:off x="608605" y="98129"/>
            <a:ext cx="1308735" cy="478790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5000"/>
              </a:lnSpc>
            </a:pPr>
            <a:r>
              <a:rPr lang="es-ES_tradnl" sz="2200">
                <a:solidFill>
                  <a:srgbClr val="161E43"/>
                </a:solidFill>
                <a:effectLst/>
                <a:latin typeface="Century Gothic" panose="020B0502020202020204" pitchFamily="34" charset="0"/>
                <a:ea typeface="Arial" panose="020B0604020202020204" pitchFamily="34" charset="0"/>
              </a:rPr>
              <a:t>MNA</a:t>
            </a:r>
            <a:endParaRPr lang="es-MX" sz="110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A17F96BB-950A-839D-5631-82791C0721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6723" y="570742"/>
            <a:ext cx="6970643" cy="931121"/>
          </a:xfrm>
        </p:spPr>
        <p:txBody>
          <a:bodyPr>
            <a:normAutofit/>
          </a:bodyPr>
          <a:lstStyle/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lang="es-MX" sz="2800" dirty="0">
                <a:latin typeface="Gellix" pitchFamily="2" charset="77"/>
              </a:rPr>
              <a:t>01 | Problematica y Objetivo</a:t>
            </a:r>
            <a:endParaRPr lang="es-MX" sz="2000" dirty="0">
              <a:latin typeface="Gellix" pitchFamily="2" charset="77"/>
            </a:endParaRPr>
          </a:p>
        </p:txBody>
      </p:sp>
      <p:sp>
        <p:nvSpPr>
          <p:cNvPr id="13" name="Subtítulo 2">
            <a:extLst>
              <a:ext uri="{FF2B5EF4-FFF2-40B4-BE49-F238E27FC236}">
                <a16:creationId xmlns:a16="http://schemas.microsoft.com/office/drawing/2014/main" id="{30FF6E45-5264-8D11-EAC7-F180544307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6619" y="1501863"/>
            <a:ext cx="10844720" cy="3934690"/>
          </a:xfrm>
        </p:spPr>
        <p:txBody>
          <a:bodyPr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endParaRPr lang="es-MX" sz="2000" dirty="0">
              <a:latin typeface="Avenir Next Condensed" panose="020B05060202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s-MX" sz="2000" dirty="0">
              <a:latin typeface="Avenir Next Condensed" panose="020B05060202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s-MX" sz="2000" dirty="0">
              <a:latin typeface="Avenir Next Condensed" panose="020B05060202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s-MX" sz="2000" dirty="0">
              <a:latin typeface="Avenir Next Condensed" panose="020B05060202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s-MX" sz="2000" dirty="0">
              <a:latin typeface="Avenir Next Condensed" panose="020B05060202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s-MX" sz="2800" dirty="0">
              <a:latin typeface="Avenir Next Condensed" panose="020B0506020202020204" pitchFamily="34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65760" y="1645920"/>
            <a:ext cx="5394960" cy="448056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17373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61E44"/>
                </a:solidFill>
                <a:latin typeface="Century Gothic"/>
              </a:rPr>
              <a:t>El problema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212848"/>
            <a:ext cx="5394960" cy="8412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2267712"/>
            <a:ext cx="50292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61E44"/>
                </a:solidFill>
                <a:latin typeface="Avenir Next Condensed"/>
              </a:rPr>
              <a:t>• El ganado bovino genera el 14.5% de los GEI globales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172968"/>
            <a:ext cx="5394960" cy="8412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8640" y="3227832"/>
            <a:ext cx="50292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61E44"/>
                </a:solidFill>
                <a:latin typeface="Avenir Next Condensed"/>
              </a:rPr>
              <a:t>• Sin herramientas predictivas, la dosificacion es empirica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133087"/>
            <a:ext cx="5394960" cy="8412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4187952"/>
            <a:ext cx="50292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61E44"/>
                </a:solidFill>
                <a:latin typeface="Avenir Next Condensed"/>
              </a:rPr>
              <a:t>• Exceso de suplemento: costo innecesario. Deficit: metano alto persistente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5093208"/>
            <a:ext cx="5394960" cy="8412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48640" y="5148072"/>
            <a:ext cx="50292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61E44"/>
                </a:solidFill>
                <a:latin typeface="Avenir Next Condensed"/>
              </a:rPr>
              <a:t>• Regulaciones ambientales exigen metricas verificables de carbono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26480" y="1645920"/>
            <a:ext cx="5760720" cy="2103120"/>
          </a:xfrm>
          <a:prstGeom prst="rect">
            <a:avLst/>
          </a:prstGeom>
          <a:solidFill>
            <a:srgbClr val="161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309360" y="171907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4A017"/>
                </a:solidFill>
                <a:latin typeface="Century Gothic"/>
              </a:rPr>
              <a:t>Objetivo del proyecto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2148840"/>
            <a:ext cx="5394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Avenir Next Condensed"/>
              </a:rPr>
              <a:t>Predecir la intensidad de emision de metano (g CH4/kg leche) por vaca mediante ML para optimizar la dosis de nutraceuticos y reducir la huella de carbono.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26480" y="3886200"/>
            <a:ext cx="5760720" cy="224028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309360" y="395020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61E44"/>
                </a:solidFill>
                <a:latin typeface="Century Gothic"/>
              </a:rPr>
              <a:t>Dataset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4434840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61E44"/>
                </a:solidFill>
                <a:latin typeface="Century Gothic"/>
              </a:rPr>
              <a:t>73,000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495604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56580"/>
                </a:solidFill>
                <a:latin typeface="Avenir Next Condensed"/>
              </a:rPr>
              <a:t>registros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99248" y="4434840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61E44"/>
                </a:solidFill>
                <a:latin typeface="Century Gothic"/>
              </a:rPr>
              <a:t>100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99248" y="495604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56580"/>
                </a:solidFill>
                <a:latin typeface="Avenir Next Condensed"/>
              </a:rPr>
              <a:t>vacas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89136" y="4434840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61E44"/>
                </a:solidFill>
                <a:latin typeface="Century Gothic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89136" y="495604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56580"/>
                </a:solidFill>
                <a:latin typeface="Avenir Next Condensed"/>
              </a:rPr>
              <a:t>razas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479024" y="4434840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61E44"/>
                </a:solidFill>
                <a:latin typeface="Century Gothic"/>
              </a:rPr>
              <a:t>24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479024" y="495604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56580"/>
                </a:solidFill>
                <a:latin typeface="Avenir Next Condensed"/>
              </a:rPr>
              <a:t>meses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09C62B54-AB75-4E5C-5E32-5E737DDF1179}"/>
              </a:ext>
            </a:extLst>
          </p:cNvPr>
          <p:cNvSpPr/>
          <p:nvPr/>
        </p:nvSpPr>
        <p:spPr>
          <a:xfrm>
            <a:off x="2115507" y="99072"/>
            <a:ext cx="10070201" cy="6156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r">
              <a:lnSpc>
                <a:spcPct val="115000"/>
              </a:lnSpc>
            </a:pPr>
            <a:r>
              <a:rPr lang="es-MX" sz="1400" dirty="0">
                <a:solidFill>
                  <a:srgbClr val="FFFFFF"/>
                </a:solidFill>
                <a:effectLst/>
                <a:latin typeface="Gellix" pitchFamily="2" charset="77"/>
                <a:ea typeface="Fira Sans Extra Condensed"/>
                <a:cs typeface="Fira Sans Extra Condensed"/>
              </a:rPr>
              <a:t>Identificación espacio-temporal de compuestos nutracéuticos en ganado lechero mediante inteligencia artificial</a:t>
            </a:r>
            <a:endParaRPr lang="es-MX" sz="1100" dirty="0">
              <a:effectLst/>
              <a:latin typeface="Gellix" pitchFamily="2" charset="77"/>
              <a:ea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o 3">
            <a:extLst>
              <a:ext uri="{FF2B5EF4-FFF2-40B4-BE49-F238E27FC236}">
                <a16:creationId xmlns:a16="http://schemas.microsoft.com/office/drawing/2014/main" id="{BA2F9B76-D70D-0F10-BC27-39EB895783B8}"/>
              </a:ext>
            </a:extLst>
          </p:cNvPr>
          <p:cNvGrpSpPr/>
          <p:nvPr/>
        </p:nvGrpSpPr>
        <p:grpSpPr>
          <a:xfrm>
            <a:off x="-1" y="-2"/>
            <a:ext cx="12322630" cy="655320"/>
            <a:chOff x="703525" y="2152230"/>
            <a:chExt cx="10523975" cy="847409"/>
          </a:xfrm>
        </p:grpSpPr>
        <p:sp>
          <p:nvSpPr>
            <p:cNvPr id="5" name="Rectángulo 4">
              <a:extLst>
                <a:ext uri="{FF2B5EF4-FFF2-40B4-BE49-F238E27FC236}">
                  <a16:creationId xmlns:a16="http://schemas.microsoft.com/office/drawing/2014/main" id="{DFAF7A8C-333D-C58F-9C95-59591841527A}"/>
                </a:ext>
              </a:extLst>
            </p:cNvPr>
            <p:cNvSpPr/>
            <p:nvPr/>
          </p:nvSpPr>
          <p:spPr>
            <a:xfrm>
              <a:off x="703525" y="2152232"/>
              <a:ext cx="10523975" cy="84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lnSpc>
                  <a:spcPct val="115000"/>
                </a:lnSpc>
              </a:pPr>
              <a:r>
                <a:rPr lang="es-ES" sz="1100">
                  <a:effectLst/>
                  <a:latin typeface="Arial" panose="020B0604020202020204" pitchFamily="34" charset="0"/>
                  <a:ea typeface="Arial" panose="020B0604020202020204" pitchFamily="34" charset="0"/>
                </a:rPr>
                <a:t> </a:t>
              </a:r>
              <a:endParaRPr lang="es-MX" sz="1100">
                <a:effectLst/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grpSp>
          <p:nvGrpSpPr>
            <p:cNvPr id="6" name="Grupo 5">
              <a:extLst>
                <a:ext uri="{FF2B5EF4-FFF2-40B4-BE49-F238E27FC236}">
                  <a16:creationId xmlns:a16="http://schemas.microsoft.com/office/drawing/2014/main" id="{F0F2FE41-68B0-2A54-4B88-859454FD71BF}"/>
                </a:ext>
              </a:extLst>
            </p:cNvPr>
            <p:cNvGrpSpPr/>
            <p:nvPr/>
          </p:nvGrpSpPr>
          <p:grpSpPr>
            <a:xfrm>
              <a:off x="703525" y="2152230"/>
              <a:ext cx="10412414" cy="847409"/>
              <a:chOff x="703525" y="2152450"/>
              <a:chExt cx="10412414" cy="1423500"/>
            </a:xfrm>
          </p:grpSpPr>
          <p:sp>
            <p:nvSpPr>
              <p:cNvPr id="7" name="Rectángulo 6">
                <a:extLst>
                  <a:ext uri="{FF2B5EF4-FFF2-40B4-BE49-F238E27FC236}">
                    <a16:creationId xmlns:a16="http://schemas.microsoft.com/office/drawing/2014/main" id="{1927F4A0-FF65-DE13-8DB0-F182C45D1F8F}"/>
                  </a:ext>
                </a:extLst>
              </p:cNvPr>
              <p:cNvSpPr/>
              <p:nvPr/>
            </p:nvSpPr>
            <p:spPr>
              <a:xfrm>
                <a:off x="3657601" y="2152450"/>
                <a:ext cx="7458338" cy="1418699"/>
              </a:xfrm>
              <a:prstGeom prst="rect">
                <a:avLst/>
              </a:prstGeom>
              <a:solidFill>
                <a:srgbClr val="161E4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lnSpc>
                    <a:spcPct val="115000"/>
                  </a:lnSpc>
                </a:pPr>
                <a:r>
                  <a:rPr lang="es-ES" sz="1100">
                    <a:effectLst/>
                    <a:latin typeface="Arial" panose="020B0604020202020204" pitchFamily="34" charset="0"/>
                    <a:ea typeface="Arial" panose="020B0604020202020204" pitchFamily="34" charset="0"/>
                  </a:rPr>
                  <a:t> </a:t>
                </a:r>
                <a:endParaRPr lang="es-MX" sz="1100">
                  <a:effectLst/>
                  <a:latin typeface="Arial" panose="020B0604020202020204" pitchFamily="34" charset="0"/>
                  <a:ea typeface="Arial" panose="020B0604020202020204" pitchFamily="34" charset="0"/>
                </a:endParaRPr>
              </a:p>
            </p:txBody>
          </p:sp>
          <p:sp>
            <p:nvSpPr>
              <p:cNvPr id="8" name="Rectángulo 7">
                <a:extLst>
                  <a:ext uri="{FF2B5EF4-FFF2-40B4-BE49-F238E27FC236}">
                    <a16:creationId xmlns:a16="http://schemas.microsoft.com/office/drawing/2014/main" id="{0F2B72AB-467F-B766-220B-492375030E4E}"/>
                  </a:ext>
                </a:extLst>
              </p:cNvPr>
              <p:cNvSpPr/>
              <p:nvPr/>
            </p:nvSpPr>
            <p:spPr>
              <a:xfrm>
                <a:off x="703525" y="2157250"/>
                <a:ext cx="2458800" cy="1418700"/>
              </a:xfrm>
              <a:prstGeom prst="rect">
                <a:avLst/>
              </a:pr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lnSpc>
                    <a:spcPct val="115000"/>
                  </a:lnSpc>
                </a:pPr>
                <a:r>
                  <a:rPr lang="es-ES" sz="1100">
                    <a:effectLst/>
                    <a:latin typeface="Arial" panose="020B0604020202020204" pitchFamily="34" charset="0"/>
                    <a:ea typeface="Arial" panose="020B0604020202020204" pitchFamily="34" charset="0"/>
                  </a:rPr>
                  <a:t> </a:t>
                </a:r>
                <a:endParaRPr lang="es-MX" sz="1100">
                  <a:effectLst/>
                  <a:latin typeface="Arial" panose="020B0604020202020204" pitchFamily="34" charset="0"/>
                  <a:ea typeface="Arial" panose="020B0604020202020204" pitchFamily="34" charset="0"/>
                </a:endParaRPr>
              </a:p>
            </p:txBody>
          </p:sp>
          <p:sp>
            <p:nvSpPr>
              <p:cNvPr id="9" name="Paralelogramo 8">
                <a:extLst>
                  <a:ext uri="{FF2B5EF4-FFF2-40B4-BE49-F238E27FC236}">
                    <a16:creationId xmlns:a16="http://schemas.microsoft.com/office/drawing/2014/main" id="{8623E56F-A27D-F7E7-D667-DB06C7907134}"/>
                  </a:ext>
                </a:extLst>
              </p:cNvPr>
              <p:cNvSpPr/>
              <p:nvPr/>
            </p:nvSpPr>
            <p:spPr>
              <a:xfrm>
                <a:off x="2860775" y="2152450"/>
                <a:ext cx="1127400" cy="1418700"/>
              </a:xfrm>
              <a:prstGeom prst="parallelogram">
                <a:avLst>
                  <a:gd name="adj" fmla="val 25000"/>
                </a:avLst>
              </a:prstGeom>
              <a:solidFill>
                <a:srgbClr val="97A7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lnSpc>
                    <a:spcPct val="115000"/>
                  </a:lnSpc>
                </a:pPr>
                <a:r>
                  <a:rPr lang="es-ES" sz="1100">
                    <a:effectLst/>
                    <a:latin typeface="Arial" panose="020B0604020202020204" pitchFamily="34" charset="0"/>
                    <a:ea typeface="Arial" panose="020B0604020202020204" pitchFamily="34" charset="0"/>
                  </a:rPr>
                  <a:t> </a:t>
                </a:r>
                <a:endParaRPr lang="es-MX" sz="1100">
                  <a:effectLst/>
                  <a:latin typeface="Arial" panose="020B0604020202020204" pitchFamily="34" charset="0"/>
                  <a:ea typeface="Arial" panose="020B0604020202020204" pitchFamily="34" charset="0"/>
                </a:endParaRPr>
              </a:p>
            </p:txBody>
          </p:sp>
        </p:grpSp>
      </p:grpSp>
      <p:sp>
        <p:nvSpPr>
          <p:cNvPr id="11" name="Cuadro de texto 3">
            <a:extLst>
              <a:ext uri="{FF2B5EF4-FFF2-40B4-BE49-F238E27FC236}">
                <a16:creationId xmlns:a16="http://schemas.microsoft.com/office/drawing/2014/main" id="{A928BFB0-6995-2B29-CDC2-F7D5286D22C5}"/>
              </a:ext>
            </a:extLst>
          </p:cNvPr>
          <p:cNvSpPr txBox="1"/>
          <p:nvPr/>
        </p:nvSpPr>
        <p:spPr>
          <a:xfrm>
            <a:off x="608605" y="98129"/>
            <a:ext cx="1308735" cy="478790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5000"/>
              </a:lnSpc>
            </a:pPr>
            <a:r>
              <a:rPr lang="es-ES_tradnl" sz="2200">
                <a:solidFill>
                  <a:srgbClr val="161E43"/>
                </a:solidFill>
                <a:effectLst/>
                <a:latin typeface="Century Gothic" panose="020B0502020202020204" pitchFamily="34" charset="0"/>
                <a:ea typeface="Arial" panose="020B0604020202020204" pitchFamily="34" charset="0"/>
              </a:rPr>
              <a:t>MNA</a:t>
            </a:r>
            <a:endParaRPr lang="es-MX" sz="110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A17F96BB-950A-839D-5631-82791C0721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6723" y="570742"/>
            <a:ext cx="6970643" cy="931121"/>
          </a:xfrm>
        </p:spPr>
        <p:txBody>
          <a:bodyPr>
            <a:normAutofit/>
          </a:bodyPr>
          <a:lstStyle/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lang="es-MX" sz="2800" dirty="0">
                <a:latin typeface="Gellix" pitchFamily="2" charset="77"/>
              </a:rPr>
              <a:t>02 | Hallazgos del Analisis Exploratorio</a:t>
            </a:r>
            <a:endParaRPr lang="es-MX" sz="2000" dirty="0">
              <a:latin typeface="Gellix" pitchFamily="2" charset="77"/>
            </a:endParaRPr>
          </a:p>
        </p:txBody>
      </p:sp>
      <p:sp>
        <p:nvSpPr>
          <p:cNvPr id="13" name="Subtítulo 2">
            <a:extLst>
              <a:ext uri="{FF2B5EF4-FFF2-40B4-BE49-F238E27FC236}">
                <a16:creationId xmlns:a16="http://schemas.microsoft.com/office/drawing/2014/main" id="{30FF6E45-5264-8D11-EAC7-F180544307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6619" y="1501863"/>
            <a:ext cx="10844720" cy="3934690"/>
          </a:xfrm>
        </p:spPr>
        <p:txBody>
          <a:bodyPr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endParaRPr lang="es-MX" sz="2000" dirty="0">
              <a:latin typeface="Avenir Next Condensed" panose="020B05060202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s-MX" sz="2000" dirty="0">
              <a:latin typeface="Avenir Next Condensed" panose="020B05060202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s-MX" sz="2000" dirty="0">
              <a:latin typeface="Avenir Next Condensed" panose="020B05060202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s-MX" sz="2000" dirty="0">
              <a:latin typeface="Avenir Next Condensed" panose="020B05060202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s-MX" sz="2000" dirty="0">
              <a:latin typeface="Avenir Next Condensed" panose="020B05060202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s-MX" sz="2800" dirty="0">
              <a:latin typeface="Avenir Next Condensed" panose="020B0506020202020204" pitchFamily="34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65760" y="1645920"/>
            <a:ext cx="5715000" cy="224028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65760" y="1645920"/>
            <a:ext cx="5715000" cy="438912"/>
          </a:xfrm>
          <a:prstGeom prst="rect">
            <a:avLst/>
          </a:prstGeom>
          <a:solidFill>
            <a:srgbClr val="161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2920" y="1700784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entury Gothic"/>
              </a:rPr>
              <a:t>Distribucion de metano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2194560"/>
            <a:ext cx="5394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61E44"/>
                </a:solidFill>
                <a:latin typeface="Avenir Next Condensed"/>
              </a:rPr>
              <a:t>Media: 16.5 g CH4/kg leche</a:t>
            </a:r>
          </a:p>
          <a:p>
            <a:pPr algn="l"/>
            <a:r>
              <a:rPr sz="1200" b="0">
                <a:solidFill>
                  <a:srgbClr val="161E44"/>
                </a:solidFill>
                <a:latin typeface="Avenir Next Condensed"/>
              </a:rPr>
              <a:t>Rango: 8-35 g/kg · 23% en nivel "Alto" (&gt;25 g)</a:t>
            </a:r>
          </a:p>
          <a:p>
            <a:pPr algn="l"/>
            <a:r>
              <a:rPr sz="1200" b="0">
                <a:solidFill>
                  <a:srgbClr val="161E44"/>
                </a:solidFill>
                <a:latin typeface="Avenir Next Condensed"/>
              </a:rPr>
              <a:t>Distribucion bimodal: dos perfiles de vaca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5080" y="1645920"/>
            <a:ext cx="5715000" cy="224028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355080" y="1645920"/>
            <a:ext cx="5715000" cy="438912"/>
          </a:xfrm>
          <a:prstGeom prst="rect">
            <a:avLst/>
          </a:prstGeom>
          <a:solidFill>
            <a:srgbClr val="161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92240" y="1700784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entury Gothic"/>
              </a:rPr>
              <a:t>Diferencias por raza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2194560"/>
            <a:ext cx="5394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61E44"/>
                </a:solidFill>
                <a:latin typeface="Avenir Next Condensed"/>
              </a:rPr>
              <a:t>Holstein: ~15.2 g/kg (mas eficiente)</a:t>
            </a:r>
          </a:p>
          <a:p>
            <a:pPr algn="l"/>
            <a:r>
              <a:rPr sz="1200" b="0">
                <a:solidFill>
                  <a:srgbClr val="161E44"/>
                </a:solidFill>
                <a:latin typeface="Avenir Next Condensed"/>
              </a:rPr>
              <a:t>Jersey: ~17.1 g/kg</a:t>
            </a:r>
          </a:p>
          <a:p>
            <a:pPr algn="l"/>
            <a:r>
              <a:rPr sz="1200" b="0">
                <a:solidFill>
                  <a:srgbClr val="161E44"/>
                </a:solidFill>
                <a:latin typeface="Avenir Next Condensed"/>
              </a:rPr>
              <a:t>Pardo Suizo: ~18.3 g/kg → raza es predictor clave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069080"/>
            <a:ext cx="5715000" cy="224028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65760" y="4069080"/>
            <a:ext cx="5715000" cy="438912"/>
          </a:xfrm>
          <a:prstGeom prst="rect">
            <a:avLst/>
          </a:prstGeom>
          <a:solidFill>
            <a:srgbClr val="161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02920" y="4123944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entury Gothic"/>
              </a:rPr>
              <a:t>Correlaciones clave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4617720"/>
            <a:ext cx="5394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61E44"/>
                </a:solidFill>
                <a:latin typeface="Avenir Next Condensed"/>
              </a:rPr>
              <a:t>Leche vs CH4: r = -0.72</a:t>
            </a:r>
          </a:p>
          <a:p>
            <a:pPr algn="l"/>
            <a:r>
              <a:rPr sz="1200" b="0">
                <a:solidFill>
                  <a:srgbClr val="161E44"/>
                </a:solidFill>
                <a:latin typeface="Avenir Next Condensed"/>
              </a:rPr>
              <a:t>Dosis nutraceutico: r = -0.61</a:t>
            </a:r>
          </a:p>
          <a:p>
            <a:pPr algn="l"/>
            <a:r>
              <a:rPr sz="1200" b="0">
                <a:solidFill>
                  <a:srgbClr val="161E44"/>
                </a:solidFill>
                <a:latin typeface="Avenir Next Condensed"/>
              </a:rPr>
              <a:t>DIMS vs CH4: r = +0.45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5080" y="4069080"/>
            <a:ext cx="5715000" cy="224028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355080" y="4069080"/>
            <a:ext cx="5715000" cy="438912"/>
          </a:xfrm>
          <a:prstGeom prst="rect">
            <a:avLst/>
          </a:prstGeom>
          <a:solidFill>
            <a:srgbClr val="161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92240" y="4123944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entury Gothic"/>
              </a:rPr>
              <a:t>Ventana critica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4617720"/>
            <a:ext cx="5394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61E44"/>
                </a:solidFill>
                <a:latin typeface="Avenir Next Condensed"/>
              </a:rPr>
              <a:t>Alertas concentradas en meses 8-14 de lactacion</a:t>
            </a:r>
          </a:p>
          <a:p>
            <a:pPr algn="l"/>
            <a:r>
              <a:rPr sz="1200" b="0">
                <a:solidFill>
                  <a:srgbClr val="161E44"/>
                </a:solidFill>
                <a:latin typeface="Avenir Next Condensed"/>
              </a:rPr>
              <a:t>Intervencion preventiva debe ser antes del mes 7</a:t>
            </a:r>
          </a:p>
          <a:p>
            <a:pPr algn="l"/>
            <a:r>
              <a:rPr sz="1200" b="0">
                <a:solidFill>
                  <a:srgbClr val="161E44"/>
                </a:solidFill>
                <a:latin typeface="Avenir Next Condensed"/>
              </a:rPr>
              <a:t>Justifica el modelo como herramienta de anticipacion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27197A77-EE5C-13A4-6F70-3247450AC4E8}"/>
              </a:ext>
            </a:extLst>
          </p:cNvPr>
          <p:cNvSpPr/>
          <p:nvPr/>
        </p:nvSpPr>
        <p:spPr>
          <a:xfrm>
            <a:off x="2115507" y="99072"/>
            <a:ext cx="10070201" cy="6156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r">
              <a:lnSpc>
                <a:spcPct val="115000"/>
              </a:lnSpc>
            </a:pPr>
            <a:r>
              <a:rPr lang="es-MX" sz="1400" dirty="0">
                <a:solidFill>
                  <a:srgbClr val="FFFFFF"/>
                </a:solidFill>
                <a:effectLst/>
                <a:latin typeface="Gellix" pitchFamily="2" charset="77"/>
                <a:ea typeface="Fira Sans Extra Condensed"/>
                <a:cs typeface="Fira Sans Extra Condensed"/>
              </a:rPr>
              <a:t>Identificación espacio-temporal de compuestos nutracéuticos en ganado lechero mediante inteligencia artificial</a:t>
            </a:r>
            <a:endParaRPr lang="es-MX" sz="1100" dirty="0">
              <a:effectLst/>
              <a:latin typeface="Gellix" pitchFamily="2" charset="77"/>
              <a:ea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o 3">
            <a:extLst>
              <a:ext uri="{FF2B5EF4-FFF2-40B4-BE49-F238E27FC236}">
                <a16:creationId xmlns:a16="http://schemas.microsoft.com/office/drawing/2014/main" id="{BA2F9B76-D70D-0F10-BC27-39EB895783B8}"/>
              </a:ext>
            </a:extLst>
          </p:cNvPr>
          <p:cNvGrpSpPr/>
          <p:nvPr/>
        </p:nvGrpSpPr>
        <p:grpSpPr>
          <a:xfrm>
            <a:off x="-1" y="-2"/>
            <a:ext cx="12322630" cy="655320"/>
            <a:chOff x="703525" y="2152230"/>
            <a:chExt cx="10523975" cy="847409"/>
          </a:xfrm>
        </p:grpSpPr>
        <p:sp>
          <p:nvSpPr>
            <p:cNvPr id="5" name="Rectángulo 4">
              <a:extLst>
                <a:ext uri="{FF2B5EF4-FFF2-40B4-BE49-F238E27FC236}">
                  <a16:creationId xmlns:a16="http://schemas.microsoft.com/office/drawing/2014/main" id="{DFAF7A8C-333D-C58F-9C95-59591841527A}"/>
                </a:ext>
              </a:extLst>
            </p:cNvPr>
            <p:cNvSpPr/>
            <p:nvPr/>
          </p:nvSpPr>
          <p:spPr>
            <a:xfrm>
              <a:off x="703525" y="2152232"/>
              <a:ext cx="10523975" cy="84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lnSpc>
                  <a:spcPct val="115000"/>
                </a:lnSpc>
              </a:pPr>
              <a:r>
                <a:rPr lang="es-ES" sz="1100">
                  <a:effectLst/>
                  <a:latin typeface="Arial" panose="020B0604020202020204" pitchFamily="34" charset="0"/>
                  <a:ea typeface="Arial" panose="020B0604020202020204" pitchFamily="34" charset="0"/>
                </a:rPr>
                <a:t> </a:t>
              </a:r>
              <a:endParaRPr lang="es-MX" sz="1100">
                <a:effectLst/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grpSp>
          <p:nvGrpSpPr>
            <p:cNvPr id="6" name="Grupo 5">
              <a:extLst>
                <a:ext uri="{FF2B5EF4-FFF2-40B4-BE49-F238E27FC236}">
                  <a16:creationId xmlns:a16="http://schemas.microsoft.com/office/drawing/2014/main" id="{F0F2FE41-68B0-2A54-4B88-859454FD71BF}"/>
                </a:ext>
              </a:extLst>
            </p:cNvPr>
            <p:cNvGrpSpPr/>
            <p:nvPr/>
          </p:nvGrpSpPr>
          <p:grpSpPr>
            <a:xfrm>
              <a:off x="703525" y="2152230"/>
              <a:ext cx="10412414" cy="847409"/>
              <a:chOff x="703525" y="2152450"/>
              <a:chExt cx="10412414" cy="1423500"/>
            </a:xfrm>
          </p:grpSpPr>
          <p:sp>
            <p:nvSpPr>
              <p:cNvPr id="7" name="Rectángulo 6">
                <a:extLst>
                  <a:ext uri="{FF2B5EF4-FFF2-40B4-BE49-F238E27FC236}">
                    <a16:creationId xmlns:a16="http://schemas.microsoft.com/office/drawing/2014/main" id="{1927F4A0-FF65-DE13-8DB0-F182C45D1F8F}"/>
                  </a:ext>
                </a:extLst>
              </p:cNvPr>
              <p:cNvSpPr/>
              <p:nvPr/>
            </p:nvSpPr>
            <p:spPr>
              <a:xfrm>
                <a:off x="3657601" y="2152450"/>
                <a:ext cx="7458338" cy="1418699"/>
              </a:xfrm>
              <a:prstGeom prst="rect">
                <a:avLst/>
              </a:prstGeom>
              <a:solidFill>
                <a:srgbClr val="161E4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lnSpc>
                    <a:spcPct val="115000"/>
                  </a:lnSpc>
                </a:pPr>
                <a:r>
                  <a:rPr lang="es-ES" sz="1100">
                    <a:effectLst/>
                    <a:latin typeface="Arial" panose="020B0604020202020204" pitchFamily="34" charset="0"/>
                    <a:ea typeface="Arial" panose="020B0604020202020204" pitchFamily="34" charset="0"/>
                  </a:rPr>
                  <a:t> </a:t>
                </a:r>
                <a:endParaRPr lang="es-MX" sz="1100">
                  <a:effectLst/>
                  <a:latin typeface="Arial" panose="020B0604020202020204" pitchFamily="34" charset="0"/>
                  <a:ea typeface="Arial" panose="020B0604020202020204" pitchFamily="34" charset="0"/>
                </a:endParaRPr>
              </a:p>
            </p:txBody>
          </p:sp>
          <p:sp>
            <p:nvSpPr>
              <p:cNvPr id="8" name="Rectángulo 7">
                <a:extLst>
                  <a:ext uri="{FF2B5EF4-FFF2-40B4-BE49-F238E27FC236}">
                    <a16:creationId xmlns:a16="http://schemas.microsoft.com/office/drawing/2014/main" id="{0F2B72AB-467F-B766-220B-492375030E4E}"/>
                  </a:ext>
                </a:extLst>
              </p:cNvPr>
              <p:cNvSpPr/>
              <p:nvPr/>
            </p:nvSpPr>
            <p:spPr>
              <a:xfrm>
                <a:off x="703525" y="2157250"/>
                <a:ext cx="2458800" cy="1418700"/>
              </a:xfrm>
              <a:prstGeom prst="rect">
                <a:avLst/>
              </a:pr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lnSpc>
                    <a:spcPct val="115000"/>
                  </a:lnSpc>
                </a:pPr>
                <a:r>
                  <a:rPr lang="es-ES" sz="1100">
                    <a:effectLst/>
                    <a:latin typeface="Arial" panose="020B0604020202020204" pitchFamily="34" charset="0"/>
                    <a:ea typeface="Arial" panose="020B0604020202020204" pitchFamily="34" charset="0"/>
                  </a:rPr>
                  <a:t> </a:t>
                </a:r>
                <a:endParaRPr lang="es-MX" sz="1100">
                  <a:effectLst/>
                  <a:latin typeface="Arial" panose="020B0604020202020204" pitchFamily="34" charset="0"/>
                  <a:ea typeface="Arial" panose="020B0604020202020204" pitchFamily="34" charset="0"/>
                </a:endParaRPr>
              </a:p>
            </p:txBody>
          </p:sp>
          <p:sp>
            <p:nvSpPr>
              <p:cNvPr id="9" name="Paralelogramo 8">
                <a:extLst>
                  <a:ext uri="{FF2B5EF4-FFF2-40B4-BE49-F238E27FC236}">
                    <a16:creationId xmlns:a16="http://schemas.microsoft.com/office/drawing/2014/main" id="{8623E56F-A27D-F7E7-D667-DB06C7907134}"/>
                  </a:ext>
                </a:extLst>
              </p:cNvPr>
              <p:cNvSpPr/>
              <p:nvPr/>
            </p:nvSpPr>
            <p:spPr>
              <a:xfrm>
                <a:off x="2860775" y="2152450"/>
                <a:ext cx="1127400" cy="1418700"/>
              </a:xfrm>
              <a:prstGeom prst="parallelogram">
                <a:avLst>
                  <a:gd name="adj" fmla="val 25000"/>
                </a:avLst>
              </a:prstGeom>
              <a:solidFill>
                <a:srgbClr val="97A7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lnSpc>
                    <a:spcPct val="115000"/>
                  </a:lnSpc>
                </a:pPr>
                <a:r>
                  <a:rPr lang="es-ES" sz="1100">
                    <a:effectLst/>
                    <a:latin typeface="Arial" panose="020B0604020202020204" pitchFamily="34" charset="0"/>
                    <a:ea typeface="Arial" panose="020B0604020202020204" pitchFamily="34" charset="0"/>
                  </a:rPr>
                  <a:t> </a:t>
                </a:r>
                <a:endParaRPr lang="es-MX" sz="1100">
                  <a:effectLst/>
                  <a:latin typeface="Arial" panose="020B0604020202020204" pitchFamily="34" charset="0"/>
                  <a:ea typeface="Arial" panose="020B0604020202020204" pitchFamily="34" charset="0"/>
                </a:endParaRPr>
              </a:p>
            </p:txBody>
          </p:sp>
        </p:grpSp>
      </p:grpSp>
      <p:sp>
        <p:nvSpPr>
          <p:cNvPr id="11" name="Cuadro de texto 3">
            <a:extLst>
              <a:ext uri="{FF2B5EF4-FFF2-40B4-BE49-F238E27FC236}">
                <a16:creationId xmlns:a16="http://schemas.microsoft.com/office/drawing/2014/main" id="{A928BFB0-6995-2B29-CDC2-F7D5286D22C5}"/>
              </a:ext>
            </a:extLst>
          </p:cNvPr>
          <p:cNvSpPr txBox="1"/>
          <p:nvPr/>
        </p:nvSpPr>
        <p:spPr>
          <a:xfrm>
            <a:off x="608605" y="98129"/>
            <a:ext cx="1308735" cy="478790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5000"/>
              </a:lnSpc>
            </a:pPr>
            <a:r>
              <a:rPr lang="es-ES_tradnl" sz="2200">
                <a:solidFill>
                  <a:srgbClr val="161E43"/>
                </a:solidFill>
                <a:effectLst/>
                <a:latin typeface="Century Gothic" panose="020B0502020202020204" pitchFamily="34" charset="0"/>
                <a:ea typeface="Arial" panose="020B0604020202020204" pitchFamily="34" charset="0"/>
              </a:rPr>
              <a:t>MNA</a:t>
            </a:r>
            <a:endParaRPr lang="es-MX" sz="110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A17F96BB-950A-839D-5631-82791C0721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6723" y="570742"/>
            <a:ext cx="6970643" cy="931121"/>
          </a:xfrm>
        </p:spPr>
        <p:txBody>
          <a:bodyPr>
            <a:normAutofit/>
          </a:bodyPr>
          <a:lstStyle/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lang="es-MX" sz="2800" dirty="0">
                <a:latin typeface="Gellix" pitchFamily="2" charset="77"/>
              </a:rPr>
              <a:t>03 | Modelos Desarrollados</a:t>
            </a:r>
            <a:endParaRPr lang="es-MX" sz="2000" dirty="0">
              <a:latin typeface="Gellix" pitchFamily="2" charset="77"/>
            </a:endParaRPr>
          </a:p>
        </p:txBody>
      </p:sp>
      <p:sp>
        <p:nvSpPr>
          <p:cNvPr id="13" name="Subtítulo 2">
            <a:extLst>
              <a:ext uri="{FF2B5EF4-FFF2-40B4-BE49-F238E27FC236}">
                <a16:creationId xmlns:a16="http://schemas.microsoft.com/office/drawing/2014/main" id="{30FF6E45-5264-8D11-EAC7-F180544307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6619" y="1501863"/>
            <a:ext cx="10844720" cy="3934690"/>
          </a:xfrm>
        </p:spPr>
        <p:txBody>
          <a:bodyPr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endParaRPr lang="es-MX" sz="2000" dirty="0">
              <a:latin typeface="Avenir Next Condensed" panose="020B05060202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s-MX" sz="2000" dirty="0">
              <a:latin typeface="Avenir Next Condensed" panose="020B05060202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s-MX" sz="2000" dirty="0">
              <a:latin typeface="Avenir Next Condensed" panose="020B05060202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s-MX" sz="2000" dirty="0">
              <a:latin typeface="Avenir Next Condensed" panose="020B05060202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s-MX" sz="2000" dirty="0">
              <a:latin typeface="Avenir Next Condensed" panose="020B05060202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s-MX" sz="2800" dirty="0">
              <a:latin typeface="Avenir Next Condensed" panose="020B0506020202020204" pitchFamily="34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65760" y="1645920"/>
            <a:ext cx="11521440" cy="457200"/>
          </a:xfrm>
          <a:prstGeom prst="rect">
            <a:avLst/>
          </a:prstGeom>
          <a:solidFill>
            <a:srgbClr val="161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5760" y="1673352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entury Gothic"/>
              </a:rPr>
              <a:t>Avance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1673352"/>
            <a:ext cx="4023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entury Gothic"/>
              </a:rPr>
              <a:t>Modelo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0" y="167335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entury Gothic"/>
              </a:rPr>
              <a:t>RMSE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167335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entury Gothic"/>
              </a:rPr>
              <a:t>R2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75520" y="1673352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entury Gothic"/>
              </a:rPr>
              <a:t>Latencia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2176272"/>
            <a:ext cx="11521440" cy="64008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65760" y="228600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61E44"/>
                </a:solidFill>
                <a:latin typeface="Avenir Next Condensed"/>
              </a:rPr>
              <a:t>E3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228600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61E44"/>
                </a:solidFill>
                <a:latin typeface="Avenir Next Condensed"/>
              </a:rPr>
              <a:t>Ridge Regression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0" y="22860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61E44"/>
                </a:solidFill>
                <a:latin typeface="Avenir Next Condensed"/>
              </a:rPr>
              <a:t>0.7268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22860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61E44"/>
                </a:solidFill>
                <a:latin typeface="Avenir Next Condensed"/>
              </a:rPr>
              <a:t>0.9688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75520" y="22860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61E44"/>
                </a:solidFill>
                <a:latin typeface="Avenir Next Condensed"/>
              </a:rPr>
              <a:t>—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889504"/>
            <a:ext cx="11521440" cy="64008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65760" y="2999232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61E44"/>
                </a:solidFill>
                <a:latin typeface="Avenir Next Condensed"/>
              </a:rPr>
              <a:t>E4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54480" y="2999232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61E44"/>
                </a:solidFill>
                <a:latin typeface="Avenir Next Condensed"/>
              </a:rPr>
              <a:t>MLP Neural Net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0" y="299923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61E44"/>
                </a:solidFill>
                <a:latin typeface="Avenir Next Condensed"/>
              </a:rPr>
              <a:t>0.6555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0" y="299923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61E44"/>
                </a:solidFill>
                <a:latin typeface="Avenir Next Condensed"/>
              </a:rPr>
              <a:t>0.9746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75520" y="299923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61E44"/>
                </a:solidFill>
                <a:latin typeface="Avenir Next Condensed"/>
              </a:rPr>
              <a:t>5.7 ms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3602736"/>
            <a:ext cx="11521440" cy="64008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65760" y="3712463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56580"/>
                </a:solidFill>
                <a:latin typeface="Avenir Next Condensed"/>
              </a:rPr>
              <a:t>E4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54480" y="3712463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6580"/>
                </a:solidFill>
                <a:latin typeface="Avenir Next Condensed"/>
              </a:rPr>
              <a:t>k-NN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0" y="3712463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56580"/>
                </a:solidFill>
                <a:latin typeface="Avenir Next Condensed"/>
              </a:rPr>
              <a:t>0.8121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0" y="3712463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56580"/>
                </a:solidFill>
                <a:latin typeface="Avenir Next Condensed"/>
              </a:rPr>
              <a:t>0.9602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75520" y="3712463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56580"/>
                </a:solidFill>
                <a:latin typeface="Avenir Next Condensed"/>
              </a:rPr>
              <a:t>12 ms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4315968"/>
            <a:ext cx="11521440" cy="64008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65760" y="4425696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56580"/>
                </a:solidFill>
                <a:latin typeface="Avenir Next Condensed"/>
              </a:rPr>
              <a:t>E4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554480" y="4425696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6580"/>
                </a:solidFill>
                <a:latin typeface="Avenir Next Condensed"/>
              </a:rPr>
              <a:t>Random Forest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69280" y="4425696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56580"/>
                </a:solidFill>
                <a:latin typeface="Avenir Next Condensed"/>
              </a:rPr>
              <a:t>1.4754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72400" y="4425696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56580"/>
                </a:solidFill>
                <a:latin typeface="Avenir Next Condensed"/>
              </a:rPr>
              <a:t>0.8714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875520" y="4425696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56580"/>
                </a:solidFill>
                <a:latin typeface="Avenir Next Condensed"/>
              </a:rPr>
              <a:t>8 ms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5760" y="5029200"/>
            <a:ext cx="11521440" cy="64008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365760" y="5138928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61E44"/>
                </a:solidFill>
                <a:latin typeface="Avenir Next Condensed"/>
              </a:rPr>
              <a:t>E5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554480" y="5138928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61E44"/>
                </a:solidFill>
                <a:latin typeface="Avenir Next Condensed"/>
              </a:rPr>
              <a:t>VotingRegressor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669280" y="5138928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61E44"/>
                </a:solidFill>
                <a:latin typeface="Avenir Next Condensed"/>
              </a:rPr>
              <a:t>0.6485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72400" y="5138928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61E44"/>
                </a:solidFill>
                <a:latin typeface="Avenir Next Condensed"/>
              </a:rPr>
              <a:t>0.9752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875520" y="5138928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61E44"/>
                </a:solidFill>
                <a:latin typeface="Avenir Next Condensed"/>
              </a:rPr>
              <a:t>6.7 ms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65760" y="5742432"/>
            <a:ext cx="11521440" cy="640080"/>
          </a:xfrm>
          <a:prstGeom prst="rect">
            <a:avLst/>
          </a:prstGeom>
          <a:solidFill>
            <a:srgbClr val="E6F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365760" y="585216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0C896"/>
                </a:solidFill>
                <a:latin typeface="Avenir Next Condensed"/>
              </a:rPr>
              <a:t>E5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554480" y="585216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C896"/>
                </a:solidFill>
                <a:latin typeface="Avenir Next Condensed"/>
              </a:rPr>
              <a:t>StackingRegressor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669280" y="58521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0C896"/>
                </a:solidFill>
                <a:latin typeface="Avenir Next Condensed"/>
              </a:rPr>
              <a:t>0.6117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772400" y="58521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0C896"/>
                </a:solidFill>
                <a:latin typeface="Avenir Next Condensed"/>
              </a:rPr>
              <a:t>0.9779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875520" y="58521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0C896"/>
                </a:solidFill>
                <a:latin typeface="Avenir Next Condensed"/>
              </a:rPr>
              <a:t>7.3 ms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65760" y="6400800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C896"/>
                </a:solidFill>
                <a:latin typeface="Avenir Next Condensed"/>
              </a:rPr>
              <a:t>★ Modelo seleccionado — RMSE 0.6117 cumple todos los criterios de exito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97049163-D85B-AF31-EE19-B82B7469EECB}"/>
              </a:ext>
            </a:extLst>
          </p:cNvPr>
          <p:cNvSpPr/>
          <p:nvPr/>
        </p:nvSpPr>
        <p:spPr>
          <a:xfrm>
            <a:off x="2115507" y="99072"/>
            <a:ext cx="10070201" cy="6156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r">
              <a:lnSpc>
                <a:spcPct val="115000"/>
              </a:lnSpc>
            </a:pPr>
            <a:r>
              <a:rPr lang="es-MX" sz="1400" dirty="0">
                <a:solidFill>
                  <a:srgbClr val="FFFFFF"/>
                </a:solidFill>
                <a:effectLst/>
                <a:latin typeface="Gellix" pitchFamily="2" charset="77"/>
                <a:ea typeface="Fira Sans Extra Condensed"/>
                <a:cs typeface="Fira Sans Extra Condensed"/>
              </a:rPr>
              <a:t>Identificación espacio-temporal de compuestos nutracéuticos en ganado lechero mediante inteligencia artificial</a:t>
            </a:r>
            <a:endParaRPr lang="es-MX" sz="1100" dirty="0">
              <a:effectLst/>
              <a:latin typeface="Gellix" pitchFamily="2" charset="77"/>
              <a:ea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o 3">
            <a:extLst>
              <a:ext uri="{FF2B5EF4-FFF2-40B4-BE49-F238E27FC236}">
                <a16:creationId xmlns:a16="http://schemas.microsoft.com/office/drawing/2014/main" id="{BA2F9B76-D70D-0F10-BC27-39EB895783B8}"/>
              </a:ext>
            </a:extLst>
          </p:cNvPr>
          <p:cNvGrpSpPr/>
          <p:nvPr/>
        </p:nvGrpSpPr>
        <p:grpSpPr>
          <a:xfrm>
            <a:off x="-1" y="-2"/>
            <a:ext cx="12322630" cy="655320"/>
            <a:chOff x="703525" y="2152230"/>
            <a:chExt cx="10523975" cy="847409"/>
          </a:xfrm>
        </p:grpSpPr>
        <p:sp>
          <p:nvSpPr>
            <p:cNvPr id="5" name="Rectángulo 4">
              <a:extLst>
                <a:ext uri="{FF2B5EF4-FFF2-40B4-BE49-F238E27FC236}">
                  <a16:creationId xmlns:a16="http://schemas.microsoft.com/office/drawing/2014/main" id="{DFAF7A8C-333D-C58F-9C95-59591841527A}"/>
                </a:ext>
              </a:extLst>
            </p:cNvPr>
            <p:cNvSpPr/>
            <p:nvPr/>
          </p:nvSpPr>
          <p:spPr>
            <a:xfrm>
              <a:off x="703525" y="2152232"/>
              <a:ext cx="10523975" cy="84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lnSpc>
                  <a:spcPct val="115000"/>
                </a:lnSpc>
              </a:pPr>
              <a:r>
                <a:rPr lang="es-ES" sz="1100">
                  <a:effectLst/>
                  <a:latin typeface="Arial" panose="020B0604020202020204" pitchFamily="34" charset="0"/>
                  <a:ea typeface="Arial" panose="020B0604020202020204" pitchFamily="34" charset="0"/>
                </a:rPr>
                <a:t> </a:t>
              </a:r>
              <a:endParaRPr lang="es-MX" sz="1100">
                <a:effectLst/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grpSp>
          <p:nvGrpSpPr>
            <p:cNvPr id="6" name="Grupo 5">
              <a:extLst>
                <a:ext uri="{FF2B5EF4-FFF2-40B4-BE49-F238E27FC236}">
                  <a16:creationId xmlns:a16="http://schemas.microsoft.com/office/drawing/2014/main" id="{F0F2FE41-68B0-2A54-4B88-859454FD71BF}"/>
                </a:ext>
              </a:extLst>
            </p:cNvPr>
            <p:cNvGrpSpPr/>
            <p:nvPr/>
          </p:nvGrpSpPr>
          <p:grpSpPr>
            <a:xfrm>
              <a:off x="703525" y="2152230"/>
              <a:ext cx="10412414" cy="847409"/>
              <a:chOff x="703525" y="2152450"/>
              <a:chExt cx="10412414" cy="1423500"/>
            </a:xfrm>
          </p:grpSpPr>
          <p:sp>
            <p:nvSpPr>
              <p:cNvPr id="7" name="Rectángulo 6">
                <a:extLst>
                  <a:ext uri="{FF2B5EF4-FFF2-40B4-BE49-F238E27FC236}">
                    <a16:creationId xmlns:a16="http://schemas.microsoft.com/office/drawing/2014/main" id="{1927F4A0-FF65-DE13-8DB0-F182C45D1F8F}"/>
                  </a:ext>
                </a:extLst>
              </p:cNvPr>
              <p:cNvSpPr/>
              <p:nvPr/>
            </p:nvSpPr>
            <p:spPr>
              <a:xfrm>
                <a:off x="3657601" y="2152450"/>
                <a:ext cx="7458338" cy="1418699"/>
              </a:xfrm>
              <a:prstGeom prst="rect">
                <a:avLst/>
              </a:prstGeom>
              <a:solidFill>
                <a:srgbClr val="161E4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lnSpc>
                    <a:spcPct val="115000"/>
                  </a:lnSpc>
                </a:pPr>
                <a:r>
                  <a:rPr lang="es-ES" sz="1100">
                    <a:effectLst/>
                    <a:latin typeface="Arial" panose="020B0604020202020204" pitchFamily="34" charset="0"/>
                    <a:ea typeface="Arial" panose="020B0604020202020204" pitchFamily="34" charset="0"/>
                  </a:rPr>
                  <a:t> </a:t>
                </a:r>
                <a:endParaRPr lang="es-MX" sz="1100">
                  <a:effectLst/>
                  <a:latin typeface="Arial" panose="020B0604020202020204" pitchFamily="34" charset="0"/>
                  <a:ea typeface="Arial" panose="020B0604020202020204" pitchFamily="34" charset="0"/>
                </a:endParaRPr>
              </a:p>
            </p:txBody>
          </p:sp>
          <p:sp>
            <p:nvSpPr>
              <p:cNvPr id="8" name="Rectángulo 7">
                <a:extLst>
                  <a:ext uri="{FF2B5EF4-FFF2-40B4-BE49-F238E27FC236}">
                    <a16:creationId xmlns:a16="http://schemas.microsoft.com/office/drawing/2014/main" id="{0F2B72AB-467F-B766-220B-492375030E4E}"/>
                  </a:ext>
                </a:extLst>
              </p:cNvPr>
              <p:cNvSpPr/>
              <p:nvPr/>
            </p:nvSpPr>
            <p:spPr>
              <a:xfrm>
                <a:off x="703525" y="2157250"/>
                <a:ext cx="2458800" cy="1418700"/>
              </a:xfrm>
              <a:prstGeom prst="rect">
                <a:avLst/>
              </a:pr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lnSpc>
                    <a:spcPct val="115000"/>
                  </a:lnSpc>
                </a:pPr>
                <a:r>
                  <a:rPr lang="es-ES" sz="1100">
                    <a:effectLst/>
                    <a:latin typeface="Arial" panose="020B0604020202020204" pitchFamily="34" charset="0"/>
                    <a:ea typeface="Arial" panose="020B0604020202020204" pitchFamily="34" charset="0"/>
                  </a:rPr>
                  <a:t> </a:t>
                </a:r>
                <a:endParaRPr lang="es-MX" sz="1100">
                  <a:effectLst/>
                  <a:latin typeface="Arial" panose="020B0604020202020204" pitchFamily="34" charset="0"/>
                  <a:ea typeface="Arial" panose="020B0604020202020204" pitchFamily="34" charset="0"/>
                </a:endParaRPr>
              </a:p>
            </p:txBody>
          </p:sp>
          <p:sp>
            <p:nvSpPr>
              <p:cNvPr id="9" name="Paralelogramo 8">
                <a:extLst>
                  <a:ext uri="{FF2B5EF4-FFF2-40B4-BE49-F238E27FC236}">
                    <a16:creationId xmlns:a16="http://schemas.microsoft.com/office/drawing/2014/main" id="{8623E56F-A27D-F7E7-D667-DB06C7907134}"/>
                  </a:ext>
                </a:extLst>
              </p:cNvPr>
              <p:cNvSpPr/>
              <p:nvPr/>
            </p:nvSpPr>
            <p:spPr>
              <a:xfrm>
                <a:off x="2860775" y="2152450"/>
                <a:ext cx="1127400" cy="1418700"/>
              </a:xfrm>
              <a:prstGeom prst="parallelogram">
                <a:avLst>
                  <a:gd name="adj" fmla="val 25000"/>
                </a:avLst>
              </a:prstGeom>
              <a:solidFill>
                <a:srgbClr val="97A7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lnSpc>
                    <a:spcPct val="115000"/>
                  </a:lnSpc>
                </a:pPr>
                <a:r>
                  <a:rPr lang="es-ES" sz="1100">
                    <a:effectLst/>
                    <a:latin typeface="Arial" panose="020B0604020202020204" pitchFamily="34" charset="0"/>
                    <a:ea typeface="Arial" panose="020B0604020202020204" pitchFamily="34" charset="0"/>
                  </a:rPr>
                  <a:t> </a:t>
                </a:r>
                <a:endParaRPr lang="es-MX" sz="1100">
                  <a:effectLst/>
                  <a:latin typeface="Arial" panose="020B0604020202020204" pitchFamily="34" charset="0"/>
                  <a:ea typeface="Arial" panose="020B0604020202020204" pitchFamily="34" charset="0"/>
                </a:endParaRPr>
              </a:p>
            </p:txBody>
          </p:sp>
        </p:grpSp>
      </p:grpSp>
      <p:sp>
        <p:nvSpPr>
          <p:cNvPr id="11" name="Cuadro de texto 3">
            <a:extLst>
              <a:ext uri="{FF2B5EF4-FFF2-40B4-BE49-F238E27FC236}">
                <a16:creationId xmlns:a16="http://schemas.microsoft.com/office/drawing/2014/main" id="{A928BFB0-6995-2B29-CDC2-F7D5286D22C5}"/>
              </a:ext>
            </a:extLst>
          </p:cNvPr>
          <p:cNvSpPr txBox="1"/>
          <p:nvPr/>
        </p:nvSpPr>
        <p:spPr>
          <a:xfrm>
            <a:off x="608605" y="98129"/>
            <a:ext cx="1308735" cy="478790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5000"/>
              </a:lnSpc>
            </a:pPr>
            <a:r>
              <a:rPr lang="es-ES_tradnl" sz="2200">
                <a:solidFill>
                  <a:srgbClr val="161E43"/>
                </a:solidFill>
                <a:effectLst/>
                <a:latin typeface="Century Gothic" panose="020B0502020202020204" pitchFamily="34" charset="0"/>
                <a:ea typeface="Arial" panose="020B0604020202020204" pitchFamily="34" charset="0"/>
              </a:rPr>
              <a:t>MNA</a:t>
            </a:r>
            <a:endParaRPr lang="es-MX" sz="110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A17F96BB-950A-839D-5631-82791C0721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6723" y="570742"/>
            <a:ext cx="6970643" cy="931121"/>
          </a:xfrm>
        </p:spPr>
        <p:txBody>
          <a:bodyPr>
            <a:normAutofit/>
          </a:bodyPr>
          <a:lstStyle/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lang="es-MX" sz="2800" dirty="0">
                <a:latin typeface="Gellix" pitchFamily="2" charset="77"/>
              </a:rPr>
              <a:t>04 | Solucion Final: StackingRegressor</a:t>
            </a:r>
            <a:endParaRPr lang="es-MX" sz="2000" dirty="0">
              <a:latin typeface="Gellix" pitchFamily="2" charset="77"/>
            </a:endParaRPr>
          </a:p>
        </p:txBody>
      </p:sp>
      <p:sp>
        <p:nvSpPr>
          <p:cNvPr id="13" name="Subtítulo 2">
            <a:extLst>
              <a:ext uri="{FF2B5EF4-FFF2-40B4-BE49-F238E27FC236}">
                <a16:creationId xmlns:a16="http://schemas.microsoft.com/office/drawing/2014/main" id="{30FF6E45-5264-8D11-EAC7-F180544307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6619" y="1501863"/>
            <a:ext cx="10844720" cy="3934690"/>
          </a:xfrm>
        </p:spPr>
        <p:txBody>
          <a:bodyPr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endParaRPr lang="es-MX" sz="2000" dirty="0">
              <a:latin typeface="Avenir Next Condensed" panose="020B05060202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s-MX" sz="2000" dirty="0">
              <a:latin typeface="Avenir Next Condensed" panose="020B05060202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s-MX" sz="2000" dirty="0">
              <a:latin typeface="Avenir Next Condensed" panose="020B05060202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s-MX" sz="2000" dirty="0">
              <a:latin typeface="Avenir Next Condensed" panose="020B05060202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s-MX" sz="2000" dirty="0">
              <a:latin typeface="Avenir Next Condensed" panose="020B05060202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s-MX" sz="2800" dirty="0">
              <a:latin typeface="Avenir Next Condensed" panose="020B0506020202020204" pitchFamily="34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65760" y="1691640"/>
            <a:ext cx="2743200" cy="1280160"/>
          </a:xfrm>
          <a:prstGeom prst="rect">
            <a:avLst/>
          </a:prstGeom>
          <a:solidFill>
            <a:srgbClr val="161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75488" y="1737360"/>
            <a:ext cx="252374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entury Gothic"/>
              </a:rPr>
              <a:t>MLP Neural Net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2212848"/>
            <a:ext cx="2523744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DDFF"/>
                </a:solidFill>
                <a:latin typeface="Avenir Next Condensed"/>
              </a:rPr>
              <a:t>RMSE 0.6555</a:t>
            </a:r>
          </a:p>
          <a:p>
            <a:pPr algn="l"/>
            <a:r>
              <a:rPr sz="1100" b="0">
                <a:solidFill>
                  <a:srgbClr val="CCDDFF"/>
                </a:solidFill>
                <a:latin typeface="Avenir Next Condensed"/>
              </a:rPr>
              <a:t>Captura no-linealidades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91840" y="1691640"/>
            <a:ext cx="2743200" cy="1280160"/>
          </a:xfrm>
          <a:prstGeom prst="rect">
            <a:avLst/>
          </a:prstGeom>
          <a:solidFill>
            <a:srgbClr val="161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401568" y="1737360"/>
            <a:ext cx="252374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entury Gothic"/>
              </a:rPr>
              <a:t>BayesianRidge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01568" y="2212848"/>
            <a:ext cx="2523744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DDFF"/>
                </a:solidFill>
                <a:latin typeface="Avenir Next Condensed"/>
              </a:rPr>
              <a:t>RMSE 0.6832</a:t>
            </a:r>
          </a:p>
          <a:p>
            <a:pPr algn="l"/>
            <a:r>
              <a:rPr sz="1100" b="0">
                <a:solidFill>
                  <a:srgbClr val="CCDDFF"/>
                </a:solidFill>
                <a:latin typeface="Avenir Next Condensed"/>
              </a:rPr>
              <a:t>Robustez con incertidumbre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1691640"/>
            <a:ext cx="2743200" cy="1280160"/>
          </a:xfrm>
          <a:prstGeom prst="rect">
            <a:avLst/>
          </a:prstGeom>
          <a:solidFill>
            <a:srgbClr val="161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27648" y="1737360"/>
            <a:ext cx="252374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entury Gothic"/>
              </a:rPr>
              <a:t>ElasticNet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27648" y="2212848"/>
            <a:ext cx="2523744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DDFF"/>
                </a:solidFill>
                <a:latin typeface="Avenir Next Condensed"/>
              </a:rPr>
              <a:t>RMSE 0.7021</a:t>
            </a:r>
          </a:p>
          <a:p>
            <a:pPr algn="l"/>
            <a:r>
              <a:rPr sz="1100" b="0">
                <a:solidFill>
                  <a:srgbClr val="CCDDFF"/>
                </a:solidFill>
                <a:latin typeface="Avenir Next Condensed"/>
              </a:rPr>
              <a:t>Regularizacion combinada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3063240"/>
            <a:ext cx="8869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D4A017"/>
                </a:solidFill>
                <a:latin typeface="Avenir Next Condensed"/>
              </a:rPr>
              <a:t>predicciones como features 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286000" y="3493008"/>
            <a:ext cx="4572000" cy="960120"/>
          </a:xfrm>
          <a:prstGeom prst="rect">
            <a:avLst/>
          </a:prstGeom>
          <a:solidFill>
            <a:srgbClr val="161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423160" y="3538728"/>
            <a:ext cx="4297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C896"/>
                </a:solidFill>
                <a:latin typeface="Century Gothic"/>
              </a:rPr>
              <a:t>Meta-modelo: Ridge Regression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23160" y="4005072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Avenir Next Condensed"/>
              </a:rPr>
              <a:t>Aprende el peso optimo de cada predictor base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326880" y="1691640"/>
            <a:ext cx="2651760" cy="105156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418319" y="17373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6580"/>
                </a:solidFill>
                <a:latin typeface="Avenir Next Condensed"/>
              </a:rPr>
              <a:t>RMSE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18319" y="1984248"/>
            <a:ext cx="2468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0C896"/>
                </a:solidFill>
                <a:latin typeface="Century Gothic"/>
              </a:rPr>
              <a:t>0.6117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18319" y="24231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56580"/>
                </a:solidFill>
                <a:latin typeface="Avenir Next Condensed"/>
              </a:rPr>
              <a:t>error ~0.6 g CH4/kg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326880" y="2880360"/>
            <a:ext cx="2651760" cy="105156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418319" y="292608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6580"/>
                </a:solidFill>
                <a:latin typeface="Avenir Next Condensed"/>
              </a:rPr>
              <a:t>R²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18319" y="3172968"/>
            <a:ext cx="2468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0C896"/>
                </a:solidFill>
                <a:latin typeface="Century Gothic"/>
              </a:rPr>
              <a:t>0.9779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18319" y="361188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56580"/>
                </a:solidFill>
                <a:latin typeface="Avenir Next Condensed"/>
              </a:rPr>
              <a:t>97.8% varianza explicada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326880" y="4069080"/>
            <a:ext cx="2651760" cy="105156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418319" y="41148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6580"/>
                </a:solidFill>
                <a:latin typeface="Avenir Next Condensed"/>
              </a:rPr>
              <a:t>Latencia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18319" y="4361688"/>
            <a:ext cx="2468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0C896"/>
                </a:solidFill>
                <a:latin typeface="Century Gothic"/>
              </a:rPr>
              <a:t>7.3 ms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18319" y="48006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56580"/>
                </a:solidFill>
                <a:latin typeface="Avenir Next Condensed"/>
              </a:rPr>
              <a:t>tiempo real en campo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326880" y="5257800"/>
            <a:ext cx="2651760" cy="105156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418319" y="530352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6580"/>
                </a:solidFill>
                <a:latin typeface="Avenir Next Condensed"/>
              </a:rPr>
              <a:t>Mejora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418319" y="5550408"/>
            <a:ext cx="2468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0C896"/>
                </a:solidFill>
                <a:latin typeface="Century Gothic"/>
              </a:rPr>
              <a:t>-15.8%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418319" y="598932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56580"/>
                </a:solidFill>
                <a:latin typeface="Avenir Next Condensed"/>
              </a:rPr>
              <a:t>vs baseline Ridge E3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B9F17BA8-FE5D-E50C-1ECD-7EEE45ED4745}"/>
              </a:ext>
            </a:extLst>
          </p:cNvPr>
          <p:cNvSpPr/>
          <p:nvPr/>
        </p:nvSpPr>
        <p:spPr>
          <a:xfrm>
            <a:off x="2115507" y="99072"/>
            <a:ext cx="10070201" cy="6156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r">
              <a:lnSpc>
                <a:spcPct val="115000"/>
              </a:lnSpc>
            </a:pPr>
            <a:r>
              <a:rPr lang="es-MX" sz="1400" dirty="0">
                <a:solidFill>
                  <a:srgbClr val="FFFFFF"/>
                </a:solidFill>
                <a:effectLst/>
                <a:latin typeface="Gellix" pitchFamily="2" charset="77"/>
                <a:ea typeface="Fira Sans Extra Condensed"/>
                <a:cs typeface="Fira Sans Extra Condensed"/>
              </a:rPr>
              <a:t>Identificación espacio-temporal de compuestos nutracéuticos en ganado lechero mediante inteligencia artificial</a:t>
            </a:r>
            <a:endParaRPr lang="es-MX" sz="1100" dirty="0">
              <a:effectLst/>
              <a:latin typeface="Gellix" pitchFamily="2" charset="77"/>
              <a:ea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o 3">
            <a:extLst>
              <a:ext uri="{FF2B5EF4-FFF2-40B4-BE49-F238E27FC236}">
                <a16:creationId xmlns:a16="http://schemas.microsoft.com/office/drawing/2014/main" id="{BA2F9B76-D70D-0F10-BC27-39EB895783B8}"/>
              </a:ext>
            </a:extLst>
          </p:cNvPr>
          <p:cNvGrpSpPr/>
          <p:nvPr/>
        </p:nvGrpSpPr>
        <p:grpSpPr>
          <a:xfrm>
            <a:off x="-1" y="-2"/>
            <a:ext cx="12322630" cy="655320"/>
            <a:chOff x="703525" y="2152230"/>
            <a:chExt cx="10523975" cy="847409"/>
          </a:xfrm>
        </p:grpSpPr>
        <p:sp>
          <p:nvSpPr>
            <p:cNvPr id="5" name="Rectángulo 4">
              <a:extLst>
                <a:ext uri="{FF2B5EF4-FFF2-40B4-BE49-F238E27FC236}">
                  <a16:creationId xmlns:a16="http://schemas.microsoft.com/office/drawing/2014/main" id="{DFAF7A8C-333D-C58F-9C95-59591841527A}"/>
                </a:ext>
              </a:extLst>
            </p:cNvPr>
            <p:cNvSpPr/>
            <p:nvPr/>
          </p:nvSpPr>
          <p:spPr>
            <a:xfrm>
              <a:off x="703525" y="2152232"/>
              <a:ext cx="10523975" cy="84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lnSpc>
                  <a:spcPct val="115000"/>
                </a:lnSpc>
              </a:pPr>
              <a:r>
                <a:rPr lang="es-ES" sz="1100">
                  <a:effectLst/>
                  <a:latin typeface="Arial" panose="020B0604020202020204" pitchFamily="34" charset="0"/>
                  <a:ea typeface="Arial" panose="020B0604020202020204" pitchFamily="34" charset="0"/>
                </a:rPr>
                <a:t> </a:t>
              </a:r>
              <a:endParaRPr lang="es-MX" sz="1100">
                <a:effectLst/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grpSp>
          <p:nvGrpSpPr>
            <p:cNvPr id="6" name="Grupo 5">
              <a:extLst>
                <a:ext uri="{FF2B5EF4-FFF2-40B4-BE49-F238E27FC236}">
                  <a16:creationId xmlns:a16="http://schemas.microsoft.com/office/drawing/2014/main" id="{F0F2FE41-68B0-2A54-4B88-859454FD71BF}"/>
                </a:ext>
              </a:extLst>
            </p:cNvPr>
            <p:cNvGrpSpPr/>
            <p:nvPr/>
          </p:nvGrpSpPr>
          <p:grpSpPr>
            <a:xfrm>
              <a:off x="703525" y="2152230"/>
              <a:ext cx="10412414" cy="847409"/>
              <a:chOff x="703525" y="2152450"/>
              <a:chExt cx="10412414" cy="1423500"/>
            </a:xfrm>
          </p:grpSpPr>
          <p:sp>
            <p:nvSpPr>
              <p:cNvPr id="7" name="Rectángulo 6">
                <a:extLst>
                  <a:ext uri="{FF2B5EF4-FFF2-40B4-BE49-F238E27FC236}">
                    <a16:creationId xmlns:a16="http://schemas.microsoft.com/office/drawing/2014/main" id="{1927F4A0-FF65-DE13-8DB0-F182C45D1F8F}"/>
                  </a:ext>
                </a:extLst>
              </p:cNvPr>
              <p:cNvSpPr/>
              <p:nvPr/>
            </p:nvSpPr>
            <p:spPr>
              <a:xfrm>
                <a:off x="3657601" y="2152450"/>
                <a:ext cx="7458338" cy="1418699"/>
              </a:xfrm>
              <a:prstGeom prst="rect">
                <a:avLst/>
              </a:prstGeom>
              <a:solidFill>
                <a:srgbClr val="161E4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lnSpc>
                    <a:spcPct val="115000"/>
                  </a:lnSpc>
                </a:pPr>
                <a:r>
                  <a:rPr lang="es-ES" sz="1100">
                    <a:effectLst/>
                    <a:latin typeface="Arial" panose="020B0604020202020204" pitchFamily="34" charset="0"/>
                    <a:ea typeface="Arial" panose="020B0604020202020204" pitchFamily="34" charset="0"/>
                  </a:rPr>
                  <a:t> </a:t>
                </a:r>
                <a:endParaRPr lang="es-MX" sz="1100">
                  <a:effectLst/>
                  <a:latin typeface="Arial" panose="020B0604020202020204" pitchFamily="34" charset="0"/>
                  <a:ea typeface="Arial" panose="020B0604020202020204" pitchFamily="34" charset="0"/>
                </a:endParaRPr>
              </a:p>
            </p:txBody>
          </p:sp>
          <p:sp>
            <p:nvSpPr>
              <p:cNvPr id="8" name="Rectángulo 7">
                <a:extLst>
                  <a:ext uri="{FF2B5EF4-FFF2-40B4-BE49-F238E27FC236}">
                    <a16:creationId xmlns:a16="http://schemas.microsoft.com/office/drawing/2014/main" id="{0F2B72AB-467F-B766-220B-492375030E4E}"/>
                  </a:ext>
                </a:extLst>
              </p:cNvPr>
              <p:cNvSpPr/>
              <p:nvPr/>
            </p:nvSpPr>
            <p:spPr>
              <a:xfrm>
                <a:off x="703525" y="2157250"/>
                <a:ext cx="2458800" cy="1418700"/>
              </a:xfrm>
              <a:prstGeom prst="rect">
                <a:avLst/>
              </a:pr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lnSpc>
                    <a:spcPct val="115000"/>
                  </a:lnSpc>
                </a:pPr>
                <a:r>
                  <a:rPr lang="es-ES" sz="1100">
                    <a:effectLst/>
                    <a:latin typeface="Arial" panose="020B0604020202020204" pitchFamily="34" charset="0"/>
                    <a:ea typeface="Arial" panose="020B0604020202020204" pitchFamily="34" charset="0"/>
                  </a:rPr>
                  <a:t> </a:t>
                </a:r>
                <a:endParaRPr lang="es-MX" sz="1100">
                  <a:effectLst/>
                  <a:latin typeface="Arial" panose="020B0604020202020204" pitchFamily="34" charset="0"/>
                  <a:ea typeface="Arial" panose="020B0604020202020204" pitchFamily="34" charset="0"/>
                </a:endParaRPr>
              </a:p>
            </p:txBody>
          </p:sp>
          <p:sp>
            <p:nvSpPr>
              <p:cNvPr id="9" name="Paralelogramo 8">
                <a:extLst>
                  <a:ext uri="{FF2B5EF4-FFF2-40B4-BE49-F238E27FC236}">
                    <a16:creationId xmlns:a16="http://schemas.microsoft.com/office/drawing/2014/main" id="{8623E56F-A27D-F7E7-D667-DB06C7907134}"/>
                  </a:ext>
                </a:extLst>
              </p:cNvPr>
              <p:cNvSpPr/>
              <p:nvPr/>
            </p:nvSpPr>
            <p:spPr>
              <a:xfrm>
                <a:off x="2860775" y="2152450"/>
                <a:ext cx="1127400" cy="1418700"/>
              </a:xfrm>
              <a:prstGeom prst="parallelogram">
                <a:avLst>
                  <a:gd name="adj" fmla="val 25000"/>
                </a:avLst>
              </a:prstGeom>
              <a:solidFill>
                <a:srgbClr val="97A7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lnSpc>
                    <a:spcPct val="115000"/>
                  </a:lnSpc>
                </a:pPr>
                <a:r>
                  <a:rPr lang="es-ES" sz="1100">
                    <a:effectLst/>
                    <a:latin typeface="Arial" panose="020B0604020202020204" pitchFamily="34" charset="0"/>
                    <a:ea typeface="Arial" panose="020B0604020202020204" pitchFamily="34" charset="0"/>
                  </a:rPr>
                  <a:t> </a:t>
                </a:r>
                <a:endParaRPr lang="es-MX" sz="1100">
                  <a:effectLst/>
                  <a:latin typeface="Arial" panose="020B0604020202020204" pitchFamily="34" charset="0"/>
                  <a:ea typeface="Arial" panose="020B0604020202020204" pitchFamily="34" charset="0"/>
                </a:endParaRPr>
              </a:p>
            </p:txBody>
          </p:sp>
        </p:grpSp>
      </p:grpSp>
      <p:sp>
        <p:nvSpPr>
          <p:cNvPr id="11" name="Cuadro de texto 3">
            <a:extLst>
              <a:ext uri="{FF2B5EF4-FFF2-40B4-BE49-F238E27FC236}">
                <a16:creationId xmlns:a16="http://schemas.microsoft.com/office/drawing/2014/main" id="{A928BFB0-6995-2B29-CDC2-F7D5286D22C5}"/>
              </a:ext>
            </a:extLst>
          </p:cNvPr>
          <p:cNvSpPr txBox="1"/>
          <p:nvPr/>
        </p:nvSpPr>
        <p:spPr>
          <a:xfrm>
            <a:off x="608605" y="98129"/>
            <a:ext cx="1308735" cy="478790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5000"/>
              </a:lnSpc>
            </a:pPr>
            <a:r>
              <a:rPr lang="es-ES_tradnl" sz="2200">
                <a:solidFill>
                  <a:srgbClr val="161E43"/>
                </a:solidFill>
                <a:effectLst/>
                <a:latin typeface="Century Gothic" panose="020B0502020202020204" pitchFamily="34" charset="0"/>
                <a:ea typeface="Arial" panose="020B0604020202020204" pitchFamily="34" charset="0"/>
              </a:rPr>
              <a:t>MNA</a:t>
            </a:r>
            <a:endParaRPr lang="es-MX" sz="110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A17F96BB-950A-839D-5631-82791C0721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6723" y="570742"/>
            <a:ext cx="6970643" cy="931121"/>
          </a:xfrm>
        </p:spPr>
        <p:txBody>
          <a:bodyPr>
            <a:normAutofit/>
          </a:bodyPr>
          <a:lstStyle/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lang="es-MX" sz="2800" dirty="0">
                <a:latin typeface="Gellix" pitchFamily="2" charset="77"/>
              </a:rPr>
              <a:t>05 | Recomendaciones Comerciales</a:t>
            </a:r>
            <a:endParaRPr lang="es-MX" sz="2000" dirty="0">
              <a:latin typeface="Gellix" pitchFamily="2" charset="77"/>
            </a:endParaRPr>
          </a:p>
        </p:txBody>
      </p:sp>
      <p:sp>
        <p:nvSpPr>
          <p:cNvPr id="13" name="Subtítulo 2">
            <a:extLst>
              <a:ext uri="{FF2B5EF4-FFF2-40B4-BE49-F238E27FC236}">
                <a16:creationId xmlns:a16="http://schemas.microsoft.com/office/drawing/2014/main" id="{30FF6E45-5264-8D11-EAC7-F180544307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6619" y="1501863"/>
            <a:ext cx="10844720" cy="3934690"/>
          </a:xfrm>
        </p:spPr>
        <p:txBody>
          <a:bodyPr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endParaRPr lang="es-MX" sz="2000" dirty="0">
              <a:latin typeface="Avenir Next Condensed" panose="020B05060202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s-MX" sz="2000" dirty="0">
              <a:latin typeface="Avenir Next Condensed" panose="020B05060202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s-MX" sz="2000" dirty="0">
              <a:latin typeface="Avenir Next Condensed" panose="020B05060202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s-MX" sz="2000" dirty="0">
              <a:latin typeface="Avenir Next Condensed" panose="020B05060202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s-MX" sz="2000" dirty="0">
              <a:latin typeface="Avenir Next Condensed" panose="020B05060202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s-MX" sz="2800" dirty="0">
              <a:latin typeface="Avenir Next Condensed" panose="020B0506020202020204" pitchFamily="34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65760" y="1691640"/>
            <a:ext cx="3749039" cy="502920"/>
          </a:xfrm>
          <a:prstGeom prst="rect">
            <a:avLst/>
          </a:prstGeom>
          <a:solidFill>
            <a:srgbClr val="161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" y="1719072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entury Gothic"/>
              </a:rPr>
              <a:t>0-3 meses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286000"/>
            <a:ext cx="3749039" cy="1170432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30352" y="2340864"/>
            <a:ext cx="3429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61E44"/>
                </a:solidFill>
                <a:latin typeface="Avenir Next Condensed"/>
              </a:rPr>
              <a:t>• Desplegar API REST en GCP Cloud Run ($31/mes)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566160"/>
            <a:ext cx="3749039" cy="1170432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30352" y="3621024"/>
            <a:ext cx="3429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61E44"/>
                </a:solidFill>
                <a:latin typeface="Avenir Next Condensed"/>
              </a:rPr>
              <a:t>• Integrar dashboard con sistema de gestion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846320"/>
            <a:ext cx="3749039" cy="1170432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30352" y="4901183"/>
            <a:ext cx="3429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61E44"/>
                </a:solidFill>
                <a:latin typeface="Avenir Next Condensed"/>
              </a:rPr>
              <a:t>• Capacitar 2-3 operadores / veterinarios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43400" y="1691640"/>
            <a:ext cx="3749039" cy="5029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480560" y="1719072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entury Gothic"/>
              </a:rPr>
              <a:t>3-6 meses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43400" y="2286000"/>
            <a:ext cx="3749039" cy="1170432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07992" y="2340864"/>
            <a:ext cx="3429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61E44"/>
                </a:solidFill>
                <a:latin typeface="Avenir Next Condensed"/>
              </a:rPr>
              <a:t>• Ampliar dataset con 3+ granjas adicionales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43400" y="3566160"/>
            <a:ext cx="3749039" cy="1170432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07992" y="3621024"/>
            <a:ext cx="3429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61E44"/>
                </a:solidFill>
                <a:latin typeface="Avenir Next Condensed"/>
              </a:rPr>
              <a:t>• Reentrenamiento mensual automatizado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43400" y="4846320"/>
            <a:ext cx="3749039" cy="1170432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07992" y="4901183"/>
            <a:ext cx="3429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61E44"/>
                </a:solidFill>
                <a:latin typeface="Avenir Next Condensed"/>
              </a:rPr>
              <a:t>• Establecer KPIs de reduccion de metano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321040" y="1691640"/>
            <a:ext cx="3749039" cy="502920"/>
          </a:xfrm>
          <a:prstGeom prst="rect">
            <a:avLst/>
          </a:prstGeom>
          <a:solidFill>
            <a:srgbClr val="2D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58200" y="1719072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entury Gothic"/>
              </a:rPr>
              <a:t>6-12 meses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321040" y="2286000"/>
            <a:ext cx="3749039" cy="1170432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485632" y="2340864"/>
            <a:ext cx="3429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61E44"/>
                </a:solidFill>
                <a:latin typeface="Avenir Next Condensed"/>
              </a:rPr>
              <a:t>• Certificacion de creditos de carbono (Verra)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321040" y="3566160"/>
            <a:ext cx="3749039" cy="1170432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485632" y="3621024"/>
            <a:ext cx="3429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61E44"/>
                </a:solidFill>
                <a:latin typeface="Avenir Next Condensed"/>
              </a:rPr>
              <a:t>• Expansion a modulo prediccion de leche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321040" y="4846320"/>
            <a:ext cx="3749039" cy="1170432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485632" y="4901183"/>
            <a:ext cx="3429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61E44"/>
                </a:solidFill>
                <a:latin typeface="Avenir Next Condensed"/>
              </a:rPr>
              <a:t>• Alianza con proveedores de nutraceuticos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6102" y="6192608"/>
            <a:ext cx="11521440" cy="347472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48982" y="6210896"/>
            <a:ext cx="2743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dirty="0">
                <a:solidFill>
                  <a:srgbClr val="161E44"/>
                </a:solidFill>
                <a:latin typeface="Century Gothic"/>
              </a:rPr>
              <a:t>Plataforma cloud </a:t>
            </a:r>
            <a:r>
              <a:rPr sz="1200" b="1" dirty="0" err="1">
                <a:solidFill>
                  <a:srgbClr val="161E44"/>
                </a:solidFill>
                <a:latin typeface="Century Gothic"/>
              </a:rPr>
              <a:t>recomendada</a:t>
            </a:r>
            <a:r>
              <a:rPr sz="1200" b="1" dirty="0">
                <a:solidFill>
                  <a:srgbClr val="161E44"/>
                </a:solidFill>
                <a:latin typeface="Century Gothic"/>
              </a:rPr>
              <a:t>: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575062" y="6210896"/>
            <a:ext cx="1965960" cy="310896"/>
          </a:xfrm>
          <a:prstGeom prst="rect">
            <a:avLst/>
          </a:prstGeom>
          <a:solidFill>
            <a:srgbClr val="161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100" b="1">
                <a:solidFill>
                  <a:srgbClr val="00C896"/>
                </a:solidFill>
                <a:latin typeface="Avenir Next Condensed"/>
              </a:rPr>
              <a:t>GCP 8.85 ★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678182" y="6210896"/>
            <a:ext cx="1965960" cy="310896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100" b="0">
                <a:solidFill>
                  <a:srgbClr val="161E44"/>
                </a:solidFill>
                <a:latin typeface="Avenir Next Condensed"/>
              </a:rPr>
              <a:t>AWS 8.55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781301" y="6210896"/>
            <a:ext cx="1965960" cy="310896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100" b="0">
                <a:solidFill>
                  <a:srgbClr val="161E44"/>
                </a:solidFill>
                <a:latin typeface="Avenir Next Condensed"/>
              </a:rPr>
              <a:t>Azure 8.50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884422" y="6210896"/>
            <a:ext cx="1965960" cy="310896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100" b="0">
                <a:solidFill>
                  <a:srgbClr val="556580"/>
                </a:solidFill>
                <a:latin typeface="Avenir Next Condensed"/>
              </a:rPr>
              <a:t>IBM Watson 6.55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246D93E6-E643-BBB2-37C5-34AB841C54B5}"/>
              </a:ext>
            </a:extLst>
          </p:cNvPr>
          <p:cNvSpPr/>
          <p:nvPr/>
        </p:nvSpPr>
        <p:spPr>
          <a:xfrm>
            <a:off x="2115507" y="99072"/>
            <a:ext cx="10070201" cy="6156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r">
              <a:lnSpc>
                <a:spcPct val="115000"/>
              </a:lnSpc>
            </a:pPr>
            <a:r>
              <a:rPr lang="es-MX" sz="1400" dirty="0">
                <a:solidFill>
                  <a:srgbClr val="FFFFFF"/>
                </a:solidFill>
                <a:effectLst/>
                <a:latin typeface="Gellix" pitchFamily="2" charset="77"/>
                <a:ea typeface="Fira Sans Extra Condensed"/>
                <a:cs typeface="Fira Sans Extra Condensed"/>
              </a:rPr>
              <a:t>Identificación espacio-temporal de compuestos nutracéuticos en ganado lechero mediante inteligencia artificial</a:t>
            </a:r>
            <a:endParaRPr lang="es-MX" sz="1100" dirty="0">
              <a:effectLst/>
              <a:latin typeface="Gellix" pitchFamily="2" charset="77"/>
              <a:ea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o 3">
            <a:extLst>
              <a:ext uri="{FF2B5EF4-FFF2-40B4-BE49-F238E27FC236}">
                <a16:creationId xmlns:a16="http://schemas.microsoft.com/office/drawing/2014/main" id="{BA2F9B76-D70D-0F10-BC27-39EB895783B8}"/>
              </a:ext>
            </a:extLst>
          </p:cNvPr>
          <p:cNvGrpSpPr/>
          <p:nvPr/>
        </p:nvGrpSpPr>
        <p:grpSpPr>
          <a:xfrm>
            <a:off x="-1" y="-2"/>
            <a:ext cx="12322630" cy="655320"/>
            <a:chOff x="703525" y="2152230"/>
            <a:chExt cx="10523975" cy="847409"/>
          </a:xfrm>
        </p:grpSpPr>
        <p:sp>
          <p:nvSpPr>
            <p:cNvPr id="5" name="Rectángulo 4">
              <a:extLst>
                <a:ext uri="{FF2B5EF4-FFF2-40B4-BE49-F238E27FC236}">
                  <a16:creationId xmlns:a16="http://schemas.microsoft.com/office/drawing/2014/main" id="{DFAF7A8C-333D-C58F-9C95-59591841527A}"/>
                </a:ext>
              </a:extLst>
            </p:cNvPr>
            <p:cNvSpPr/>
            <p:nvPr/>
          </p:nvSpPr>
          <p:spPr>
            <a:xfrm>
              <a:off x="703525" y="2152232"/>
              <a:ext cx="10523975" cy="84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lnSpc>
                  <a:spcPct val="115000"/>
                </a:lnSpc>
              </a:pPr>
              <a:r>
                <a:rPr lang="es-ES" sz="1100">
                  <a:effectLst/>
                  <a:latin typeface="Arial" panose="020B0604020202020204" pitchFamily="34" charset="0"/>
                  <a:ea typeface="Arial" panose="020B0604020202020204" pitchFamily="34" charset="0"/>
                </a:rPr>
                <a:t> </a:t>
              </a:r>
              <a:endParaRPr lang="es-MX" sz="1100">
                <a:effectLst/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grpSp>
          <p:nvGrpSpPr>
            <p:cNvPr id="6" name="Grupo 5">
              <a:extLst>
                <a:ext uri="{FF2B5EF4-FFF2-40B4-BE49-F238E27FC236}">
                  <a16:creationId xmlns:a16="http://schemas.microsoft.com/office/drawing/2014/main" id="{F0F2FE41-68B0-2A54-4B88-859454FD71BF}"/>
                </a:ext>
              </a:extLst>
            </p:cNvPr>
            <p:cNvGrpSpPr/>
            <p:nvPr/>
          </p:nvGrpSpPr>
          <p:grpSpPr>
            <a:xfrm>
              <a:off x="703525" y="2152230"/>
              <a:ext cx="10412414" cy="847409"/>
              <a:chOff x="703525" y="2152450"/>
              <a:chExt cx="10412414" cy="1423500"/>
            </a:xfrm>
          </p:grpSpPr>
          <p:sp>
            <p:nvSpPr>
              <p:cNvPr id="7" name="Rectángulo 6">
                <a:extLst>
                  <a:ext uri="{FF2B5EF4-FFF2-40B4-BE49-F238E27FC236}">
                    <a16:creationId xmlns:a16="http://schemas.microsoft.com/office/drawing/2014/main" id="{1927F4A0-FF65-DE13-8DB0-F182C45D1F8F}"/>
                  </a:ext>
                </a:extLst>
              </p:cNvPr>
              <p:cNvSpPr/>
              <p:nvPr/>
            </p:nvSpPr>
            <p:spPr>
              <a:xfrm>
                <a:off x="3657601" y="2152450"/>
                <a:ext cx="7458338" cy="1418699"/>
              </a:xfrm>
              <a:prstGeom prst="rect">
                <a:avLst/>
              </a:prstGeom>
              <a:solidFill>
                <a:srgbClr val="161E4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lnSpc>
                    <a:spcPct val="115000"/>
                  </a:lnSpc>
                </a:pPr>
                <a:r>
                  <a:rPr lang="es-ES" sz="1100">
                    <a:effectLst/>
                    <a:latin typeface="Arial" panose="020B0604020202020204" pitchFamily="34" charset="0"/>
                    <a:ea typeface="Arial" panose="020B0604020202020204" pitchFamily="34" charset="0"/>
                  </a:rPr>
                  <a:t> </a:t>
                </a:r>
                <a:endParaRPr lang="es-MX" sz="1100">
                  <a:effectLst/>
                  <a:latin typeface="Arial" panose="020B0604020202020204" pitchFamily="34" charset="0"/>
                  <a:ea typeface="Arial" panose="020B0604020202020204" pitchFamily="34" charset="0"/>
                </a:endParaRPr>
              </a:p>
            </p:txBody>
          </p:sp>
          <p:sp>
            <p:nvSpPr>
              <p:cNvPr id="8" name="Rectángulo 7">
                <a:extLst>
                  <a:ext uri="{FF2B5EF4-FFF2-40B4-BE49-F238E27FC236}">
                    <a16:creationId xmlns:a16="http://schemas.microsoft.com/office/drawing/2014/main" id="{0F2B72AB-467F-B766-220B-492375030E4E}"/>
                  </a:ext>
                </a:extLst>
              </p:cNvPr>
              <p:cNvSpPr/>
              <p:nvPr/>
            </p:nvSpPr>
            <p:spPr>
              <a:xfrm>
                <a:off x="703525" y="2157250"/>
                <a:ext cx="2458800" cy="1418700"/>
              </a:xfrm>
              <a:prstGeom prst="rect">
                <a:avLst/>
              </a:pr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lnSpc>
                    <a:spcPct val="115000"/>
                  </a:lnSpc>
                </a:pPr>
                <a:r>
                  <a:rPr lang="es-ES" sz="1100">
                    <a:effectLst/>
                    <a:latin typeface="Arial" panose="020B0604020202020204" pitchFamily="34" charset="0"/>
                    <a:ea typeface="Arial" panose="020B0604020202020204" pitchFamily="34" charset="0"/>
                  </a:rPr>
                  <a:t> </a:t>
                </a:r>
                <a:endParaRPr lang="es-MX" sz="1100">
                  <a:effectLst/>
                  <a:latin typeface="Arial" panose="020B0604020202020204" pitchFamily="34" charset="0"/>
                  <a:ea typeface="Arial" panose="020B0604020202020204" pitchFamily="34" charset="0"/>
                </a:endParaRPr>
              </a:p>
            </p:txBody>
          </p:sp>
          <p:sp>
            <p:nvSpPr>
              <p:cNvPr id="9" name="Paralelogramo 8">
                <a:extLst>
                  <a:ext uri="{FF2B5EF4-FFF2-40B4-BE49-F238E27FC236}">
                    <a16:creationId xmlns:a16="http://schemas.microsoft.com/office/drawing/2014/main" id="{8623E56F-A27D-F7E7-D667-DB06C7907134}"/>
                  </a:ext>
                </a:extLst>
              </p:cNvPr>
              <p:cNvSpPr/>
              <p:nvPr/>
            </p:nvSpPr>
            <p:spPr>
              <a:xfrm>
                <a:off x="2860775" y="2152450"/>
                <a:ext cx="1127400" cy="1418700"/>
              </a:xfrm>
              <a:prstGeom prst="parallelogram">
                <a:avLst>
                  <a:gd name="adj" fmla="val 25000"/>
                </a:avLst>
              </a:prstGeom>
              <a:solidFill>
                <a:srgbClr val="97A7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lnSpc>
                    <a:spcPct val="115000"/>
                  </a:lnSpc>
                </a:pPr>
                <a:r>
                  <a:rPr lang="es-ES" sz="1100">
                    <a:effectLst/>
                    <a:latin typeface="Arial" panose="020B0604020202020204" pitchFamily="34" charset="0"/>
                    <a:ea typeface="Arial" panose="020B0604020202020204" pitchFamily="34" charset="0"/>
                  </a:rPr>
                  <a:t> </a:t>
                </a:r>
                <a:endParaRPr lang="es-MX" sz="1100">
                  <a:effectLst/>
                  <a:latin typeface="Arial" panose="020B0604020202020204" pitchFamily="34" charset="0"/>
                  <a:ea typeface="Arial" panose="020B0604020202020204" pitchFamily="34" charset="0"/>
                </a:endParaRPr>
              </a:p>
            </p:txBody>
          </p:sp>
        </p:grpSp>
      </p:grpSp>
      <p:sp>
        <p:nvSpPr>
          <p:cNvPr id="11" name="Cuadro de texto 3">
            <a:extLst>
              <a:ext uri="{FF2B5EF4-FFF2-40B4-BE49-F238E27FC236}">
                <a16:creationId xmlns:a16="http://schemas.microsoft.com/office/drawing/2014/main" id="{A928BFB0-6995-2B29-CDC2-F7D5286D22C5}"/>
              </a:ext>
            </a:extLst>
          </p:cNvPr>
          <p:cNvSpPr txBox="1"/>
          <p:nvPr/>
        </p:nvSpPr>
        <p:spPr>
          <a:xfrm>
            <a:off x="608605" y="98129"/>
            <a:ext cx="1308735" cy="478790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5000"/>
              </a:lnSpc>
            </a:pPr>
            <a:r>
              <a:rPr lang="es-ES_tradnl" sz="2200">
                <a:solidFill>
                  <a:srgbClr val="161E43"/>
                </a:solidFill>
                <a:effectLst/>
                <a:latin typeface="Century Gothic" panose="020B0502020202020204" pitchFamily="34" charset="0"/>
                <a:ea typeface="Arial" panose="020B0604020202020204" pitchFamily="34" charset="0"/>
              </a:rPr>
              <a:t>MNA</a:t>
            </a:r>
            <a:endParaRPr lang="es-MX" sz="110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A17F96BB-950A-839D-5631-82791C0721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6723" y="570742"/>
            <a:ext cx="6970643" cy="931121"/>
          </a:xfrm>
        </p:spPr>
        <p:txBody>
          <a:bodyPr>
            <a:normAutofit/>
          </a:bodyPr>
          <a:lstStyle/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lang="es-MX" sz="2800" dirty="0">
                <a:latin typeface="Gellix" pitchFamily="2" charset="77"/>
              </a:rPr>
              <a:t>06 | SLOs y Monitoreo en Produccion</a:t>
            </a:r>
            <a:endParaRPr lang="es-MX" sz="2000" dirty="0">
              <a:latin typeface="Gellix" pitchFamily="2" charset="77"/>
            </a:endParaRPr>
          </a:p>
        </p:txBody>
      </p:sp>
      <p:sp>
        <p:nvSpPr>
          <p:cNvPr id="13" name="Subtítulo 2">
            <a:extLst>
              <a:ext uri="{FF2B5EF4-FFF2-40B4-BE49-F238E27FC236}">
                <a16:creationId xmlns:a16="http://schemas.microsoft.com/office/drawing/2014/main" id="{30FF6E45-5264-8D11-EAC7-F180544307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6723" y="1489087"/>
            <a:ext cx="10844720" cy="3934690"/>
          </a:xfrm>
        </p:spPr>
        <p:txBody>
          <a:bodyPr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endParaRPr lang="es-MX" sz="2000" dirty="0">
              <a:latin typeface="Avenir Next Condensed" panose="020B05060202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s-MX" sz="2000" dirty="0">
              <a:latin typeface="Avenir Next Condensed" panose="020B05060202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s-MX" sz="2000" dirty="0">
              <a:latin typeface="Avenir Next Condensed" panose="020B05060202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s-MX" sz="2000" dirty="0">
              <a:latin typeface="Avenir Next Condensed" panose="020B05060202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s-MX" sz="2000" dirty="0">
              <a:latin typeface="Avenir Next Condensed" panose="020B05060202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s-MX" sz="2800" dirty="0">
              <a:latin typeface="Avenir Next Condensed" panose="020B0506020202020204" pitchFamily="34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65760" y="1664208"/>
            <a:ext cx="5577840" cy="438912"/>
          </a:xfrm>
          <a:prstGeom prst="rect">
            <a:avLst/>
          </a:prstGeom>
          <a:solidFill>
            <a:srgbClr val="161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300" b="1">
                <a:solidFill>
                  <a:srgbClr val="FFFFFF"/>
                </a:solidFill>
                <a:latin typeface="Century Gothic"/>
              </a:rPr>
              <a:t>SERVICE SLOs — API en Produccion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176272"/>
            <a:ext cx="5577840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2920" y="2221992"/>
            <a:ext cx="21945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61E44"/>
                </a:solidFill>
                <a:latin typeface="Avenir Next Condensed"/>
              </a:rPr>
              <a:t>P50 Latencia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21992"/>
            <a:ext cx="13716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C896"/>
                </a:solidFill>
                <a:latin typeface="Century Gothic"/>
              </a:rPr>
              <a:t>≤ 50 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2221992"/>
            <a:ext cx="1828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6580"/>
                </a:solidFill>
                <a:latin typeface="Avenir Next Condensed"/>
              </a:rPr>
              <a:t>mediana de requests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2852928"/>
            <a:ext cx="5577840" cy="603504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02920" y="2898648"/>
            <a:ext cx="21945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61E44"/>
                </a:solidFill>
                <a:latin typeface="Avenir Next Condensed"/>
              </a:rPr>
              <a:t>P95 Latencia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898648"/>
            <a:ext cx="13716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C896"/>
                </a:solidFill>
                <a:latin typeface="Century Gothic"/>
              </a:rPr>
              <a:t>≤ 200 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2898648"/>
            <a:ext cx="1828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6580"/>
                </a:solidFill>
                <a:latin typeface="Avenir Next Condensed"/>
              </a:rPr>
              <a:t>percentil 95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3529584"/>
            <a:ext cx="5577840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02920" y="3575304"/>
            <a:ext cx="21945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61E44"/>
                </a:solidFill>
                <a:latin typeface="Avenir Next Condensed"/>
              </a:rPr>
              <a:t>P99 Latencia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97480" y="3575304"/>
            <a:ext cx="13716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C896"/>
                </a:solidFill>
                <a:latin typeface="Century Gothic"/>
              </a:rPr>
              <a:t>≤ 500 ms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0" y="3575304"/>
            <a:ext cx="1828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6580"/>
                </a:solidFill>
                <a:latin typeface="Avenir Next Condensed"/>
              </a:rPr>
              <a:t>percentil 99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4206240"/>
            <a:ext cx="5577840" cy="603504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02920" y="4251960"/>
            <a:ext cx="21945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61E44"/>
                </a:solidFill>
                <a:latin typeface="Avenir Next Condensed"/>
              </a:rPr>
              <a:t>Uptime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97480" y="4251960"/>
            <a:ext cx="13716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C896"/>
                </a:solidFill>
                <a:latin typeface="Century Gothic"/>
              </a:rPr>
              <a:t>99.5 %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0" y="4251960"/>
            <a:ext cx="1828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6580"/>
                </a:solidFill>
                <a:latin typeface="Avenir Next Condensed"/>
              </a:rPr>
              <a:t>≤ 43.8 h downtime/año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4882896"/>
            <a:ext cx="5577840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02920" y="4928616"/>
            <a:ext cx="21945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61E44"/>
                </a:solidFill>
                <a:latin typeface="Avenir Next Condensed"/>
              </a:rPr>
              <a:t>Error Rate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97480" y="4928616"/>
            <a:ext cx="13716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C896"/>
                </a:solidFill>
                <a:latin typeface="Century Gothic"/>
              </a:rPr>
              <a:t>&lt; 1 %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800" y="4928616"/>
            <a:ext cx="1828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6580"/>
                </a:solidFill>
                <a:latin typeface="Avenir Next Condensed"/>
              </a:rPr>
              <a:t>errores HTTP 5xx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5559552"/>
            <a:ext cx="5577840" cy="603504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02920" y="5605272"/>
            <a:ext cx="21945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61E44"/>
                </a:solidFill>
                <a:latin typeface="Avenir Next Condensed"/>
              </a:rPr>
              <a:t>Error Budget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697480" y="5605272"/>
            <a:ext cx="13716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C896"/>
                </a:solidFill>
                <a:latin typeface="Century Gothic"/>
              </a:rPr>
              <a:t>0.5 %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14800" y="5605272"/>
            <a:ext cx="1828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6580"/>
                </a:solidFill>
                <a:latin typeface="Avenir Next Condensed"/>
              </a:rPr>
              <a:t>~43.8 h/año para mantenimiento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63640" y="1124778"/>
            <a:ext cx="5669280" cy="43891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300" b="1">
                <a:solidFill>
                  <a:srgbClr val="FFFFFF"/>
                </a:solidFill>
                <a:latin typeface="Century Gothic"/>
              </a:rPr>
              <a:t>MONITOREO DE MODELO (ML Drift)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63640" y="1636842"/>
            <a:ext cx="5669280" cy="1143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6263640" y="1636842"/>
            <a:ext cx="5669280" cy="34747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400800" y="1673418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entury Gothic"/>
              </a:rPr>
              <a:t>KPIs del modelo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0" y="2057466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61E44"/>
                </a:solidFill>
                <a:latin typeface="Avenir Next Condensed"/>
              </a:rPr>
              <a:t>RMSE degradation &gt; 10% → trigger retraining</a:t>
            </a:r>
          </a:p>
          <a:p>
            <a:pPr algn="l"/>
            <a:r>
              <a:rPr sz="1000" b="0">
                <a:solidFill>
                  <a:srgbClr val="161E44"/>
                </a:solidFill>
                <a:latin typeface="Avenir Next Condensed"/>
              </a:rPr>
              <a:t>KS test p &lt; 0.05 → data drift detectado</a:t>
            </a:r>
          </a:p>
          <a:p>
            <a:pPr algn="l"/>
            <a:r>
              <a:rPr sz="1000" b="0">
                <a:solidFill>
                  <a:srgbClr val="161E44"/>
                </a:solidFill>
                <a:latin typeface="Avenir Next Condensed"/>
              </a:rPr>
              <a:t>Feature importance shift → revisar pipeline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63640" y="2862138"/>
            <a:ext cx="5669280" cy="1143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6263640" y="2862138"/>
            <a:ext cx="5669280" cy="34747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400800" y="2898714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entury Gothic"/>
              </a:rPr>
              <a:t>Alert Policies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0" y="3282761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61E44"/>
                </a:solidFill>
                <a:latin typeface="Avenir Next Condensed"/>
              </a:rPr>
              <a:t>P95 &gt; 150 ms por 5 min → alerta Tier 1</a:t>
            </a:r>
          </a:p>
          <a:p>
            <a:pPr algn="l"/>
            <a:r>
              <a:rPr sz="1000" b="0">
                <a:solidFill>
                  <a:srgbClr val="161E44"/>
                </a:solidFill>
                <a:latin typeface="Avenir Next Condensed"/>
              </a:rPr>
              <a:t>Error rate &gt; 0.5% en 10 min → alerta Tier 1</a:t>
            </a:r>
          </a:p>
          <a:p>
            <a:pPr algn="l"/>
            <a:r>
              <a:rPr sz="1000" b="0">
                <a:solidFill>
                  <a:srgbClr val="161E44"/>
                </a:solidFill>
                <a:latin typeface="Avenir Next Condensed"/>
              </a:rPr>
              <a:t>RMSE &gt; 0.673 (10% above baseline) → alerta Tier 2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63640" y="4087434"/>
            <a:ext cx="5669280" cy="1143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6263640" y="4087434"/>
            <a:ext cx="5669280" cy="34747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400800" y="4124010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entury Gothic"/>
              </a:rPr>
              <a:t>Dashboard GCP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00800" y="4508058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61E44"/>
                </a:solidFill>
                <a:latin typeface="Avenir Next Condensed"/>
              </a:rPr>
              <a:t>Cloud Monitoring: latencia, throughput, errors</a:t>
            </a:r>
          </a:p>
          <a:p>
            <a:pPr algn="l"/>
            <a:r>
              <a:rPr sz="1000" b="0">
                <a:solidFill>
                  <a:srgbClr val="161E44"/>
                </a:solidFill>
                <a:latin typeface="Avenir Next Condensed"/>
              </a:rPr>
              <a:t>Vertex AI: drift metrics, model versions</a:t>
            </a:r>
          </a:p>
          <a:p>
            <a:pPr algn="l"/>
            <a:r>
              <a:rPr sz="1000" b="0">
                <a:solidFill>
                  <a:srgbClr val="161E44"/>
                </a:solidFill>
                <a:latin typeface="Avenir Next Condensed"/>
              </a:rPr>
              <a:t>MLflow: experimentos y artefactos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263640" y="5312730"/>
            <a:ext cx="5669280" cy="1143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6263640" y="5312730"/>
            <a:ext cx="5669280" cy="34747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400800" y="5349306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entury Gothic"/>
              </a:rPr>
              <a:t>Reentrenamiento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00800" y="5733354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61E44"/>
                </a:solidFill>
                <a:latin typeface="Avenir Next Condensed"/>
              </a:rPr>
              <a:t>Trigger automatico o manual</a:t>
            </a:r>
          </a:p>
          <a:p>
            <a:pPr algn="l"/>
            <a:r>
              <a:rPr sz="1000" b="0">
                <a:solidFill>
                  <a:srgbClr val="161E44"/>
                </a:solidFill>
                <a:latin typeface="Avenir Next Condensed"/>
              </a:rPr>
              <a:t>Revalidacion con hold-out reciente</a:t>
            </a:r>
          </a:p>
          <a:p>
            <a:pPr algn="l"/>
            <a:r>
              <a:rPr sz="1000" b="0">
                <a:solidFill>
                  <a:srgbClr val="161E44"/>
                </a:solidFill>
                <a:latin typeface="Avenir Next Condensed"/>
              </a:rPr>
              <a:t>Promocion con aprobacion del equipo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BE927A49-4D21-939C-5071-BB4341AB9A2A}"/>
              </a:ext>
            </a:extLst>
          </p:cNvPr>
          <p:cNvSpPr/>
          <p:nvPr/>
        </p:nvSpPr>
        <p:spPr>
          <a:xfrm>
            <a:off x="2115507" y="99072"/>
            <a:ext cx="10070201" cy="6156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r">
              <a:lnSpc>
                <a:spcPct val="115000"/>
              </a:lnSpc>
            </a:pPr>
            <a:r>
              <a:rPr lang="es-MX" sz="1400" dirty="0">
                <a:solidFill>
                  <a:srgbClr val="FFFFFF"/>
                </a:solidFill>
                <a:effectLst/>
                <a:latin typeface="Gellix" pitchFamily="2" charset="77"/>
                <a:ea typeface="Fira Sans Extra Condensed"/>
                <a:cs typeface="Fira Sans Extra Condensed"/>
              </a:rPr>
              <a:t>Identificación espacio-temporal de compuestos nutracéuticos en ganado lechero mediante inteligencia artificial</a:t>
            </a:r>
            <a:endParaRPr lang="es-MX" sz="1100" dirty="0">
              <a:effectLst/>
              <a:latin typeface="Gellix" pitchFamily="2" charset="77"/>
              <a:ea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o 3">
            <a:extLst>
              <a:ext uri="{FF2B5EF4-FFF2-40B4-BE49-F238E27FC236}">
                <a16:creationId xmlns:a16="http://schemas.microsoft.com/office/drawing/2014/main" id="{BA2F9B76-D70D-0F10-BC27-39EB895783B8}"/>
              </a:ext>
            </a:extLst>
          </p:cNvPr>
          <p:cNvGrpSpPr/>
          <p:nvPr/>
        </p:nvGrpSpPr>
        <p:grpSpPr>
          <a:xfrm>
            <a:off x="-1" y="-2"/>
            <a:ext cx="12322630" cy="655320"/>
            <a:chOff x="703525" y="2152230"/>
            <a:chExt cx="10523975" cy="847409"/>
          </a:xfrm>
        </p:grpSpPr>
        <p:sp>
          <p:nvSpPr>
            <p:cNvPr id="5" name="Rectángulo 4">
              <a:extLst>
                <a:ext uri="{FF2B5EF4-FFF2-40B4-BE49-F238E27FC236}">
                  <a16:creationId xmlns:a16="http://schemas.microsoft.com/office/drawing/2014/main" id="{DFAF7A8C-333D-C58F-9C95-59591841527A}"/>
                </a:ext>
              </a:extLst>
            </p:cNvPr>
            <p:cNvSpPr/>
            <p:nvPr/>
          </p:nvSpPr>
          <p:spPr>
            <a:xfrm>
              <a:off x="703525" y="2152232"/>
              <a:ext cx="10523975" cy="84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lnSpc>
                  <a:spcPct val="115000"/>
                </a:lnSpc>
              </a:pPr>
              <a:r>
                <a:rPr lang="es-ES" sz="1100">
                  <a:effectLst/>
                  <a:latin typeface="Arial" panose="020B0604020202020204" pitchFamily="34" charset="0"/>
                  <a:ea typeface="Arial" panose="020B0604020202020204" pitchFamily="34" charset="0"/>
                </a:rPr>
                <a:t> </a:t>
              </a:r>
              <a:endParaRPr lang="es-MX" sz="1100">
                <a:effectLst/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grpSp>
          <p:nvGrpSpPr>
            <p:cNvPr id="6" name="Grupo 5">
              <a:extLst>
                <a:ext uri="{FF2B5EF4-FFF2-40B4-BE49-F238E27FC236}">
                  <a16:creationId xmlns:a16="http://schemas.microsoft.com/office/drawing/2014/main" id="{F0F2FE41-68B0-2A54-4B88-859454FD71BF}"/>
                </a:ext>
              </a:extLst>
            </p:cNvPr>
            <p:cNvGrpSpPr/>
            <p:nvPr/>
          </p:nvGrpSpPr>
          <p:grpSpPr>
            <a:xfrm>
              <a:off x="703525" y="2152230"/>
              <a:ext cx="10412414" cy="847409"/>
              <a:chOff x="703525" y="2152450"/>
              <a:chExt cx="10412414" cy="1423500"/>
            </a:xfrm>
          </p:grpSpPr>
          <p:sp>
            <p:nvSpPr>
              <p:cNvPr id="7" name="Rectángulo 6">
                <a:extLst>
                  <a:ext uri="{FF2B5EF4-FFF2-40B4-BE49-F238E27FC236}">
                    <a16:creationId xmlns:a16="http://schemas.microsoft.com/office/drawing/2014/main" id="{1927F4A0-FF65-DE13-8DB0-F182C45D1F8F}"/>
                  </a:ext>
                </a:extLst>
              </p:cNvPr>
              <p:cNvSpPr/>
              <p:nvPr/>
            </p:nvSpPr>
            <p:spPr>
              <a:xfrm>
                <a:off x="3657601" y="2152450"/>
                <a:ext cx="7458338" cy="1418699"/>
              </a:xfrm>
              <a:prstGeom prst="rect">
                <a:avLst/>
              </a:prstGeom>
              <a:solidFill>
                <a:srgbClr val="161E4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lnSpc>
                    <a:spcPct val="115000"/>
                  </a:lnSpc>
                </a:pPr>
                <a:r>
                  <a:rPr lang="es-ES" sz="1100">
                    <a:effectLst/>
                    <a:latin typeface="Arial" panose="020B0604020202020204" pitchFamily="34" charset="0"/>
                    <a:ea typeface="Arial" panose="020B0604020202020204" pitchFamily="34" charset="0"/>
                  </a:rPr>
                  <a:t> </a:t>
                </a:r>
                <a:endParaRPr lang="es-MX" sz="1100">
                  <a:effectLst/>
                  <a:latin typeface="Arial" panose="020B0604020202020204" pitchFamily="34" charset="0"/>
                  <a:ea typeface="Arial" panose="020B0604020202020204" pitchFamily="34" charset="0"/>
                </a:endParaRPr>
              </a:p>
            </p:txBody>
          </p:sp>
          <p:sp>
            <p:nvSpPr>
              <p:cNvPr id="8" name="Rectángulo 7">
                <a:extLst>
                  <a:ext uri="{FF2B5EF4-FFF2-40B4-BE49-F238E27FC236}">
                    <a16:creationId xmlns:a16="http://schemas.microsoft.com/office/drawing/2014/main" id="{0F2B72AB-467F-B766-220B-492375030E4E}"/>
                  </a:ext>
                </a:extLst>
              </p:cNvPr>
              <p:cNvSpPr/>
              <p:nvPr/>
            </p:nvSpPr>
            <p:spPr>
              <a:xfrm>
                <a:off x="703525" y="2157250"/>
                <a:ext cx="2458800" cy="1418700"/>
              </a:xfrm>
              <a:prstGeom prst="rect">
                <a:avLst/>
              </a:pr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lnSpc>
                    <a:spcPct val="115000"/>
                  </a:lnSpc>
                </a:pPr>
                <a:r>
                  <a:rPr lang="es-ES" sz="1100">
                    <a:effectLst/>
                    <a:latin typeface="Arial" panose="020B0604020202020204" pitchFamily="34" charset="0"/>
                    <a:ea typeface="Arial" panose="020B0604020202020204" pitchFamily="34" charset="0"/>
                  </a:rPr>
                  <a:t> </a:t>
                </a:r>
                <a:endParaRPr lang="es-MX" sz="1100">
                  <a:effectLst/>
                  <a:latin typeface="Arial" panose="020B0604020202020204" pitchFamily="34" charset="0"/>
                  <a:ea typeface="Arial" panose="020B0604020202020204" pitchFamily="34" charset="0"/>
                </a:endParaRPr>
              </a:p>
            </p:txBody>
          </p:sp>
          <p:sp>
            <p:nvSpPr>
              <p:cNvPr id="9" name="Paralelogramo 8">
                <a:extLst>
                  <a:ext uri="{FF2B5EF4-FFF2-40B4-BE49-F238E27FC236}">
                    <a16:creationId xmlns:a16="http://schemas.microsoft.com/office/drawing/2014/main" id="{8623E56F-A27D-F7E7-D667-DB06C7907134}"/>
                  </a:ext>
                </a:extLst>
              </p:cNvPr>
              <p:cNvSpPr/>
              <p:nvPr/>
            </p:nvSpPr>
            <p:spPr>
              <a:xfrm>
                <a:off x="2860775" y="2152450"/>
                <a:ext cx="1127400" cy="1418700"/>
              </a:xfrm>
              <a:prstGeom prst="parallelogram">
                <a:avLst>
                  <a:gd name="adj" fmla="val 25000"/>
                </a:avLst>
              </a:prstGeom>
              <a:solidFill>
                <a:srgbClr val="97A7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lnSpc>
                    <a:spcPct val="115000"/>
                  </a:lnSpc>
                </a:pPr>
                <a:r>
                  <a:rPr lang="es-ES" sz="1100">
                    <a:effectLst/>
                    <a:latin typeface="Arial" panose="020B0604020202020204" pitchFamily="34" charset="0"/>
                    <a:ea typeface="Arial" panose="020B0604020202020204" pitchFamily="34" charset="0"/>
                  </a:rPr>
                  <a:t> </a:t>
                </a:r>
                <a:endParaRPr lang="es-MX" sz="1100">
                  <a:effectLst/>
                  <a:latin typeface="Arial" panose="020B0604020202020204" pitchFamily="34" charset="0"/>
                  <a:ea typeface="Arial" panose="020B0604020202020204" pitchFamily="34" charset="0"/>
                </a:endParaRPr>
              </a:p>
            </p:txBody>
          </p:sp>
        </p:grpSp>
      </p:grpSp>
      <p:sp>
        <p:nvSpPr>
          <p:cNvPr id="11" name="Cuadro de texto 3">
            <a:extLst>
              <a:ext uri="{FF2B5EF4-FFF2-40B4-BE49-F238E27FC236}">
                <a16:creationId xmlns:a16="http://schemas.microsoft.com/office/drawing/2014/main" id="{A928BFB0-6995-2B29-CDC2-F7D5286D22C5}"/>
              </a:ext>
            </a:extLst>
          </p:cNvPr>
          <p:cNvSpPr txBox="1"/>
          <p:nvPr/>
        </p:nvSpPr>
        <p:spPr>
          <a:xfrm>
            <a:off x="608605" y="98129"/>
            <a:ext cx="1308735" cy="478790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5000"/>
              </a:lnSpc>
            </a:pPr>
            <a:r>
              <a:rPr lang="es-ES_tradnl" sz="2200">
                <a:solidFill>
                  <a:srgbClr val="161E43"/>
                </a:solidFill>
                <a:effectLst/>
                <a:latin typeface="Century Gothic" panose="020B0502020202020204" pitchFamily="34" charset="0"/>
                <a:ea typeface="Arial" panose="020B0604020202020204" pitchFamily="34" charset="0"/>
              </a:rPr>
              <a:t>MNA</a:t>
            </a:r>
            <a:endParaRPr lang="es-MX" sz="110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A17F96BB-950A-839D-5631-82791C0721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6723" y="570742"/>
            <a:ext cx="6970643" cy="931121"/>
          </a:xfrm>
        </p:spPr>
        <p:txBody>
          <a:bodyPr>
            <a:normAutofit/>
          </a:bodyPr>
          <a:lstStyle/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lang="es-MX" sz="2800" dirty="0">
                <a:latin typeface="Gellix" pitchFamily="2" charset="77"/>
              </a:rPr>
              <a:t>07 | Seguridad y Compliance (LFPDPPP)</a:t>
            </a:r>
            <a:endParaRPr lang="es-MX" sz="2000" dirty="0">
              <a:latin typeface="Gellix" pitchFamily="2" charset="77"/>
            </a:endParaRPr>
          </a:p>
        </p:txBody>
      </p:sp>
      <p:sp>
        <p:nvSpPr>
          <p:cNvPr id="13" name="Subtítulo 2">
            <a:extLst>
              <a:ext uri="{FF2B5EF4-FFF2-40B4-BE49-F238E27FC236}">
                <a16:creationId xmlns:a16="http://schemas.microsoft.com/office/drawing/2014/main" id="{30FF6E45-5264-8D11-EAC7-F180544307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6619" y="1501863"/>
            <a:ext cx="10844720" cy="3934690"/>
          </a:xfrm>
        </p:spPr>
        <p:txBody>
          <a:bodyPr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endParaRPr lang="es-MX" sz="2000" dirty="0">
              <a:latin typeface="Avenir Next Condensed" panose="020B05060202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s-MX" sz="2000" dirty="0">
              <a:latin typeface="Avenir Next Condensed" panose="020B05060202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s-MX" sz="2000" dirty="0">
              <a:latin typeface="Avenir Next Condensed" panose="020B05060202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s-MX" sz="2000" dirty="0">
              <a:latin typeface="Avenir Next Condensed" panose="020B05060202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s-MX" sz="2000" dirty="0">
              <a:latin typeface="Avenir Next Condensed" panose="020B05060202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s-MX" sz="2800" dirty="0">
              <a:latin typeface="Avenir Next Condensed" panose="020B0506020202020204" pitchFamily="34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65760" y="1664208"/>
            <a:ext cx="7132320" cy="438912"/>
          </a:xfrm>
          <a:prstGeom prst="rect">
            <a:avLst/>
          </a:prstGeom>
          <a:solidFill>
            <a:srgbClr val="161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300" b="1">
                <a:solidFill>
                  <a:srgbClr val="FFFFFF"/>
                </a:solidFill>
                <a:latin typeface="Century Gothic"/>
              </a:rPr>
              <a:t>ROLES IAM — Control de Acceso (GCP)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176272"/>
            <a:ext cx="7132320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2920" y="2221992"/>
            <a:ext cx="2377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61E44"/>
                </a:solidFill>
                <a:latin typeface="Avenir Next Condensed"/>
              </a:rPr>
              <a:t>Admin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80360" y="2221992"/>
            <a:ext cx="20116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6580"/>
                </a:solidFill>
                <a:latin typeface="Avenir Next Condensed"/>
              </a:rPr>
              <a:t>Equipo ML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0" y="2221992"/>
            <a:ext cx="24688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61E44"/>
                </a:solidFill>
                <a:latin typeface="Avenir Next Condensed"/>
              </a:rPr>
              <a:t>Gestion total del stack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2852928"/>
            <a:ext cx="7132320" cy="603504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02920" y="2898648"/>
            <a:ext cx="2377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61E44"/>
                </a:solidFill>
                <a:latin typeface="Avenir Next Condensed"/>
              </a:rPr>
              <a:t>Veterinario / Operador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80360" y="2898648"/>
            <a:ext cx="20116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6580"/>
                </a:solidFill>
                <a:latin typeface="Avenir Next Condensed"/>
              </a:rPr>
              <a:t>Usuarios de campo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37760" y="2898648"/>
            <a:ext cx="24688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61E44"/>
                </a:solidFill>
                <a:latin typeface="Avenir Next Condensed"/>
              </a:rPr>
              <a:t>Consulta de predicciones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3529584"/>
            <a:ext cx="7132320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02920" y="3575304"/>
            <a:ext cx="2377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61E44"/>
                </a:solidFill>
                <a:latin typeface="Avenir Next Condensed"/>
              </a:rPr>
              <a:t>Pipeline SA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80360" y="3575304"/>
            <a:ext cx="20116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6580"/>
                </a:solidFill>
                <a:latin typeface="Avenir Next Condensed"/>
              </a:rPr>
              <a:t>Service Account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37760" y="3575304"/>
            <a:ext cx="24688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61E44"/>
                </a:solidFill>
                <a:latin typeface="Avenir Next Condensed"/>
              </a:rPr>
              <a:t>Reentrenamiento automatizado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4206240"/>
            <a:ext cx="7132320" cy="603504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02920" y="4251960"/>
            <a:ext cx="2377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61E44"/>
                </a:solidFill>
                <a:latin typeface="Avenir Next Condensed"/>
              </a:rPr>
              <a:t>Sponsor / Readonly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80360" y="4251960"/>
            <a:ext cx="20116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6580"/>
                </a:solidFill>
                <a:latin typeface="Avenir Next Condensed"/>
              </a:rPr>
              <a:t>Direccion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37760" y="4251960"/>
            <a:ext cx="24688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61E44"/>
                </a:solidFill>
                <a:latin typeface="Avenir Next Condensed"/>
              </a:rPr>
              <a:t>Reportes y dashboard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4882896"/>
            <a:ext cx="7132320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02920" y="4928616"/>
            <a:ext cx="2377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61E44"/>
                </a:solidFill>
                <a:latin typeface="Avenir Next Condensed"/>
              </a:rPr>
              <a:t>Auditor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880360" y="4928616"/>
            <a:ext cx="20116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6580"/>
                </a:solidFill>
                <a:latin typeface="Avenir Next Condensed"/>
              </a:rPr>
              <a:t>Cumplimiento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37760" y="4928616"/>
            <a:ext cx="24688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61E44"/>
                </a:solidFill>
                <a:latin typeface="Avenir Next Condensed"/>
              </a:rPr>
              <a:t>Acceso solo-lectura a logs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772400" y="1325880"/>
            <a:ext cx="4114800" cy="438912"/>
          </a:xfrm>
          <a:prstGeom prst="rect">
            <a:avLst/>
          </a:prstGeom>
          <a:solidFill>
            <a:srgbClr val="2D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300" b="1" dirty="0" err="1">
                <a:solidFill>
                  <a:srgbClr val="FFFFFF"/>
                </a:solidFill>
                <a:latin typeface="Century Gothic"/>
              </a:rPr>
              <a:t>Seguridad</a:t>
            </a:r>
            <a:r>
              <a:rPr sz="1300" b="1" dirty="0">
                <a:solidFill>
                  <a:srgbClr val="FFFFFF"/>
                </a:solidFill>
                <a:latin typeface="Century Gothic"/>
              </a:rPr>
              <a:t> y Compliance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72400" y="1837944"/>
            <a:ext cx="4114800" cy="1143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7772400" y="1837944"/>
            <a:ext cx="4114800" cy="347472"/>
          </a:xfrm>
          <a:prstGeom prst="rect">
            <a:avLst/>
          </a:prstGeom>
          <a:solidFill>
            <a:srgbClr val="2D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909560" y="1874520"/>
            <a:ext cx="3840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entury Gothic"/>
              </a:rPr>
              <a:t>Transporte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09560" y="2258568"/>
            <a:ext cx="3840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61E44"/>
                </a:solidFill>
                <a:latin typeface="Avenir Next Condensed"/>
              </a:rPr>
              <a:t>HTTPS + TLS 1.3</a:t>
            </a:r>
          </a:p>
          <a:p>
            <a:pPr algn="l"/>
            <a:r>
              <a:rPr sz="1000" b="0">
                <a:solidFill>
                  <a:srgbClr val="161E44"/>
                </a:solidFill>
                <a:latin typeface="Avenir Next Condensed"/>
              </a:rPr>
              <a:t>Certificados GCP-managed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72400" y="3063240"/>
            <a:ext cx="4114800" cy="1143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7772400" y="3063240"/>
            <a:ext cx="4114800" cy="347472"/>
          </a:xfrm>
          <a:prstGeom prst="rect">
            <a:avLst/>
          </a:prstGeom>
          <a:solidFill>
            <a:srgbClr val="2D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909560" y="3099816"/>
            <a:ext cx="3840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entury Gothic"/>
              </a:rPr>
              <a:t>Autenticacion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909560" y="3483863"/>
            <a:ext cx="3840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61E44"/>
                </a:solidFill>
                <a:latin typeface="Avenir Next Condensed"/>
              </a:rPr>
              <a:t>JWT tokens (24h expiry)</a:t>
            </a:r>
          </a:p>
          <a:p>
            <a:pPr algn="l"/>
            <a:r>
              <a:rPr sz="1000" b="0">
                <a:solidFill>
                  <a:srgbClr val="161E44"/>
                </a:solidFill>
                <a:latin typeface="Avenir Next Condensed"/>
              </a:rPr>
              <a:t>OAuth 2.0 con Google IAP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772400" y="4288536"/>
            <a:ext cx="4114800" cy="1143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7772400" y="4288536"/>
            <a:ext cx="4114800" cy="347472"/>
          </a:xfrm>
          <a:prstGeom prst="rect">
            <a:avLst/>
          </a:prstGeom>
          <a:solidFill>
            <a:srgbClr val="2D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909560" y="4325112"/>
            <a:ext cx="3840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entury Gothic"/>
              </a:rPr>
              <a:t>API Protection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909560" y="4709160"/>
            <a:ext cx="3840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61E44"/>
                </a:solidFill>
                <a:latin typeface="Avenir Next Condensed"/>
              </a:rPr>
              <a:t>Rate limiting: 100 req/min</a:t>
            </a:r>
          </a:p>
          <a:p>
            <a:pPr algn="l"/>
            <a:r>
              <a:rPr sz="1000" b="0">
                <a:solidFill>
                  <a:srgbClr val="161E44"/>
                </a:solidFill>
                <a:latin typeface="Avenir Next Condensed"/>
              </a:rPr>
              <a:t>Input validation + sanitizacion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772400" y="5513832"/>
            <a:ext cx="4114800" cy="1143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7772400" y="5513832"/>
            <a:ext cx="4114800" cy="347472"/>
          </a:xfrm>
          <a:prstGeom prst="rect">
            <a:avLst/>
          </a:prstGeom>
          <a:solidFill>
            <a:srgbClr val="2D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7909560" y="5550408"/>
            <a:ext cx="3840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entury Gothic"/>
              </a:rPr>
              <a:t>LFPDPPP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909560" y="5934456"/>
            <a:ext cx="3840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61E44"/>
                </a:solidFill>
                <a:latin typeface="Avenir Next Condensed"/>
              </a:rPr>
              <a:t>Aplica si se almacenan nombres</a:t>
            </a:r>
          </a:p>
          <a:p>
            <a:pPr algn="l"/>
            <a:r>
              <a:rPr sz="1000" b="0">
                <a:solidFill>
                  <a:srgbClr val="161E44"/>
                </a:solidFill>
                <a:latin typeface="Avenir Next Condensed"/>
              </a:rPr>
              <a:t>Aviso privacidad obligatorio</a:t>
            </a:r>
          </a:p>
          <a:p>
            <a:pPr algn="l"/>
            <a:r>
              <a:rPr sz="1000" b="0">
                <a:solidFill>
                  <a:srgbClr val="161E44"/>
                </a:solidFill>
                <a:latin typeface="Avenir Next Condensed"/>
              </a:rPr>
              <a:t>Minimizacion de datos PII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5760" y="6309360"/>
            <a:ext cx="7217229" cy="347472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02920" y="6327648"/>
            <a:ext cx="71323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61E44"/>
                </a:solidFill>
                <a:latin typeface="Avenir Next Condensed"/>
              </a:rPr>
              <a:t>Incident Response (7 fases):  Detectar → Contener → Erradicar → Recuperar → Postmortem → Documentar → Prevenir</a:t>
            </a:r>
          </a:p>
        </p:txBody>
      </p:sp>
      <p:sp>
        <p:nvSpPr>
          <p:cNvPr id="55" name="Rectángulo 54">
            <a:extLst>
              <a:ext uri="{FF2B5EF4-FFF2-40B4-BE49-F238E27FC236}">
                <a16:creationId xmlns:a16="http://schemas.microsoft.com/office/drawing/2014/main" id="{BC5DAF45-63BA-C184-B119-5A13F0361EBF}"/>
              </a:ext>
            </a:extLst>
          </p:cNvPr>
          <p:cNvSpPr/>
          <p:nvPr/>
        </p:nvSpPr>
        <p:spPr>
          <a:xfrm>
            <a:off x="2115507" y="99072"/>
            <a:ext cx="10070201" cy="6156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r">
              <a:lnSpc>
                <a:spcPct val="115000"/>
              </a:lnSpc>
            </a:pPr>
            <a:r>
              <a:rPr lang="es-MX" sz="1400" dirty="0">
                <a:solidFill>
                  <a:srgbClr val="FFFFFF"/>
                </a:solidFill>
                <a:effectLst/>
                <a:latin typeface="Gellix" pitchFamily="2" charset="77"/>
                <a:ea typeface="Fira Sans Extra Condensed"/>
                <a:cs typeface="Fira Sans Extra Condensed"/>
              </a:rPr>
              <a:t>Identificación espacio-temporal de compuestos nutracéuticos en ganado lechero mediante inteligencia artificial</a:t>
            </a:r>
            <a:endParaRPr lang="es-MX" sz="1100" dirty="0">
              <a:effectLst/>
              <a:latin typeface="Gellix" pitchFamily="2" charset="77"/>
              <a:ea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o 3">
            <a:extLst>
              <a:ext uri="{FF2B5EF4-FFF2-40B4-BE49-F238E27FC236}">
                <a16:creationId xmlns:a16="http://schemas.microsoft.com/office/drawing/2014/main" id="{BA2F9B76-D70D-0F10-BC27-39EB895783B8}"/>
              </a:ext>
            </a:extLst>
          </p:cNvPr>
          <p:cNvGrpSpPr/>
          <p:nvPr/>
        </p:nvGrpSpPr>
        <p:grpSpPr>
          <a:xfrm>
            <a:off x="-1" y="-2"/>
            <a:ext cx="12322630" cy="655320"/>
            <a:chOff x="703525" y="2152230"/>
            <a:chExt cx="10523975" cy="847409"/>
          </a:xfrm>
        </p:grpSpPr>
        <p:sp>
          <p:nvSpPr>
            <p:cNvPr id="5" name="Rectángulo 4">
              <a:extLst>
                <a:ext uri="{FF2B5EF4-FFF2-40B4-BE49-F238E27FC236}">
                  <a16:creationId xmlns:a16="http://schemas.microsoft.com/office/drawing/2014/main" id="{DFAF7A8C-333D-C58F-9C95-59591841527A}"/>
                </a:ext>
              </a:extLst>
            </p:cNvPr>
            <p:cNvSpPr/>
            <p:nvPr/>
          </p:nvSpPr>
          <p:spPr>
            <a:xfrm>
              <a:off x="703525" y="2152232"/>
              <a:ext cx="10523975" cy="84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lnSpc>
                  <a:spcPct val="115000"/>
                </a:lnSpc>
              </a:pPr>
              <a:r>
                <a:rPr lang="es-ES" sz="1100">
                  <a:effectLst/>
                  <a:latin typeface="Arial" panose="020B0604020202020204" pitchFamily="34" charset="0"/>
                  <a:ea typeface="Arial" panose="020B0604020202020204" pitchFamily="34" charset="0"/>
                </a:rPr>
                <a:t> </a:t>
              </a:r>
              <a:endParaRPr lang="es-MX" sz="1100">
                <a:effectLst/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grpSp>
          <p:nvGrpSpPr>
            <p:cNvPr id="6" name="Grupo 5">
              <a:extLst>
                <a:ext uri="{FF2B5EF4-FFF2-40B4-BE49-F238E27FC236}">
                  <a16:creationId xmlns:a16="http://schemas.microsoft.com/office/drawing/2014/main" id="{F0F2FE41-68B0-2A54-4B88-859454FD71BF}"/>
                </a:ext>
              </a:extLst>
            </p:cNvPr>
            <p:cNvGrpSpPr/>
            <p:nvPr/>
          </p:nvGrpSpPr>
          <p:grpSpPr>
            <a:xfrm>
              <a:off x="703525" y="2152230"/>
              <a:ext cx="10412414" cy="847409"/>
              <a:chOff x="703525" y="2152450"/>
              <a:chExt cx="10412414" cy="1423500"/>
            </a:xfrm>
          </p:grpSpPr>
          <p:sp>
            <p:nvSpPr>
              <p:cNvPr id="7" name="Rectángulo 6">
                <a:extLst>
                  <a:ext uri="{FF2B5EF4-FFF2-40B4-BE49-F238E27FC236}">
                    <a16:creationId xmlns:a16="http://schemas.microsoft.com/office/drawing/2014/main" id="{1927F4A0-FF65-DE13-8DB0-F182C45D1F8F}"/>
                  </a:ext>
                </a:extLst>
              </p:cNvPr>
              <p:cNvSpPr/>
              <p:nvPr/>
            </p:nvSpPr>
            <p:spPr>
              <a:xfrm>
                <a:off x="3657601" y="2152450"/>
                <a:ext cx="7458338" cy="1418699"/>
              </a:xfrm>
              <a:prstGeom prst="rect">
                <a:avLst/>
              </a:prstGeom>
              <a:solidFill>
                <a:srgbClr val="161E4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lnSpc>
                    <a:spcPct val="115000"/>
                  </a:lnSpc>
                </a:pPr>
                <a:r>
                  <a:rPr lang="es-ES" sz="1100">
                    <a:effectLst/>
                    <a:latin typeface="Arial" panose="020B0604020202020204" pitchFamily="34" charset="0"/>
                    <a:ea typeface="Arial" panose="020B0604020202020204" pitchFamily="34" charset="0"/>
                  </a:rPr>
                  <a:t> </a:t>
                </a:r>
                <a:endParaRPr lang="es-MX" sz="1100">
                  <a:effectLst/>
                  <a:latin typeface="Arial" panose="020B0604020202020204" pitchFamily="34" charset="0"/>
                  <a:ea typeface="Arial" panose="020B0604020202020204" pitchFamily="34" charset="0"/>
                </a:endParaRPr>
              </a:p>
            </p:txBody>
          </p:sp>
          <p:sp>
            <p:nvSpPr>
              <p:cNvPr id="8" name="Rectángulo 7">
                <a:extLst>
                  <a:ext uri="{FF2B5EF4-FFF2-40B4-BE49-F238E27FC236}">
                    <a16:creationId xmlns:a16="http://schemas.microsoft.com/office/drawing/2014/main" id="{0F2B72AB-467F-B766-220B-492375030E4E}"/>
                  </a:ext>
                </a:extLst>
              </p:cNvPr>
              <p:cNvSpPr/>
              <p:nvPr/>
            </p:nvSpPr>
            <p:spPr>
              <a:xfrm>
                <a:off x="703525" y="2157250"/>
                <a:ext cx="2458800" cy="1418700"/>
              </a:xfrm>
              <a:prstGeom prst="rect">
                <a:avLst/>
              </a:pr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lnSpc>
                    <a:spcPct val="115000"/>
                  </a:lnSpc>
                </a:pPr>
                <a:r>
                  <a:rPr lang="es-ES" sz="1100">
                    <a:effectLst/>
                    <a:latin typeface="Arial" panose="020B0604020202020204" pitchFamily="34" charset="0"/>
                    <a:ea typeface="Arial" panose="020B0604020202020204" pitchFamily="34" charset="0"/>
                  </a:rPr>
                  <a:t> </a:t>
                </a:r>
                <a:endParaRPr lang="es-MX" sz="1100">
                  <a:effectLst/>
                  <a:latin typeface="Arial" panose="020B0604020202020204" pitchFamily="34" charset="0"/>
                  <a:ea typeface="Arial" panose="020B0604020202020204" pitchFamily="34" charset="0"/>
                </a:endParaRPr>
              </a:p>
            </p:txBody>
          </p:sp>
          <p:sp>
            <p:nvSpPr>
              <p:cNvPr id="9" name="Paralelogramo 8">
                <a:extLst>
                  <a:ext uri="{FF2B5EF4-FFF2-40B4-BE49-F238E27FC236}">
                    <a16:creationId xmlns:a16="http://schemas.microsoft.com/office/drawing/2014/main" id="{8623E56F-A27D-F7E7-D667-DB06C7907134}"/>
                  </a:ext>
                </a:extLst>
              </p:cNvPr>
              <p:cNvSpPr/>
              <p:nvPr/>
            </p:nvSpPr>
            <p:spPr>
              <a:xfrm>
                <a:off x="2860775" y="2152450"/>
                <a:ext cx="1127400" cy="1418700"/>
              </a:xfrm>
              <a:prstGeom prst="parallelogram">
                <a:avLst>
                  <a:gd name="adj" fmla="val 25000"/>
                </a:avLst>
              </a:prstGeom>
              <a:solidFill>
                <a:srgbClr val="97A7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lnSpc>
                    <a:spcPct val="115000"/>
                  </a:lnSpc>
                </a:pPr>
                <a:r>
                  <a:rPr lang="es-ES" sz="1100">
                    <a:effectLst/>
                    <a:latin typeface="Arial" panose="020B0604020202020204" pitchFamily="34" charset="0"/>
                    <a:ea typeface="Arial" panose="020B0604020202020204" pitchFamily="34" charset="0"/>
                  </a:rPr>
                  <a:t> </a:t>
                </a:r>
                <a:endParaRPr lang="es-MX" sz="1100">
                  <a:effectLst/>
                  <a:latin typeface="Arial" panose="020B0604020202020204" pitchFamily="34" charset="0"/>
                  <a:ea typeface="Arial" panose="020B0604020202020204" pitchFamily="34" charset="0"/>
                </a:endParaRPr>
              </a:p>
            </p:txBody>
          </p:sp>
        </p:grpSp>
      </p:grpSp>
      <p:sp>
        <p:nvSpPr>
          <p:cNvPr id="11" name="Cuadro de texto 3">
            <a:extLst>
              <a:ext uri="{FF2B5EF4-FFF2-40B4-BE49-F238E27FC236}">
                <a16:creationId xmlns:a16="http://schemas.microsoft.com/office/drawing/2014/main" id="{A928BFB0-6995-2B29-CDC2-F7D5286D22C5}"/>
              </a:ext>
            </a:extLst>
          </p:cNvPr>
          <p:cNvSpPr txBox="1"/>
          <p:nvPr/>
        </p:nvSpPr>
        <p:spPr>
          <a:xfrm>
            <a:off x="608605" y="98129"/>
            <a:ext cx="1308735" cy="478790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5000"/>
              </a:lnSpc>
            </a:pPr>
            <a:r>
              <a:rPr lang="es-ES_tradnl" sz="2200">
                <a:solidFill>
                  <a:srgbClr val="161E43"/>
                </a:solidFill>
                <a:effectLst/>
                <a:latin typeface="Century Gothic" panose="020B0502020202020204" pitchFamily="34" charset="0"/>
                <a:ea typeface="Arial" panose="020B0604020202020204" pitchFamily="34" charset="0"/>
              </a:rPr>
              <a:t>MNA</a:t>
            </a:r>
            <a:endParaRPr lang="es-MX" sz="110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A17F96BB-950A-839D-5631-82791C0721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6723" y="570742"/>
            <a:ext cx="6970643" cy="931121"/>
          </a:xfrm>
        </p:spPr>
        <p:txBody>
          <a:bodyPr>
            <a:normAutofit/>
          </a:bodyPr>
          <a:lstStyle/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lang="es-MX" sz="2800" dirty="0">
                <a:latin typeface="Gellix" pitchFamily="2" charset="77"/>
              </a:rPr>
              <a:t>08 | Plan de Handoff y Operaciones</a:t>
            </a:r>
            <a:endParaRPr lang="es-MX" sz="2000" dirty="0">
              <a:latin typeface="Gellix" pitchFamily="2" charset="77"/>
            </a:endParaRPr>
          </a:p>
        </p:txBody>
      </p:sp>
      <p:sp>
        <p:nvSpPr>
          <p:cNvPr id="13" name="Subtítulo 2">
            <a:extLst>
              <a:ext uri="{FF2B5EF4-FFF2-40B4-BE49-F238E27FC236}">
                <a16:creationId xmlns:a16="http://schemas.microsoft.com/office/drawing/2014/main" id="{30FF6E45-5264-8D11-EAC7-F180544307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6619" y="1501863"/>
            <a:ext cx="10844720" cy="3934690"/>
          </a:xfrm>
        </p:spPr>
        <p:txBody>
          <a:bodyPr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endParaRPr lang="es-MX" sz="2000" dirty="0">
              <a:latin typeface="Avenir Next Condensed" panose="020B05060202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s-MX" sz="2000" dirty="0">
              <a:latin typeface="Avenir Next Condensed" panose="020B05060202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s-MX" sz="2000" dirty="0">
              <a:latin typeface="Avenir Next Condensed" panose="020B05060202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s-MX" sz="2000" dirty="0">
              <a:latin typeface="Avenir Next Condensed" panose="020B05060202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s-MX" sz="2000" dirty="0">
              <a:latin typeface="Avenir Next Condensed" panose="020B05060202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s-MX" sz="2800" dirty="0">
              <a:latin typeface="Avenir Next Condensed" panose="020B0506020202020204" pitchFamily="34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65760" y="1664208"/>
            <a:ext cx="5715000" cy="233172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65760" y="1664208"/>
            <a:ext cx="5715000" cy="438912"/>
          </a:xfrm>
          <a:prstGeom prst="rect">
            <a:avLst/>
          </a:prstGeom>
          <a:solidFill>
            <a:srgbClr val="161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2920" y="1719072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entury Gothic"/>
              </a:rPr>
              <a:t>IaC — Terraform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2194560"/>
            <a:ext cx="53949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61E44"/>
                </a:solidFill>
                <a:latin typeface="Avenir Next Condensed"/>
              </a:rPr>
              <a:t>7 modulos: cloudrun.tf, storage.tf</a:t>
            </a:r>
          </a:p>
          <a:p>
            <a:pPr algn="l"/>
            <a:r>
              <a:rPr sz="1050" b="0">
                <a:solidFill>
                  <a:srgbClr val="161E44"/>
                </a:solidFill>
                <a:latin typeface="Avenir Next Condensed"/>
              </a:rPr>
              <a:t>sql.tf, monitoring.tf, iam.tf</a:t>
            </a:r>
          </a:p>
          <a:p>
            <a:pPr algn="l"/>
            <a:r>
              <a:rPr sz="1050" b="0">
                <a:solidFill>
                  <a:srgbClr val="161E44"/>
                </a:solidFill>
                <a:latin typeface="Avenir Next Condensed"/>
              </a:rPr>
              <a:t>vertex.tf, variables.tf</a:t>
            </a:r>
          </a:p>
          <a:p>
            <a:pPr algn="l"/>
            <a:endParaRPr sz="1050" b="0">
              <a:solidFill>
                <a:srgbClr val="161E44"/>
              </a:solidFill>
              <a:latin typeface="Avenir Next Condensed"/>
            </a:endParaRPr>
          </a:p>
          <a:p>
            <a:pPr algn="l"/>
            <a:r>
              <a:rPr sz="1050" b="0">
                <a:solidFill>
                  <a:srgbClr val="161E44"/>
                </a:solidFill>
                <a:latin typeface="Avenir Next Condensed"/>
              </a:rPr>
              <a:t>Deployment: terraform init → plan → apply</a:t>
            </a:r>
          </a:p>
          <a:p>
            <a:pPr algn="l"/>
            <a:r>
              <a:rPr sz="1050" b="0">
                <a:solidFill>
                  <a:srgbClr val="161E44"/>
                </a:solidFill>
                <a:latin typeface="Avenir Next Condensed"/>
              </a:rPr>
              <a:t>Rollback: terraform destroy + restore backup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5080" y="1664208"/>
            <a:ext cx="5715000" cy="233172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355080" y="1664208"/>
            <a:ext cx="5715000" cy="43891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92240" y="1719072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entury Gothic"/>
              </a:rPr>
              <a:t>Runbook Operaciones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2194560"/>
            <a:ext cx="53949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61E44"/>
                </a:solidFill>
                <a:latin typeface="Avenir Next Condensed"/>
              </a:rPr>
              <a:t>4 secciones documentadas:</a:t>
            </a:r>
          </a:p>
          <a:p>
            <a:pPr algn="l"/>
            <a:r>
              <a:rPr sz="1050" b="0">
                <a:solidFill>
                  <a:srgbClr val="161E44"/>
                </a:solidFill>
                <a:latin typeface="Avenir Next Condensed"/>
              </a:rPr>
              <a:t>• Deploy inicial (30 min)</a:t>
            </a:r>
          </a:p>
          <a:p>
            <a:pPr algn="l"/>
            <a:r>
              <a:rPr sz="1050" b="0">
                <a:solidFill>
                  <a:srgbClr val="161E44"/>
                </a:solidFill>
                <a:latin typeface="Avenir Next Condensed"/>
              </a:rPr>
              <a:t>• Rollback a version anterior</a:t>
            </a:r>
          </a:p>
          <a:p>
            <a:pPr algn="l"/>
            <a:r>
              <a:rPr sz="1050" b="0">
                <a:solidFill>
                  <a:srgbClr val="161E44"/>
                </a:solidFill>
                <a:latin typeface="Avenir Next Condensed"/>
              </a:rPr>
              <a:t>• Escalado horizontal (max 10 instancias)</a:t>
            </a:r>
          </a:p>
          <a:p>
            <a:pPr algn="l"/>
            <a:r>
              <a:rPr sz="1050" b="0">
                <a:solidFill>
                  <a:srgbClr val="161E44"/>
                </a:solidFill>
                <a:latin typeface="Avenir Next Condensed"/>
              </a:rPr>
              <a:t>• Procedimiento de monitoreo diario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133088"/>
            <a:ext cx="5715000" cy="233172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65760" y="4133088"/>
            <a:ext cx="5715000" cy="438912"/>
          </a:xfrm>
          <a:prstGeom prst="rect">
            <a:avLst/>
          </a:prstGeom>
          <a:solidFill>
            <a:srgbClr val="2D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02920" y="4187952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entury Gothic"/>
              </a:rPr>
              <a:t>Knowledge Transfer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4663440"/>
            <a:ext cx="53949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61E44"/>
                </a:solidFill>
                <a:latin typeface="Avenir Next Condensed"/>
              </a:rPr>
              <a:t>Plan de 3 sesiones de 2 horas:</a:t>
            </a:r>
          </a:p>
          <a:p>
            <a:pPr algn="l"/>
            <a:r>
              <a:rPr sz="1050" b="0">
                <a:solidFill>
                  <a:srgbClr val="161E44"/>
                </a:solidFill>
                <a:latin typeface="Avenir Next Condensed"/>
              </a:rPr>
              <a:t>• Sesion 1: Arquitectura y GCP</a:t>
            </a:r>
          </a:p>
          <a:p>
            <a:pPr algn="l"/>
            <a:r>
              <a:rPr sz="1050" b="0">
                <a:solidFill>
                  <a:srgbClr val="161E44"/>
                </a:solidFill>
                <a:latin typeface="Avenir Next Condensed"/>
              </a:rPr>
              <a:t>• Sesion 2: Operaciones y runbook</a:t>
            </a:r>
          </a:p>
          <a:p>
            <a:pPr algn="l"/>
            <a:r>
              <a:rPr sz="1050" b="0">
                <a:solidFill>
                  <a:srgbClr val="161E44"/>
                </a:solidFill>
                <a:latin typeface="Avenir Next Condensed"/>
              </a:rPr>
              <a:t>• Sesion 3: ML monitoring y retraining</a:t>
            </a:r>
          </a:p>
          <a:p>
            <a:pPr algn="l"/>
            <a:endParaRPr sz="1050" b="0">
              <a:solidFill>
                <a:srgbClr val="161E44"/>
              </a:solidFill>
              <a:latin typeface="Avenir Next Condensed"/>
            </a:endParaRPr>
          </a:p>
          <a:p>
            <a:pPr algn="l"/>
            <a:r>
              <a:rPr sz="1050" b="0">
                <a:solidFill>
                  <a:srgbClr val="161E44"/>
                </a:solidFill>
                <a:latin typeface="Avenir Next Condensed"/>
              </a:rPr>
              <a:t>Documentacion completa en Confluence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5080" y="4133088"/>
            <a:ext cx="5715000" cy="233172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355080" y="4133088"/>
            <a:ext cx="5715000" cy="438912"/>
          </a:xfrm>
          <a:prstGeom prst="rect">
            <a:avLst/>
          </a:prstGeom>
          <a:solidFill>
            <a:srgbClr val="161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92240" y="4187952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4A017"/>
                </a:solidFill>
                <a:latin typeface="Century Gothic"/>
              </a:rPr>
              <a:t>Decommissioning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4663440"/>
            <a:ext cx="53949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61E44"/>
                </a:solidFill>
                <a:latin typeface="Avenir Next Condensed"/>
              </a:rPr>
              <a:t>30 dias antes:</a:t>
            </a:r>
          </a:p>
          <a:p>
            <a:pPr algn="l"/>
            <a:r>
              <a:rPr sz="1050" b="0">
                <a:solidFill>
                  <a:srgbClr val="161E44"/>
                </a:solidFill>
                <a:latin typeface="Avenir Next Condensed"/>
              </a:rPr>
              <a:t>  → Backup completo de datos y modelos</a:t>
            </a:r>
          </a:p>
          <a:p>
            <a:pPr algn="l"/>
            <a:r>
              <a:rPr sz="1050" b="0">
                <a:solidFill>
                  <a:srgbClr val="161E44"/>
                </a:solidFill>
                <a:latin typeface="Avenir Next Condensed"/>
              </a:rPr>
              <a:t>15 dias antes:</a:t>
            </a:r>
          </a:p>
          <a:p>
            <a:pPr algn="l"/>
            <a:r>
              <a:rPr sz="1050" b="0">
                <a:solidFill>
                  <a:srgbClr val="161E44"/>
                </a:solidFill>
                <a:latin typeface="Avenir Next Condensed"/>
              </a:rPr>
              <a:t>  → Redirect de trafico</a:t>
            </a:r>
          </a:p>
          <a:p>
            <a:pPr algn="l"/>
            <a:r>
              <a:rPr sz="1050" b="0">
                <a:solidFill>
                  <a:srgbClr val="161E44"/>
                </a:solidFill>
                <a:latin typeface="Avenir Next Condensed"/>
              </a:rPr>
              <a:t>Dia 0:</a:t>
            </a:r>
          </a:p>
          <a:p>
            <a:pPr algn="l"/>
            <a:r>
              <a:rPr sz="1050" b="0">
                <a:solidFill>
                  <a:srgbClr val="161E44"/>
                </a:solidFill>
                <a:latin typeface="Avenir Next Condensed"/>
              </a:rPr>
              <a:t>  → Shutdown + terraform destroy</a:t>
            </a:r>
          </a:p>
          <a:p>
            <a:pPr algn="l"/>
            <a:r>
              <a:rPr sz="1050" b="0">
                <a:solidFill>
                  <a:srgbClr val="161E44"/>
                </a:solidFill>
                <a:latin typeface="Avenir Next Condensed"/>
              </a:rPr>
              <a:t>  → Evidencia archivada 5 años (LFPDPPP)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3C7682DE-58EC-8AD8-4ED3-D9D3AB03E022}"/>
              </a:ext>
            </a:extLst>
          </p:cNvPr>
          <p:cNvSpPr/>
          <p:nvPr/>
        </p:nvSpPr>
        <p:spPr>
          <a:xfrm>
            <a:off x="2115507" y="99072"/>
            <a:ext cx="10070201" cy="6156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r">
              <a:lnSpc>
                <a:spcPct val="115000"/>
              </a:lnSpc>
            </a:pPr>
            <a:r>
              <a:rPr lang="es-MX" sz="1400" dirty="0">
                <a:solidFill>
                  <a:srgbClr val="FFFFFF"/>
                </a:solidFill>
                <a:effectLst/>
                <a:latin typeface="Gellix" pitchFamily="2" charset="77"/>
                <a:ea typeface="Fira Sans Extra Condensed"/>
                <a:cs typeface="Fira Sans Extra Condensed"/>
              </a:rPr>
              <a:t>Identificación espacio-temporal de compuestos nutracéuticos en ganado lechero mediante inteligencia artificial</a:t>
            </a:r>
            <a:endParaRPr lang="es-MX" sz="1100" dirty="0">
              <a:effectLst/>
              <a:latin typeface="Gellix" pitchFamily="2" charset="77"/>
              <a:ea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o 3">
            <a:extLst>
              <a:ext uri="{FF2B5EF4-FFF2-40B4-BE49-F238E27FC236}">
                <a16:creationId xmlns:a16="http://schemas.microsoft.com/office/drawing/2014/main" id="{BA2F9B76-D70D-0F10-BC27-39EB895783B8}"/>
              </a:ext>
            </a:extLst>
          </p:cNvPr>
          <p:cNvGrpSpPr/>
          <p:nvPr/>
        </p:nvGrpSpPr>
        <p:grpSpPr>
          <a:xfrm>
            <a:off x="-1" y="-2"/>
            <a:ext cx="12322630" cy="655320"/>
            <a:chOff x="703525" y="2152230"/>
            <a:chExt cx="10523975" cy="847409"/>
          </a:xfrm>
        </p:grpSpPr>
        <p:sp>
          <p:nvSpPr>
            <p:cNvPr id="5" name="Rectángulo 4">
              <a:extLst>
                <a:ext uri="{FF2B5EF4-FFF2-40B4-BE49-F238E27FC236}">
                  <a16:creationId xmlns:a16="http://schemas.microsoft.com/office/drawing/2014/main" id="{DFAF7A8C-333D-C58F-9C95-59591841527A}"/>
                </a:ext>
              </a:extLst>
            </p:cNvPr>
            <p:cNvSpPr/>
            <p:nvPr/>
          </p:nvSpPr>
          <p:spPr>
            <a:xfrm>
              <a:off x="703525" y="2152232"/>
              <a:ext cx="10523975" cy="84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lnSpc>
                  <a:spcPct val="115000"/>
                </a:lnSpc>
              </a:pPr>
              <a:r>
                <a:rPr lang="es-ES" sz="1100">
                  <a:effectLst/>
                  <a:latin typeface="Arial" panose="020B0604020202020204" pitchFamily="34" charset="0"/>
                  <a:ea typeface="Arial" panose="020B0604020202020204" pitchFamily="34" charset="0"/>
                </a:rPr>
                <a:t> </a:t>
              </a:r>
              <a:endParaRPr lang="es-MX" sz="1100">
                <a:effectLst/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grpSp>
          <p:nvGrpSpPr>
            <p:cNvPr id="6" name="Grupo 5">
              <a:extLst>
                <a:ext uri="{FF2B5EF4-FFF2-40B4-BE49-F238E27FC236}">
                  <a16:creationId xmlns:a16="http://schemas.microsoft.com/office/drawing/2014/main" id="{F0F2FE41-68B0-2A54-4B88-859454FD71BF}"/>
                </a:ext>
              </a:extLst>
            </p:cNvPr>
            <p:cNvGrpSpPr/>
            <p:nvPr/>
          </p:nvGrpSpPr>
          <p:grpSpPr>
            <a:xfrm>
              <a:off x="703525" y="2152230"/>
              <a:ext cx="10412414" cy="847409"/>
              <a:chOff x="703525" y="2152450"/>
              <a:chExt cx="10412414" cy="1423500"/>
            </a:xfrm>
          </p:grpSpPr>
          <p:sp>
            <p:nvSpPr>
              <p:cNvPr id="7" name="Rectángulo 6">
                <a:extLst>
                  <a:ext uri="{FF2B5EF4-FFF2-40B4-BE49-F238E27FC236}">
                    <a16:creationId xmlns:a16="http://schemas.microsoft.com/office/drawing/2014/main" id="{1927F4A0-FF65-DE13-8DB0-F182C45D1F8F}"/>
                  </a:ext>
                </a:extLst>
              </p:cNvPr>
              <p:cNvSpPr/>
              <p:nvPr/>
            </p:nvSpPr>
            <p:spPr>
              <a:xfrm>
                <a:off x="3657601" y="2152450"/>
                <a:ext cx="7458338" cy="1418699"/>
              </a:xfrm>
              <a:prstGeom prst="rect">
                <a:avLst/>
              </a:prstGeom>
              <a:solidFill>
                <a:srgbClr val="161E4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lnSpc>
                    <a:spcPct val="115000"/>
                  </a:lnSpc>
                </a:pPr>
                <a:r>
                  <a:rPr lang="es-ES" sz="1100">
                    <a:effectLst/>
                    <a:latin typeface="Arial" panose="020B0604020202020204" pitchFamily="34" charset="0"/>
                    <a:ea typeface="Arial" panose="020B0604020202020204" pitchFamily="34" charset="0"/>
                  </a:rPr>
                  <a:t> </a:t>
                </a:r>
                <a:endParaRPr lang="es-MX" sz="1100">
                  <a:effectLst/>
                  <a:latin typeface="Arial" panose="020B0604020202020204" pitchFamily="34" charset="0"/>
                  <a:ea typeface="Arial" panose="020B0604020202020204" pitchFamily="34" charset="0"/>
                </a:endParaRPr>
              </a:p>
            </p:txBody>
          </p:sp>
          <p:sp>
            <p:nvSpPr>
              <p:cNvPr id="8" name="Rectángulo 7">
                <a:extLst>
                  <a:ext uri="{FF2B5EF4-FFF2-40B4-BE49-F238E27FC236}">
                    <a16:creationId xmlns:a16="http://schemas.microsoft.com/office/drawing/2014/main" id="{0F2B72AB-467F-B766-220B-492375030E4E}"/>
                  </a:ext>
                </a:extLst>
              </p:cNvPr>
              <p:cNvSpPr/>
              <p:nvPr/>
            </p:nvSpPr>
            <p:spPr>
              <a:xfrm>
                <a:off x="703525" y="2157250"/>
                <a:ext cx="2458800" cy="1418700"/>
              </a:xfrm>
              <a:prstGeom prst="rect">
                <a:avLst/>
              </a:pr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lnSpc>
                    <a:spcPct val="115000"/>
                  </a:lnSpc>
                </a:pPr>
                <a:r>
                  <a:rPr lang="es-ES" sz="1100">
                    <a:effectLst/>
                    <a:latin typeface="Arial" panose="020B0604020202020204" pitchFamily="34" charset="0"/>
                    <a:ea typeface="Arial" panose="020B0604020202020204" pitchFamily="34" charset="0"/>
                  </a:rPr>
                  <a:t> </a:t>
                </a:r>
                <a:endParaRPr lang="es-MX" sz="1100">
                  <a:effectLst/>
                  <a:latin typeface="Arial" panose="020B0604020202020204" pitchFamily="34" charset="0"/>
                  <a:ea typeface="Arial" panose="020B0604020202020204" pitchFamily="34" charset="0"/>
                </a:endParaRPr>
              </a:p>
            </p:txBody>
          </p:sp>
          <p:sp>
            <p:nvSpPr>
              <p:cNvPr id="9" name="Paralelogramo 8">
                <a:extLst>
                  <a:ext uri="{FF2B5EF4-FFF2-40B4-BE49-F238E27FC236}">
                    <a16:creationId xmlns:a16="http://schemas.microsoft.com/office/drawing/2014/main" id="{8623E56F-A27D-F7E7-D667-DB06C7907134}"/>
                  </a:ext>
                </a:extLst>
              </p:cNvPr>
              <p:cNvSpPr/>
              <p:nvPr/>
            </p:nvSpPr>
            <p:spPr>
              <a:xfrm>
                <a:off x="2860775" y="2152450"/>
                <a:ext cx="1127400" cy="1418700"/>
              </a:xfrm>
              <a:prstGeom prst="parallelogram">
                <a:avLst>
                  <a:gd name="adj" fmla="val 25000"/>
                </a:avLst>
              </a:prstGeom>
              <a:solidFill>
                <a:srgbClr val="97A7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lnSpc>
                    <a:spcPct val="115000"/>
                  </a:lnSpc>
                </a:pPr>
                <a:r>
                  <a:rPr lang="es-ES" sz="1100">
                    <a:effectLst/>
                    <a:latin typeface="Arial" panose="020B0604020202020204" pitchFamily="34" charset="0"/>
                    <a:ea typeface="Arial" panose="020B0604020202020204" pitchFamily="34" charset="0"/>
                  </a:rPr>
                  <a:t> </a:t>
                </a:r>
                <a:endParaRPr lang="es-MX" sz="1100">
                  <a:effectLst/>
                  <a:latin typeface="Arial" panose="020B0604020202020204" pitchFamily="34" charset="0"/>
                  <a:ea typeface="Arial" panose="020B0604020202020204" pitchFamily="34" charset="0"/>
                </a:endParaRPr>
              </a:p>
            </p:txBody>
          </p:sp>
        </p:grpSp>
      </p:grpSp>
      <p:sp>
        <p:nvSpPr>
          <p:cNvPr id="11" name="Cuadro de texto 3">
            <a:extLst>
              <a:ext uri="{FF2B5EF4-FFF2-40B4-BE49-F238E27FC236}">
                <a16:creationId xmlns:a16="http://schemas.microsoft.com/office/drawing/2014/main" id="{A928BFB0-6995-2B29-CDC2-F7D5286D22C5}"/>
              </a:ext>
            </a:extLst>
          </p:cNvPr>
          <p:cNvSpPr txBox="1"/>
          <p:nvPr/>
        </p:nvSpPr>
        <p:spPr>
          <a:xfrm>
            <a:off x="608605" y="98129"/>
            <a:ext cx="1308735" cy="478790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5000"/>
              </a:lnSpc>
            </a:pPr>
            <a:r>
              <a:rPr lang="es-ES_tradnl" sz="2200">
                <a:solidFill>
                  <a:srgbClr val="161E43"/>
                </a:solidFill>
                <a:effectLst/>
                <a:latin typeface="Century Gothic" panose="020B0502020202020204" pitchFamily="34" charset="0"/>
                <a:ea typeface="Arial" panose="020B0604020202020204" pitchFamily="34" charset="0"/>
              </a:rPr>
              <a:t>MNA</a:t>
            </a:r>
            <a:endParaRPr lang="es-MX" sz="110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A17F96BB-950A-839D-5631-82791C0721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6723" y="570742"/>
            <a:ext cx="6970643" cy="931121"/>
          </a:xfrm>
        </p:spPr>
        <p:txBody>
          <a:bodyPr>
            <a:normAutofit/>
          </a:bodyPr>
          <a:lstStyle/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lang="es-MX" sz="2800" dirty="0">
                <a:latin typeface="Gellix" pitchFamily="2" charset="77"/>
              </a:rPr>
              <a:t>09 | Analisis Costo-Beneficio</a:t>
            </a:r>
            <a:endParaRPr lang="es-MX" sz="2000" dirty="0">
              <a:latin typeface="Gellix" pitchFamily="2" charset="77"/>
            </a:endParaRPr>
          </a:p>
        </p:txBody>
      </p:sp>
      <p:sp>
        <p:nvSpPr>
          <p:cNvPr id="13" name="Subtítulo 2">
            <a:extLst>
              <a:ext uri="{FF2B5EF4-FFF2-40B4-BE49-F238E27FC236}">
                <a16:creationId xmlns:a16="http://schemas.microsoft.com/office/drawing/2014/main" id="{30FF6E45-5264-8D11-EAC7-F180544307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6619" y="1501863"/>
            <a:ext cx="10844720" cy="3934690"/>
          </a:xfrm>
        </p:spPr>
        <p:txBody>
          <a:bodyPr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endParaRPr lang="es-MX" sz="2000" dirty="0">
              <a:latin typeface="Avenir Next Condensed" panose="020B05060202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s-MX" sz="2000" dirty="0">
              <a:latin typeface="Avenir Next Condensed" panose="020B05060202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s-MX" sz="2000" dirty="0">
              <a:latin typeface="Avenir Next Condensed" panose="020B05060202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s-MX" sz="2000" dirty="0">
              <a:latin typeface="Avenir Next Condensed" panose="020B05060202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s-MX" sz="2000" dirty="0">
              <a:latin typeface="Avenir Next Condensed" panose="020B05060202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s-MX" sz="2800" dirty="0">
              <a:latin typeface="Avenir Next Condensed" panose="020B0506020202020204" pitchFamily="34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65760" y="1664208"/>
            <a:ext cx="5669280" cy="438912"/>
          </a:xfrm>
          <a:prstGeom prst="rect">
            <a:avLst/>
          </a:prstGeom>
          <a:solidFill>
            <a:srgbClr val="161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200" b="1">
                <a:solidFill>
                  <a:srgbClr val="FFFFFF"/>
                </a:solidFill>
                <a:latin typeface="Century Gothic"/>
              </a:rPr>
              <a:t>COSTOS — Ano 1 (por fase CRISP-ML)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176272"/>
            <a:ext cx="566928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2920" y="2212848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61E44"/>
                </a:solidFill>
                <a:latin typeface="Avenir Next Condensed"/>
              </a:rPr>
              <a:t>Desarrollo e integracion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2212848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00C896"/>
                </a:solidFill>
                <a:latin typeface="Avenir Next Condensed"/>
              </a:rPr>
              <a:t>$3,200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770632"/>
            <a:ext cx="5669280" cy="530352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2920" y="2807208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61E44"/>
                </a:solidFill>
                <a:latin typeface="Avenir Next Condensed"/>
              </a:rPr>
              <a:t>GCP Cloud Run + Vertex AI ($31/mes)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2807208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00C896"/>
                </a:solidFill>
                <a:latin typeface="Avenir Next Condensed"/>
              </a:rPr>
              <a:t>$372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364991"/>
            <a:ext cx="566928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2920" y="3401568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61E44"/>
                </a:solidFill>
                <a:latin typeface="Avenir Next Condensed"/>
              </a:rPr>
              <a:t>Adquisicion de datos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40" y="3401568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00C896"/>
                </a:solidFill>
                <a:latin typeface="Avenir Next Condensed"/>
              </a:rPr>
              <a:t>$800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3959352"/>
            <a:ext cx="5669280" cy="530352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02920" y="3995928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61E44"/>
                </a:solidFill>
                <a:latin typeface="Avenir Next Condensed"/>
              </a:rPr>
              <a:t>Capacitacion de personal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34840" y="3995928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00C896"/>
                </a:solidFill>
                <a:latin typeface="Avenir Next Condensed"/>
              </a:rPr>
              <a:t>$500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4553712"/>
            <a:ext cx="566928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02920" y="4590288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61E44"/>
                </a:solidFill>
                <a:latin typeface="Avenir Next Condensed"/>
              </a:rPr>
              <a:t>Mantenimiento y reentrenamiento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34840" y="4590288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00C896"/>
                </a:solidFill>
                <a:latin typeface="Avenir Next Condensed"/>
              </a:rPr>
              <a:t>$720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5148072"/>
            <a:ext cx="5669280" cy="530352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02920" y="5184648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61E44"/>
                </a:solidFill>
                <a:latin typeface="Avenir Next Condensed"/>
              </a:rPr>
              <a:t>Seguridad + Compliance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34840" y="5184648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00C896"/>
                </a:solidFill>
                <a:latin typeface="Avenir Next Condensed"/>
              </a:rPr>
              <a:t>$360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5742432"/>
            <a:ext cx="5669280" cy="530352"/>
          </a:xfrm>
          <a:prstGeom prst="rect">
            <a:avLst/>
          </a:prstGeom>
          <a:solidFill>
            <a:srgbClr val="161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02920" y="5779008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venir Next Condensed"/>
              </a:rPr>
              <a:t>TOTAL COSTOS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34840" y="5779008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D4A017"/>
                </a:solidFill>
                <a:latin typeface="Avenir Next Condensed"/>
              </a:rPr>
              <a:t>$5,952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09360" y="1664208"/>
            <a:ext cx="5577840" cy="438912"/>
          </a:xfrm>
          <a:prstGeom prst="rect">
            <a:avLst/>
          </a:prstGeom>
          <a:solidFill>
            <a:srgbClr val="00A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200" b="1">
                <a:solidFill>
                  <a:srgbClr val="FFFFFF"/>
                </a:solidFill>
                <a:latin typeface="Century Gothic"/>
              </a:rPr>
              <a:t>BENEFICIOS — Ano 1 (estimados)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09360" y="2176272"/>
            <a:ext cx="5577840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446520" y="2221992"/>
            <a:ext cx="38404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61E44"/>
                </a:solidFill>
                <a:latin typeface="Avenir Next Condensed"/>
              </a:rPr>
              <a:t>Ahorro en suplementacion optima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41280" y="2221992"/>
            <a:ext cx="14630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00C896"/>
                </a:solidFill>
                <a:latin typeface="Avenir Next Condensed"/>
              </a:rPr>
              <a:t>$10,000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09360" y="2852928"/>
            <a:ext cx="5577840" cy="603504"/>
          </a:xfrm>
          <a:prstGeom prst="rect">
            <a:avLst/>
          </a:prstGeom>
          <a:solidFill>
            <a:srgbClr val="F0FB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446520" y="2898648"/>
            <a:ext cx="38404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61E44"/>
                </a:solidFill>
                <a:latin typeface="Avenir Next Condensed"/>
              </a:rPr>
              <a:t>Mejora eficiencia produccion (+5%)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241280" y="2898648"/>
            <a:ext cx="14630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00C896"/>
                </a:solidFill>
                <a:latin typeface="Avenir Next Condensed"/>
              </a:rPr>
              <a:t>$2,500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309360" y="3529584"/>
            <a:ext cx="5577840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446520" y="3575304"/>
            <a:ext cx="38404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61E44"/>
                </a:solidFill>
                <a:latin typeface="Avenir Next Condensed"/>
              </a:rPr>
              <a:t>Creditos de carbono (~50 ton CH4)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241280" y="3575304"/>
            <a:ext cx="14630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00C896"/>
                </a:solidFill>
                <a:latin typeface="Avenir Next Condensed"/>
              </a:rPr>
              <a:t>$1,500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309360" y="4206240"/>
            <a:ext cx="5577840" cy="603504"/>
          </a:xfrm>
          <a:prstGeom prst="rect">
            <a:avLst/>
          </a:prstGeom>
          <a:solidFill>
            <a:srgbClr val="F0FB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446520" y="4251960"/>
            <a:ext cx="38404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61E44"/>
                </a:solidFill>
                <a:latin typeface="Avenir Next Condensed"/>
              </a:rPr>
              <a:t>Reduccion costos veterinarios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241280" y="4251960"/>
            <a:ext cx="14630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00C896"/>
                </a:solidFill>
                <a:latin typeface="Avenir Next Condensed"/>
              </a:rPr>
              <a:t>$800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309360" y="4882896"/>
            <a:ext cx="5577840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446520" y="4928616"/>
            <a:ext cx="38404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61E44"/>
                </a:solidFill>
                <a:latin typeface="Avenir Next Condensed"/>
              </a:rPr>
              <a:t>Valor datos / reporte ambiental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241280" y="4928616"/>
            <a:ext cx="14630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00C896"/>
                </a:solidFill>
                <a:latin typeface="Avenir Next Condensed"/>
              </a:rPr>
              <a:t>$500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309360" y="5559552"/>
            <a:ext cx="5577840" cy="603504"/>
          </a:xfrm>
          <a:prstGeom prst="rect">
            <a:avLst/>
          </a:prstGeom>
          <a:solidFill>
            <a:srgbClr val="00A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446520" y="5605272"/>
            <a:ext cx="38404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venir Next Condensed"/>
              </a:rPr>
              <a:t>TOTAL BENEFICIOS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241280" y="5605272"/>
            <a:ext cx="14630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Avenir Next Condensed"/>
              </a:rPr>
              <a:t>$15,300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65760" y="6327648"/>
            <a:ext cx="11521440" cy="329184"/>
          </a:xfrm>
          <a:prstGeom prst="rect">
            <a:avLst/>
          </a:prstGeom>
          <a:solidFill>
            <a:srgbClr val="E6F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161E44"/>
                </a:solidFill>
                <a:latin typeface="Century Gothic"/>
              </a:rPr>
              <a:t>ROI Ano 1: 157%   |   Periodo de recuperacion: ~4.7 meses   |   TCO 12 meses: $5,952 USD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B7482507-7421-30B7-03F0-856A2E6122D1}"/>
              </a:ext>
            </a:extLst>
          </p:cNvPr>
          <p:cNvSpPr/>
          <p:nvPr/>
        </p:nvSpPr>
        <p:spPr>
          <a:xfrm>
            <a:off x="2115507" y="99072"/>
            <a:ext cx="10070201" cy="6156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r">
              <a:lnSpc>
                <a:spcPct val="115000"/>
              </a:lnSpc>
            </a:pPr>
            <a:r>
              <a:rPr lang="es-MX" sz="1400" dirty="0">
                <a:solidFill>
                  <a:srgbClr val="FFFFFF"/>
                </a:solidFill>
                <a:effectLst/>
                <a:latin typeface="Gellix" pitchFamily="2" charset="77"/>
                <a:ea typeface="Fira Sans Extra Condensed"/>
                <a:cs typeface="Fira Sans Extra Condensed"/>
              </a:rPr>
              <a:t>Identificación espacio-temporal de compuestos nutracéuticos en ganado lechero mediante inteligencia artificial</a:t>
            </a:r>
            <a:endParaRPr lang="es-MX" sz="1100" dirty="0">
              <a:effectLst/>
              <a:latin typeface="Gellix" pitchFamily="2" charset="77"/>
              <a:ea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o 3">
            <a:extLst>
              <a:ext uri="{FF2B5EF4-FFF2-40B4-BE49-F238E27FC236}">
                <a16:creationId xmlns:a16="http://schemas.microsoft.com/office/drawing/2014/main" id="{BA2F9B76-D70D-0F10-BC27-39EB895783B8}"/>
              </a:ext>
            </a:extLst>
          </p:cNvPr>
          <p:cNvGrpSpPr/>
          <p:nvPr/>
        </p:nvGrpSpPr>
        <p:grpSpPr>
          <a:xfrm>
            <a:off x="-1" y="-2"/>
            <a:ext cx="12322630" cy="655320"/>
            <a:chOff x="703525" y="2152230"/>
            <a:chExt cx="10523975" cy="847409"/>
          </a:xfrm>
        </p:grpSpPr>
        <p:sp>
          <p:nvSpPr>
            <p:cNvPr id="5" name="Rectángulo 4">
              <a:extLst>
                <a:ext uri="{FF2B5EF4-FFF2-40B4-BE49-F238E27FC236}">
                  <a16:creationId xmlns:a16="http://schemas.microsoft.com/office/drawing/2014/main" id="{DFAF7A8C-333D-C58F-9C95-59591841527A}"/>
                </a:ext>
              </a:extLst>
            </p:cNvPr>
            <p:cNvSpPr/>
            <p:nvPr/>
          </p:nvSpPr>
          <p:spPr>
            <a:xfrm>
              <a:off x="703525" y="2152232"/>
              <a:ext cx="10523975" cy="84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lnSpc>
                  <a:spcPct val="115000"/>
                </a:lnSpc>
              </a:pPr>
              <a:r>
                <a:rPr lang="es-ES" sz="1100">
                  <a:effectLst/>
                  <a:latin typeface="Arial" panose="020B0604020202020204" pitchFamily="34" charset="0"/>
                  <a:ea typeface="Arial" panose="020B0604020202020204" pitchFamily="34" charset="0"/>
                </a:rPr>
                <a:t> </a:t>
              </a:r>
              <a:endParaRPr lang="es-MX" sz="1100">
                <a:effectLst/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grpSp>
          <p:nvGrpSpPr>
            <p:cNvPr id="6" name="Grupo 5">
              <a:extLst>
                <a:ext uri="{FF2B5EF4-FFF2-40B4-BE49-F238E27FC236}">
                  <a16:creationId xmlns:a16="http://schemas.microsoft.com/office/drawing/2014/main" id="{F0F2FE41-68B0-2A54-4B88-859454FD71BF}"/>
                </a:ext>
              </a:extLst>
            </p:cNvPr>
            <p:cNvGrpSpPr/>
            <p:nvPr/>
          </p:nvGrpSpPr>
          <p:grpSpPr>
            <a:xfrm>
              <a:off x="703525" y="2152230"/>
              <a:ext cx="10412414" cy="847409"/>
              <a:chOff x="703525" y="2152450"/>
              <a:chExt cx="10412414" cy="1423500"/>
            </a:xfrm>
          </p:grpSpPr>
          <p:sp>
            <p:nvSpPr>
              <p:cNvPr id="7" name="Rectángulo 6">
                <a:extLst>
                  <a:ext uri="{FF2B5EF4-FFF2-40B4-BE49-F238E27FC236}">
                    <a16:creationId xmlns:a16="http://schemas.microsoft.com/office/drawing/2014/main" id="{1927F4A0-FF65-DE13-8DB0-F182C45D1F8F}"/>
                  </a:ext>
                </a:extLst>
              </p:cNvPr>
              <p:cNvSpPr/>
              <p:nvPr/>
            </p:nvSpPr>
            <p:spPr>
              <a:xfrm>
                <a:off x="3657601" y="2152450"/>
                <a:ext cx="7458338" cy="1418699"/>
              </a:xfrm>
              <a:prstGeom prst="rect">
                <a:avLst/>
              </a:prstGeom>
              <a:solidFill>
                <a:srgbClr val="161E4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lnSpc>
                    <a:spcPct val="115000"/>
                  </a:lnSpc>
                </a:pPr>
                <a:r>
                  <a:rPr lang="es-ES" sz="1100">
                    <a:effectLst/>
                    <a:latin typeface="Arial" panose="020B0604020202020204" pitchFamily="34" charset="0"/>
                    <a:ea typeface="Arial" panose="020B0604020202020204" pitchFamily="34" charset="0"/>
                  </a:rPr>
                  <a:t> </a:t>
                </a:r>
                <a:endParaRPr lang="es-MX" sz="1100">
                  <a:effectLst/>
                  <a:latin typeface="Arial" panose="020B0604020202020204" pitchFamily="34" charset="0"/>
                  <a:ea typeface="Arial" panose="020B0604020202020204" pitchFamily="34" charset="0"/>
                </a:endParaRPr>
              </a:p>
            </p:txBody>
          </p:sp>
          <p:sp>
            <p:nvSpPr>
              <p:cNvPr id="8" name="Rectángulo 7">
                <a:extLst>
                  <a:ext uri="{FF2B5EF4-FFF2-40B4-BE49-F238E27FC236}">
                    <a16:creationId xmlns:a16="http://schemas.microsoft.com/office/drawing/2014/main" id="{0F2B72AB-467F-B766-220B-492375030E4E}"/>
                  </a:ext>
                </a:extLst>
              </p:cNvPr>
              <p:cNvSpPr/>
              <p:nvPr/>
            </p:nvSpPr>
            <p:spPr>
              <a:xfrm>
                <a:off x="703525" y="2157250"/>
                <a:ext cx="2458800" cy="1418700"/>
              </a:xfrm>
              <a:prstGeom prst="rect">
                <a:avLst/>
              </a:pr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lnSpc>
                    <a:spcPct val="115000"/>
                  </a:lnSpc>
                </a:pPr>
                <a:r>
                  <a:rPr lang="es-ES" sz="1100">
                    <a:effectLst/>
                    <a:latin typeface="Arial" panose="020B0604020202020204" pitchFamily="34" charset="0"/>
                    <a:ea typeface="Arial" panose="020B0604020202020204" pitchFamily="34" charset="0"/>
                  </a:rPr>
                  <a:t> </a:t>
                </a:r>
                <a:endParaRPr lang="es-MX" sz="1100">
                  <a:effectLst/>
                  <a:latin typeface="Arial" panose="020B0604020202020204" pitchFamily="34" charset="0"/>
                  <a:ea typeface="Arial" panose="020B0604020202020204" pitchFamily="34" charset="0"/>
                </a:endParaRPr>
              </a:p>
            </p:txBody>
          </p:sp>
          <p:sp>
            <p:nvSpPr>
              <p:cNvPr id="9" name="Paralelogramo 8">
                <a:extLst>
                  <a:ext uri="{FF2B5EF4-FFF2-40B4-BE49-F238E27FC236}">
                    <a16:creationId xmlns:a16="http://schemas.microsoft.com/office/drawing/2014/main" id="{8623E56F-A27D-F7E7-D667-DB06C7907134}"/>
                  </a:ext>
                </a:extLst>
              </p:cNvPr>
              <p:cNvSpPr/>
              <p:nvPr/>
            </p:nvSpPr>
            <p:spPr>
              <a:xfrm>
                <a:off x="2860775" y="2152450"/>
                <a:ext cx="1127400" cy="1418700"/>
              </a:xfrm>
              <a:prstGeom prst="parallelogram">
                <a:avLst>
                  <a:gd name="adj" fmla="val 25000"/>
                </a:avLst>
              </a:prstGeom>
              <a:solidFill>
                <a:srgbClr val="97A7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lnSpc>
                    <a:spcPct val="115000"/>
                  </a:lnSpc>
                </a:pPr>
                <a:r>
                  <a:rPr lang="es-ES" sz="1100">
                    <a:effectLst/>
                    <a:latin typeface="Arial" panose="020B0604020202020204" pitchFamily="34" charset="0"/>
                    <a:ea typeface="Arial" panose="020B0604020202020204" pitchFamily="34" charset="0"/>
                  </a:rPr>
                  <a:t> </a:t>
                </a:r>
                <a:endParaRPr lang="es-MX" sz="1100">
                  <a:effectLst/>
                  <a:latin typeface="Arial" panose="020B0604020202020204" pitchFamily="34" charset="0"/>
                  <a:ea typeface="Arial" panose="020B0604020202020204" pitchFamily="34" charset="0"/>
                </a:endParaRPr>
              </a:p>
            </p:txBody>
          </p:sp>
        </p:grpSp>
      </p:grpSp>
      <p:sp>
        <p:nvSpPr>
          <p:cNvPr id="11" name="Cuadro de texto 3">
            <a:extLst>
              <a:ext uri="{FF2B5EF4-FFF2-40B4-BE49-F238E27FC236}">
                <a16:creationId xmlns:a16="http://schemas.microsoft.com/office/drawing/2014/main" id="{A928BFB0-6995-2B29-CDC2-F7D5286D22C5}"/>
              </a:ext>
            </a:extLst>
          </p:cNvPr>
          <p:cNvSpPr txBox="1"/>
          <p:nvPr/>
        </p:nvSpPr>
        <p:spPr>
          <a:xfrm>
            <a:off x="608605" y="98129"/>
            <a:ext cx="1308735" cy="478790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5000"/>
              </a:lnSpc>
            </a:pPr>
            <a:r>
              <a:rPr lang="es-ES_tradnl" sz="2200">
                <a:solidFill>
                  <a:srgbClr val="161E43"/>
                </a:solidFill>
                <a:effectLst/>
                <a:latin typeface="Century Gothic" panose="020B0502020202020204" pitchFamily="34" charset="0"/>
                <a:ea typeface="Arial" panose="020B0604020202020204" pitchFamily="34" charset="0"/>
              </a:rPr>
              <a:t>MNA</a:t>
            </a:r>
            <a:endParaRPr lang="es-MX" sz="110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A17F96BB-950A-839D-5631-82791C0721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6723" y="570742"/>
            <a:ext cx="6970643" cy="931121"/>
          </a:xfrm>
        </p:spPr>
        <p:txBody>
          <a:bodyPr>
            <a:normAutofit/>
          </a:bodyPr>
          <a:lstStyle/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lang="es-MX" sz="2800" dirty="0">
                <a:latin typeface="Gellix" pitchFamily="2" charset="77"/>
              </a:rPr>
              <a:t>10 | Riesgos y Desafios</a:t>
            </a:r>
            <a:endParaRPr lang="es-MX" sz="2000" dirty="0">
              <a:latin typeface="Gellix" pitchFamily="2" charset="77"/>
            </a:endParaRPr>
          </a:p>
        </p:txBody>
      </p:sp>
      <p:sp>
        <p:nvSpPr>
          <p:cNvPr id="13" name="Subtítulo 2">
            <a:extLst>
              <a:ext uri="{FF2B5EF4-FFF2-40B4-BE49-F238E27FC236}">
                <a16:creationId xmlns:a16="http://schemas.microsoft.com/office/drawing/2014/main" id="{30FF6E45-5264-8D11-EAC7-F180544307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6619" y="1501863"/>
            <a:ext cx="10844720" cy="3934690"/>
          </a:xfrm>
        </p:spPr>
        <p:txBody>
          <a:bodyPr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endParaRPr lang="es-MX" sz="2000" dirty="0">
              <a:latin typeface="Avenir Next Condensed" panose="020B05060202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s-MX" sz="2000" dirty="0">
              <a:latin typeface="Avenir Next Condensed" panose="020B05060202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s-MX" sz="2000" dirty="0">
              <a:latin typeface="Avenir Next Condensed" panose="020B05060202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s-MX" sz="2000" dirty="0">
              <a:latin typeface="Avenir Next Condensed" panose="020B05060202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s-MX" sz="2000" dirty="0">
              <a:latin typeface="Avenir Next Condensed" panose="020B05060202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s-MX" sz="2800" dirty="0">
              <a:latin typeface="Avenir Next Condensed" panose="020B0506020202020204" pitchFamily="34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65760" y="1664208"/>
            <a:ext cx="5715000" cy="2286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65760" y="1664208"/>
            <a:ext cx="5715000" cy="438912"/>
          </a:xfrm>
          <a:prstGeom prst="rect">
            <a:avLst/>
          </a:prstGeom>
          <a:solidFill>
            <a:srgbClr val="161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2920" y="1719072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entury Gothic"/>
              </a:rPr>
              <a:t>DATOS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21945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4444"/>
                </a:solidFill>
                <a:latin typeface="Century Gothic"/>
              </a:rPr>
              <a:t>Riesgo: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2468880"/>
            <a:ext cx="2560320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61E44"/>
                </a:solidFill>
                <a:latin typeface="Avenir Next Condensed"/>
              </a:rPr>
              <a:t>Sesgo en sensores</a:t>
            </a:r>
          </a:p>
          <a:p>
            <a:pPr algn="l"/>
            <a:r>
              <a:rPr sz="1100" b="0">
                <a:solidFill>
                  <a:srgbClr val="161E44"/>
                </a:solidFill>
                <a:latin typeface="Avenir Next Condensed"/>
              </a:rPr>
              <a:t>Datos faltantes en calor</a:t>
            </a:r>
          </a:p>
          <a:p>
            <a:pPr algn="l"/>
            <a:r>
              <a:rPr sz="1100" b="0">
                <a:solidFill>
                  <a:srgbClr val="161E44"/>
                </a:solidFill>
                <a:latin typeface="Avenir Next Condensed"/>
              </a:rPr>
              <a:t>Drift estacional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79" y="21945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C896"/>
                </a:solidFill>
                <a:latin typeface="Century Gothic"/>
              </a:rPr>
              <a:t>Mitigacion: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79" y="2468880"/>
            <a:ext cx="2560320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61E44"/>
                </a:solidFill>
                <a:latin typeface="Avenir Next Condensed"/>
              </a:rPr>
              <a:t>Pipeline deteccion anomalias</a:t>
            </a:r>
          </a:p>
          <a:p>
            <a:pPr algn="l"/>
            <a:r>
              <a:rPr sz="1100" b="0">
                <a:solidFill>
                  <a:srgbClr val="161E44"/>
                </a:solidFill>
                <a:latin typeface="Avenir Next Condensed"/>
              </a:rPr>
              <a:t>Reentrenamiento trimestral</a:t>
            </a:r>
          </a:p>
          <a:p>
            <a:pPr algn="l"/>
            <a:r>
              <a:rPr sz="1100" b="0">
                <a:solidFill>
                  <a:srgbClr val="161E44"/>
                </a:solidFill>
                <a:latin typeface="Avenir Next Condensed"/>
              </a:rPr>
              <a:t>Validacion cruzada temporal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5080" y="1664208"/>
            <a:ext cx="5715000" cy="2286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355080" y="1664208"/>
            <a:ext cx="5715000" cy="438912"/>
          </a:xfrm>
          <a:prstGeom prst="rect">
            <a:avLst/>
          </a:prstGeom>
          <a:solidFill>
            <a:srgbClr val="161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92240" y="1719072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entury Gothic"/>
              </a:rPr>
              <a:t>SEGURIDAD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21945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4444"/>
                </a:solidFill>
                <a:latin typeface="Century Gothic"/>
              </a:rPr>
              <a:t>Riesgo: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2468880"/>
            <a:ext cx="2560320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61E44"/>
                </a:solidFill>
                <a:latin typeface="Avenir Next Condensed"/>
              </a:rPr>
              <a:t>Ataques adversariales a API</a:t>
            </a:r>
          </a:p>
          <a:p>
            <a:pPr algn="l"/>
            <a:r>
              <a:rPr sz="1100" b="0">
                <a:solidFill>
                  <a:srgbClr val="161E44"/>
                </a:solidFill>
                <a:latin typeface="Avenir Next Condensed"/>
              </a:rPr>
              <a:t>Data poisoning en retrain</a:t>
            </a:r>
          </a:p>
          <a:p>
            <a:pPr algn="l"/>
            <a:r>
              <a:rPr sz="1100" b="0">
                <a:solidFill>
                  <a:srgbClr val="161E44"/>
                </a:solidFill>
                <a:latin typeface="Avenir Next Condensed"/>
              </a:rPr>
              <a:t>Filtracion de datos PII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72600" y="21945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C896"/>
                </a:solidFill>
                <a:latin typeface="Century Gothic"/>
              </a:rPr>
              <a:t>Mitigacion: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72600" y="2468880"/>
            <a:ext cx="2560320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61E44"/>
                </a:solidFill>
                <a:latin typeface="Avenir Next Condensed"/>
              </a:rPr>
              <a:t>Auth + rate limiting API</a:t>
            </a:r>
          </a:p>
          <a:p>
            <a:pPr algn="l"/>
            <a:r>
              <a:rPr sz="1100" b="0">
                <a:solidFill>
                  <a:srgbClr val="161E44"/>
                </a:solidFill>
                <a:latin typeface="Avenir Next Condensed"/>
              </a:rPr>
              <a:t>Validacion estricta de inputs</a:t>
            </a:r>
          </a:p>
          <a:p>
            <a:pPr algn="l"/>
            <a:r>
              <a:rPr sz="1100" b="0">
                <a:solidFill>
                  <a:srgbClr val="161E44"/>
                </a:solidFill>
                <a:latin typeface="Avenir Next Condensed"/>
              </a:rPr>
              <a:t>Encriptacion GCP end-to-end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4133088"/>
            <a:ext cx="5715000" cy="2286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365760" y="4133088"/>
            <a:ext cx="5715000" cy="438912"/>
          </a:xfrm>
          <a:prstGeom prst="rect">
            <a:avLst/>
          </a:prstGeom>
          <a:solidFill>
            <a:srgbClr val="161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02920" y="4187952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entury Gothic"/>
              </a:rPr>
              <a:t>CONFIANZA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46634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4444"/>
                </a:solidFill>
                <a:latin typeface="Century Gothic"/>
              </a:rPr>
              <a:t>Riesgo: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4937760"/>
            <a:ext cx="2560320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61E44"/>
                </a:solidFill>
                <a:latin typeface="Avenir Next Condensed"/>
              </a:rPr>
              <a:t>Baja adopcion (veterinarios)</a:t>
            </a:r>
          </a:p>
          <a:p>
            <a:pPr algn="l"/>
            <a:r>
              <a:rPr sz="1100" b="0">
                <a:solidFill>
                  <a:srgbClr val="161E44"/>
                </a:solidFill>
                <a:latin typeface="Avenir Next Condensed"/>
              </a:rPr>
              <a:t>Sobreconfianza en predicciones</a:t>
            </a:r>
          </a:p>
          <a:p>
            <a:pPr algn="l"/>
            <a:r>
              <a:rPr sz="1100" b="0">
                <a:solidFill>
                  <a:srgbClr val="161E44"/>
                </a:solidFill>
                <a:latin typeface="Avenir Next Condensed"/>
              </a:rPr>
              <a:t>Falta de explicabilidad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83279" y="466344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C896"/>
                </a:solidFill>
                <a:latin typeface="Century Gothic"/>
              </a:rPr>
              <a:t>Mitigacion: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83279" y="4937760"/>
            <a:ext cx="2560320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61E44"/>
                </a:solidFill>
                <a:latin typeface="Avenir Next Condensed"/>
              </a:rPr>
              <a:t>SHAP para explicar alertas</a:t>
            </a:r>
          </a:p>
          <a:p>
            <a:pPr algn="l"/>
            <a:r>
              <a:rPr sz="1100" b="0">
                <a:solidFill>
                  <a:srgbClr val="161E44"/>
                </a:solidFill>
                <a:latin typeface="Avenir Next Condensed"/>
              </a:rPr>
              <a:t>Intervalos de confianza visibles</a:t>
            </a:r>
          </a:p>
          <a:p>
            <a:pPr algn="l"/>
            <a:r>
              <a:rPr sz="1100" b="0">
                <a:solidFill>
                  <a:srgbClr val="161E44"/>
                </a:solidFill>
                <a:latin typeface="Avenir Next Condensed"/>
              </a:rPr>
              <a:t>Capacitacion y onboarding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5080" y="4133088"/>
            <a:ext cx="5715000" cy="2286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355080" y="4133088"/>
            <a:ext cx="5715000" cy="438912"/>
          </a:xfrm>
          <a:prstGeom prst="rect">
            <a:avLst/>
          </a:prstGeom>
          <a:solidFill>
            <a:srgbClr val="161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492240" y="4187952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entury Gothic"/>
              </a:rPr>
              <a:t>CUMPLIMIENTO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92240" y="46634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4444"/>
                </a:solidFill>
                <a:latin typeface="Century Gothic"/>
              </a:rPr>
              <a:t>Riesgo: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92240" y="4937760"/>
            <a:ext cx="2560320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61E44"/>
                </a:solidFill>
                <a:latin typeface="Avenir Next Condensed"/>
              </a:rPr>
              <a:t>Regulacion datos agropecuarios</a:t>
            </a:r>
          </a:p>
          <a:p>
            <a:pPr algn="l"/>
            <a:r>
              <a:rPr sz="1100" b="0">
                <a:solidFill>
                  <a:srgbClr val="161E44"/>
                </a:solidFill>
                <a:latin typeface="Avenir Next Condensed"/>
              </a:rPr>
              <a:t>Normas NOM-SEMARNAT</a:t>
            </a:r>
          </a:p>
          <a:p>
            <a:pPr algn="l"/>
            <a:r>
              <a:rPr sz="1100" b="0">
                <a:solidFill>
                  <a:srgbClr val="161E44"/>
                </a:solidFill>
                <a:latin typeface="Avenir Next Condensed"/>
              </a:rPr>
              <a:t>LFPDPPP — PII de propietarios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72600" y="466344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C896"/>
                </a:solidFill>
                <a:latin typeface="Century Gothic"/>
              </a:rPr>
              <a:t>Mitigacion: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72600" y="4937760"/>
            <a:ext cx="2560320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61E44"/>
                </a:solidFill>
                <a:latin typeface="Avenir Next Condensed"/>
              </a:rPr>
              <a:t>Documentacion CRISP-ML(Q)</a:t>
            </a:r>
          </a:p>
          <a:p>
            <a:pPr algn="l"/>
            <a:r>
              <a:rPr sz="1100" b="0">
                <a:solidFill>
                  <a:srgbClr val="161E44"/>
                </a:solidFill>
                <a:latin typeface="Avenir Next Condensed"/>
              </a:rPr>
              <a:t>Versionado en MLflow</a:t>
            </a:r>
          </a:p>
          <a:p>
            <a:pPr algn="l"/>
            <a:r>
              <a:rPr sz="1100" b="0">
                <a:solidFill>
                  <a:srgbClr val="161E44"/>
                </a:solidFill>
                <a:latin typeface="Avenir Next Condensed"/>
              </a:rPr>
              <a:t>Aviso de privacidad obligatorio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49BB148C-9F02-E91D-C3BB-7E1308D00E51}"/>
              </a:ext>
            </a:extLst>
          </p:cNvPr>
          <p:cNvSpPr/>
          <p:nvPr/>
        </p:nvSpPr>
        <p:spPr>
          <a:xfrm>
            <a:off x="2115507" y="99072"/>
            <a:ext cx="10070201" cy="6156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r">
              <a:lnSpc>
                <a:spcPct val="115000"/>
              </a:lnSpc>
            </a:pPr>
            <a:r>
              <a:rPr lang="es-MX" sz="1400" dirty="0">
                <a:solidFill>
                  <a:srgbClr val="FFFFFF"/>
                </a:solidFill>
                <a:effectLst/>
                <a:latin typeface="Gellix" pitchFamily="2" charset="77"/>
                <a:ea typeface="Fira Sans Extra Condensed"/>
                <a:cs typeface="Fira Sans Extra Condensed"/>
              </a:rPr>
              <a:t>Identificación espacio-temporal de compuestos nutracéuticos en ganado lechero mediante inteligencia artificial</a:t>
            </a:r>
            <a:endParaRPr lang="es-MX" sz="1100" dirty="0">
              <a:effectLst/>
              <a:latin typeface="Gellix" pitchFamily="2" charset="77"/>
              <a:ea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o 3">
            <a:extLst>
              <a:ext uri="{FF2B5EF4-FFF2-40B4-BE49-F238E27FC236}">
                <a16:creationId xmlns:a16="http://schemas.microsoft.com/office/drawing/2014/main" id="{BA2F9B76-D70D-0F10-BC27-39EB895783B8}"/>
              </a:ext>
            </a:extLst>
          </p:cNvPr>
          <p:cNvGrpSpPr/>
          <p:nvPr/>
        </p:nvGrpSpPr>
        <p:grpSpPr>
          <a:xfrm>
            <a:off x="-1" y="-2"/>
            <a:ext cx="12322630" cy="655320"/>
            <a:chOff x="703525" y="2152230"/>
            <a:chExt cx="10523975" cy="847409"/>
          </a:xfrm>
        </p:grpSpPr>
        <p:sp>
          <p:nvSpPr>
            <p:cNvPr id="5" name="Rectángulo 4">
              <a:extLst>
                <a:ext uri="{FF2B5EF4-FFF2-40B4-BE49-F238E27FC236}">
                  <a16:creationId xmlns:a16="http://schemas.microsoft.com/office/drawing/2014/main" id="{DFAF7A8C-333D-C58F-9C95-59591841527A}"/>
                </a:ext>
              </a:extLst>
            </p:cNvPr>
            <p:cNvSpPr/>
            <p:nvPr/>
          </p:nvSpPr>
          <p:spPr>
            <a:xfrm>
              <a:off x="703525" y="2152232"/>
              <a:ext cx="10523975" cy="84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lnSpc>
                  <a:spcPct val="115000"/>
                </a:lnSpc>
              </a:pPr>
              <a:r>
                <a:rPr lang="es-ES" sz="1100">
                  <a:effectLst/>
                  <a:latin typeface="Arial" panose="020B0604020202020204" pitchFamily="34" charset="0"/>
                  <a:ea typeface="Arial" panose="020B0604020202020204" pitchFamily="34" charset="0"/>
                </a:rPr>
                <a:t> </a:t>
              </a:r>
              <a:endParaRPr lang="es-MX" sz="1100">
                <a:effectLst/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grpSp>
          <p:nvGrpSpPr>
            <p:cNvPr id="6" name="Grupo 5">
              <a:extLst>
                <a:ext uri="{FF2B5EF4-FFF2-40B4-BE49-F238E27FC236}">
                  <a16:creationId xmlns:a16="http://schemas.microsoft.com/office/drawing/2014/main" id="{F0F2FE41-68B0-2A54-4B88-859454FD71BF}"/>
                </a:ext>
              </a:extLst>
            </p:cNvPr>
            <p:cNvGrpSpPr/>
            <p:nvPr/>
          </p:nvGrpSpPr>
          <p:grpSpPr>
            <a:xfrm>
              <a:off x="703525" y="2152230"/>
              <a:ext cx="10412414" cy="847409"/>
              <a:chOff x="703525" y="2152450"/>
              <a:chExt cx="10412414" cy="1423500"/>
            </a:xfrm>
          </p:grpSpPr>
          <p:sp>
            <p:nvSpPr>
              <p:cNvPr id="7" name="Rectángulo 6">
                <a:extLst>
                  <a:ext uri="{FF2B5EF4-FFF2-40B4-BE49-F238E27FC236}">
                    <a16:creationId xmlns:a16="http://schemas.microsoft.com/office/drawing/2014/main" id="{1927F4A0-FF65-DE13-8DB0-F182C45D1F8F}"/>
                  </a:ext>
                </a:extLst>
              </p:cNvPr>
              <p:cNvSpPr/>
              <p:nvPr/>
            </p:nvSpPr>
            <p:spPr>
              <a:xfrm>
                <a:off x="3657601" y="2152450"/>
                <a:ext cx="7458338" cy="1418699"/>
              </a:xfrm>
              <a:prstGeom prst="rect">
                <a:avLst/>
              </a:prstGeom>
              <a:solidFill>
                <a:srgbClr val="161E4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lnSpc>
                    <a:spcPct val="115000"/>
                  </a:lnSpc>
                </a:pPr>
                <a:r>
                  <a:rPr lang="es-ES" sz="1100">
                    <a:effectLst/>
                    <a:latin typeface="Arial" panose="020B0604020202020204" pitchFamily="34" charset="0"/>
                    <a:ea typeface="Arial" panose="020B0604020202020204" pitchFamily="34" charset="0"/>
                  </a:rPr>
                  <a:t> </a:t>
                </a:r>
                <a:endParaRPr lang="es-MX" sz="1100">
                  <a:effectLst/>
                  <a:latin typeface="Arial" panose="020B0604020202020204" pitchFamily="34" charset="0"/>
                  <a:ea typeface="Arial" panose="020B0604020202020204" pitchFamily="34" charset="0"/>
                </a:endParaRPr>
              </a:p>
            </p:txBody>
          </p:sp>
          <p:sp>
            <p:nvSpPr>
              <p:cNvPr id="8" name="Rectángulo 7">
                <a:extLst>
                  <a:ext uri="{FF2B5EF4-FFF2-40B4-BE49-F238E27FC236}">
                    <a16:creationId xmlns:a16="http://schemas.microsoft.com/office/drawing/2014/main" id="{0F2B72AB-467F-B766-220B-492375030E4E}"/>
                  </a:ext>
                </a:extLst>
              </p:cNvPr>
              <p:cNvSpPr/>
              <p:nvPr/>
            </p:nvSpPr>
            <p:spPr>
              <a:xfrm>
                <a:off x="703525" y="2157250"/>
                <a:ext cx="2458800" cy="1418700"/>
              </a:xfrm>
              <a:prstGeom prst="rect">
                <a:avLst/>
              </a:pr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lnSpc>
                    <a:spcPct val="115000"/>
                  </a:lnSpc>
                </a:pPr>
                <a:r>
                  <a:rPr lang="es-ES" sz="1100">
                    <a:effectLst/>
                    <a:latin typeface="Arial" panose="020B0604020202020204" pitchFamily="34" charset="0"/>
                    <a:ea typeface="Arial" panose="020B0604020202020204" pitchFamily="34" charset="0"/>
                  </a:rPr>
                  <a:t> </a:t>
                </a:r>
                <a:endParaRPr lang="es-MX" sz="1100">
                  <a:effectLst/>
                  <a:latin typeface="Arial" panose="020B0604020202020204" pitchFamily="34" charset="0"/>
                  <a:ea typeface="Arial" panose="020B0604020202020204" pitchFamily="34" charset="0"/>
                </a:endParaRPr>
              </a:p>
            </p:txBody>
          </p:sp>
          <p:sp>
            <p:nvSpPr>
              <p:cNvPr id="9" name="Paralelogramo 8">
                <a:extLst>
                  <a:ext uri="{FF2B5EF4-FFF2-40B4-BE49-F238E27FC236}">
                    <a16:creationId xmlns:a16="http://schemas.microsoft.com/office/drawing/2014/main" id="{8623E56F-A27D-F7E7-D667-DB06C7907134}"/>
                  </a:ext>
                </a:extLst>
              </p:cNvPr>
              <p:cNvSpPr/>
              <p:nvPr/>
            </p:nvSpPr>
            <p:spPr>
              <a:xfrm>
                <a:off x="2860775" y="2152450"/>
                <a:ext cx="1127400" cy="1418700"/>
              </a:xfrm>
              <a:prstGeom prst="parallelogram">
                <a:avLst>
                  <a:gd name="adj" fmla="val 25000"/>
                </a:avLst>
              </a:prstGeom>
              <a:solidFill>
                <a:srgbClr val="97A7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lnSpc>
                    <a:spcPct val="115000"/>
                  </a:lnSpc>
                </a:pPr>
                <a:r>
                  <a:rPr lang="es-ES" sz="1100">
                    <a:effectLst/>
                    <a:latin typeface="Arial" panose="020B0604020202020204" pitchFamily="34" charset="0"/>
                    <a:ea typeface="Arial" panose="020B0604020202020204" pitchFamily="34" charset="0"/>
                  </a:rPr>
                  <a:t> </a:t>
                </a:r>
                <a:endParaRPr lang="es-MX" sz="1100">
                  <a:effectLst/>
                  <a:latin typeface="Arial" panose="020B0604020202020204" pitchFamily="34" charset="0"/>
                  <a:ea typeface="Arial" panose="020B0604020202020204" pitchFamily="34" charset="0"/>
                </a:endParaRPr>
              </a:p>
            </p:txBody>
          </p:sp>
        </p:grpSp>
      </p:grpSp>
      <p:sp>
        <p:nvSpPr>
          <p:cNvPr id="11" name="Cuadro de texto 3">
            <a:extLst>
              <a:ext uri="{FF2B5EF4-FFF2-40B4-BE49-F238E27FC236}">
                <a16:creationId xmlns:a16="http://schemas.microsoft.com/office/drawing/2014/main" id="{A928BFB0-6995-2B29-CDC2-F7D5286D22C5}"/>
              </a:ext>
            </a:extLst>
          </p:cNvPr>
          <p:cNvSpPr txBox="1"/>
          <p:nvPr/>
        </p:nvSpPr>
        <p:spPr>
          <a:xfrm>
            <a:off x="608605" y="98129"/>
            <a:ext cx="1308735" cy="478790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5000"/>
              </a:lnSpc>
            </a:pPr>
            <a:r>
              <a:rPr lang="es-ES_tradnl" sz="2200">
                <a:solidFill>
                  <a:srgbClr val="161E43"/>
                </a:solidFill>
                <a:effectLst/>
                <a:latin typeface="Century Gothic" panose="020B0502020202020204" pitchFamily="34" charset="0"/>
                <a:ea typeface="Arial" panose="020B0604020202020204" pitchFamily="34" charset="0"/>
              </a:rPr>
              <a:t>MNA</a:t>
            </a:r>
            <a:endParaRPr lang="es-MX" sz="110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A17F96BB-950A-839D-5631-82791C0721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6723" y="570742"/>
            <a:ext cx="6970643" cy="931121"/>
          </a:xfrm>
        </p:spPr>
        <p:txBody>
          <a:bodyPr>
            <a:normAutofit/>
          </a:bodyPr>
          <a:lstStyle/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lang="es-MX" sz="2800" dirty="0">
                <a:latin typeface="Gellix" pitchFamily="2" charset="77"/>
              </a:rPr>
              <a:t>10 | Trabajos Futuros</a:t>
            </a:r>
            <a:endParaRPr lang="es-MX" sz="2000" dirty="0">
              <a:latin typeface="Gellix" pitchFamily="2" charset="77"/>
            </a:endParaRPr>
          </a:p>
        </p:txBody>
      </p:sp>
      <p:sp>
        <p:nvSpPr>
          <p:cNvPr id="13" name="Subtítulo 2">
            <a:extLst>
              <a:ext uri="{FF2B5EF4-FFF2-40B4-BE49-F238E27FC236}">
                <a16:creationId xmlns:a16="http://schemas.microsoft.com/office/drawing/2014/main" id="{30FF6E45-5264-8D11-EAC7-F180544307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6619" y="1501863"/>
            <a:ext cx="10844720" cy="3934690"/>
          </a:xfrm>
        </p:spPr>
        <p:txBody>
          <a:bodyPr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endParaRPr lang="es-MX" sz="2000" dirty="0">
              <a:latin typeface="Avenir Next Condensed" panose="020B05060202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s-MX" sz="2000" dirty="0">
              <a:latin typeface="Avenir Next Condensed" panose="020B05060202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s-MX" sz="2000" dirty="0">
              <a:latin typeface="Avenir Next Condensed" panose="020B05060202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s-MX" sz="2000" dirty="0">
              <a:latin typeface="Avenir Next Condensed" panose="020B05060202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s-MX" sz="2000" dirty="0">
              <a:latin typeface="Avenir Next Condensed" panose="020B05060202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s-MX" sz="2800" dirty="0">
              <a:latin typeface="Avenir Next Condensed" panose="020B0506020202020204" pitchFamily="34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65760" y="1664208"/>
            <a:ext cx="3749039" cy="2212848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65760" y="1664208"/>
            <a:ext cx="3749039" cy="438912"/>
          </a:xfrm>
          <a:prstGeom prst="rect">
            <a:avLst/>
          </a:prstGeom>
          <a:solidFill>
            <a:srgbClr val="161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2920" y="1728216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entury Gothic"/>
              </a:rPr>
              <a:t>AutoML &amp; Series Temporales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2212848"/>
            <a:ext cx="34747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61E44"/>
                </a:solidFill>
                <a:latin typeface="Avenir Next Condensed"/>
              </a:rPr>
              <a:t>XGBoost, LightGBM y redes LSTM para capturar patrones de lactacion con mayor precision.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43400" y="1664208"/>
            <a:ext cx="3749039" cy="2212848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343400" y="1664208"/>
            <a:ext cx="3749039" cy="438912"/>
          </a:xfrm>
          <a:prstGeom prst="rect">
            <a:avLst/>
          </a:prstGeom>
          <a:solidFill>
            <a:srgbClr val="161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480560" y="1728216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entury Gothic"/>
              </a:rPr>
              <a:t>IoT Tiempo Real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2212848"/>
            <a:ext cx="34747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61E44"/>
                </a:solidFill>
                <a:latin typeface="Avenir Next Condensed"/>
              </a:rPr>
              <a:t>Sensores wearables (collar o rumen bolus) para prediccion continua y alertas automaticas.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321040" y="1664208"/>
            <a:ext cx="3749039" cy="2212848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321040" y="1664208"/>
            <a:ext cx="3749039" cy="438912"/>
          </a:xfrm>
          <a:prstGeom prst="rect">
            <a:avLst/>
          </a:prstGeom>
          <a:solidFill>
            <a:srgbClr val="161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458200" y="1728216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entury Gothic"/>
              </a:rPr>
              <a:t>Multi-granja Escalable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58200" y="2212848"/>
            <a:ext cx="34747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61E44"/>
                </a:solidFill>
                <a:latin typeface="Avenir Next Condensed"/>
              </a:rPr>
              <a:t>Federated Learning para entrenar con multiples granjas sin compartir datos sensibles.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4041648"/>
            <a:ext cx="3749039" cy="2212848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65760" y="4041648"/>
            <a:ext cx="3749039" cy="438912"/>
          </a:xfrm>
          <a:prstGeom prst="rect">
            <a:avLst/>
          </a:prstGeom>
          <a:solidFill>
            <a:srgbClr val="161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02920" y="4105656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entury Gothic"/>
              </a:rPr>
              <a:t>Modulo de Carbono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4590288"/>
            <a:ext cx="34747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61E44"/>
                </a:solidFill>
                <a:latin typeface="Avenir Next Condensed"/>
              </a:rPr>
              <a:t>Certificacion automatica de creditos usando el modelo como evidencia (Verra, Gold Standard).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43400" y="4041648"/>
            <a:ext cx="3749039" cy="2212848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343400" y="4041648"/>
            <a:ext cx="3749039" cy="438912"/>
          </a:xfrm>
          <a:prstGeom prst="rect">
            <a:avLst/>
          </a:prstGeom>
          <a:solidFill>
            <a:srgbClr val="161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480560" y="4105656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entury Gothic"/>
              </a:rPr>
              <a:t>Explicabilidad SHAP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80560" y="4590288"/>
            <a:ext cx="34747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61E44"/>
                </a:solidFill>
                <a:latin typeface="Avenir Next Condensed"/>
              </a:rPr>
              <a:t>Visualizaciones para que veterinarios entiendan que factores disparan las alertas.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321040" y="4041648"/>
            <a:ext cx="3749039" cy="2212848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8321040" y="4041648"/>
            <a:ext cx="3749039" cy="438912"/>
          </a:xfrm>
          <a:prstGeom prst="rect">
            <a:avLst/>
          </a:prstGeom>
          <a:solidFill>
            <a:srgbClr val="161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458200" y="4105656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entury Gothic"/>
              </a:rPr>
              <a:t>App Movil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58200" y="4590288"/>
            <a:ext cx="34747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61E44"/>
                </a:solidFill>
                <a:latin typeface="Avenir Next Condensed"/>
              </a:rPr>
              <a:t>Version movil con modo offline y sincronizacion para uso en campo.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8880D810-006C-AA90-D087-C81C561CAC4E}"/>
              </a:ext>
            </a:extLst>
          </p:cNvPr>
          <p:cNvSpPr/>
          <p:nvPr/>
        </p:nvSpPr>
        <p:spPr>
          <a:xfrm>
            <a:off x="2115507" y="99072"/>
            <a:ext cx="10070201" cy="6156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r">
              <a:lnSpc>
                <a:spcPct val="115000"/>
              </a:lnSpc>
            </a:pPr>
            <a:r>
              <a:rPr lang="es-MX" sz="1400" dirty="0">
                <a:solidFill>
                  <a:srgbClr val="FFFFFF"/>
                </a:solidFill>
                <a:effectLst/>
                <a:latin typeface="Gellix" pitchFamily="2" charset="77"/>
                <a:ea typeface="Fira Sans Extra Condensed"/>
                <a:cs typeface="Fira Sans Extra Condensed"/>
              </a:rPr>
              <a:t>Identificación espacio-temporal de compuestos nutracéuticos en ganado lechero mediante inteligencia artificial</a:t>
            </a:r>
            <a:endParaRPr lang="es-MX" sz="1100" dirty="0">
              <a:effectLst/>
              <a:latin typeface="Gellix" pitchFamily="2" charset="77"/>
              <a:ea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o 3">
            <a:extLst>
              <a:ext uri="{FF2B5EF4-FFF2-40B4-BE49-F238E27FC236}">
                <a16:creationId xmlns:a16="http://schemas.microsoft.com/office/drawing/2014/main" id="{BA2F9B76-D70D-0F10-BC27-39EB895783B8}"/>
              </a:ext>
            </a:extLst>
          </p:cNvPr>
          <p:cNvGrpSpPr/>
          <p:nvPr/>
        </p:nvGrpSpPr>
        <p:grpSpPr>
          <a:xfrm>
            <a:off x="-1" y="-2"/>
            <a:ext cx="12322630" cy="655320"/>
            <a:chOff x="703525" y="2152230"/>
            <a:chExt cx="10523975" cy="847409"/>
          </a:xfrm>
        </p:grpSpPr>
        <p:sp>
          <p:nvSpPr>
            <p:cNvPr id="5" name="Rectángulo 4">
              <a:extLst>
                <a:ext uri="{FF2B5EF4-FFF2-40B4-BE49-F238E27FC236}">
                  <a16:creationId xmlns:a16="http://schemas.microsoft.com/office/drawing/2014/main" id="{DFAF7A8C-333D-C58F-9C95-59591841527A}"/>
                </a:ext>
              </a:extLst>
            </p:cNvPr>
            <p:cNvSpPr/>
            <p:nvPr/>
          </p:nvSpPr>
          <p:spPr>
            <a:xfrm>
              <a:off x="703525" y="2152232"/>
              <a:ext cx="10523975" cy="84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lnSpc>
                  <a:spcPct val="115000"/>
                </a:lnSpc>
              </a:pPr>
              <a:r>
                <a:rPr lang="es-ES" sz="1100">
                  <a:effectLst/>
                  <a:latin typeface="Arial" panose="020B0604020202020204" pitchFamily="34" charset="0"/>
                  <a:ea typeface="Arial" panose="020B0604020202020204" pitchFamily="34" charset="0"/>
                </a:rPr>
                <a:t> </a:t>
              </a:r>
              <a:endParaRPr lang="es-MX" sz="1100">
                <a:effectLst/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grpSp>
          <p:nvGrpSpPr>
            <p:cNvPr id="6" name="Grupo 5">
              <a:extLst>
                <a:ext uri="{FF2B5EF4-FFF2-40B4-BE49-F238E27FC236}">
                  <a16:creationId xmlns:a16="http://schemas.microsoft.com/office/drawing/2014/main" id="{F0F2FE41-68B0-2A54-4B88-859454FD71BF}"/>
                </a:ext>
              </a:extLst>
            </p:cNvPr>
            <p:cNvGrpSpPr/>
            <p:nvPr/>
          </p:nvGrpSpPr>
          <p:grpSpPr>
            <a:xfrm>
              <a:off x="703525" y="2152230"/>
              <a:ext cx="10412414" cy="847409"/>
              <a:chOff x="703525" y="2152450"/>
              <a:chExt cx="10412414" cy="1423500"/>
            </a:xfrm>
          </p:grpSpPr>
          <p:sp>
            <p:nvSpPr>
              <p:cNvPr id="7" name="Rectángulo 6">
                <a:extLst>
                  <a:ext uri="{FF2B5EF4-FFF2-40B4-BE49-F238E27FC236}">
                    <a16:creationId xmlns:a16="http://schemas.microsoft.com/office/drawing/2014/main" id="{1927F4A0-FF65-DE13-8DB0-F182C45D1F8F}"/>
                  </a:ext>
                </a:extLst>
              </p:cNvPr>
              <p:cNvSpPr/>
              <p:nvPr/>
            </p:nvSpPr>
            <p:spPr>
              <a:xfrm>
                <a:off x="3657601" y="2152450"/>
                <a:ext cx="7458338" cy="1418699"/>
              </a:xfrm>
              <a:prstGeom prst="rect">
                <a:avLst/>
              </a:prstGeom>
              <a:solidFill>
                <a:srgbClr val="161E4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lnSpc>
                    <a:spcPct val="115000"/>
                  </a:lnSpc>
                </a:pPr>
                <a:r>
                  <a:rPr lang="es-ES" sz="1100">
                    <a:effectLst/>
                    <a:latin typeface="Arial" panose="020B0604020202020204" pitchFamily="34" charset="0"/>
                    <a:ea typeface="Arial" panose="020B0604020202020204" pitchFamily="34" charset="0"/>
                  </a:rPr>
                  <a:t> </a:t>
                </a:r>
                <a:endParaRPr lang="es-MX" sz="1100">
                  <a:effectLst/>
                  <a:latin typeface="Arial" panose="020B0604020202020204" pitchFamily="34" charset="0"/>
                  <a:ea typeface="Arial" panose="020B0604020202020204" pitchFamily="34" charset="0"/>
                </a:endParaRPr>
              </a:p>
            </p:txBody>
          </p:sp>
          <p:sp>
            <p:nvSpPr>
              <p:cNvPr id="8" name="Rectángulo 7">
                <a:extLst>
                  <a:ext uri="{FF2B5EF4-FFF2-40B4-BE49-F238E27FC236}">
                    <a16:creationId xmlns:a16="http://schemas.microsoft.com/office/drawing/2014/main" id="{0F2B72AB-467F-B766-220B-492375030E4E}"/>
                  </a:ext>
                </a:extLst>
              </p:cNvPr>
              <p:cNvSpPr/>
              <p:nvPr/>
            </p:nvSpPr>
            <p:spPr>
              <a:xfrm>
                <a:off x="703525" y="2157250"/>
                <a:ext cx="2458800" cy="1418700"/>
              </a:xfrm>
              <a:prstGeom prst="rect">
                <a:avLst/>
              </a:pr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lnSpc>
                    <a:spcPct val="115000"/>
                  </a:lnSpc>
                </a:pPr>
                <a:r>
                  <a:rPr lang="es-ES" sz="1100">
                    <a:effectLst/>
                    <a:latin typeface="Arial" panose="020B0604020202020204" pitchFamily="34" charset="0"/>
                    <a:ea typeface="Arial" panose="020B0604020202020204" pitchFamily="34" charset="0"/>
                  </a:rPr>
                  <a:t> </a:t>
                </a:r>
                <a:endParaRPr lang="es-MX" sz="1100">
                  <a:effectLst/>
                  <a:latin typeface="Arial" panose="020B0604020202020204" pitchFamily="34" charset="0"/>
                  <a:ea typeface="Arial" panose="020B0604020202020204" pitchFamily="34" charset="0"/>
                </a:endParaRPr>
              </a:p>
            </p:txBody>
          </p:sp>
          <p:sp>
            <p:nvSpPr>
              <p:cNvPr id="9" name="Paralelogramo 8">
                <a:extLst>
                  <a:ext uri="{FF2B5EF4-FFF2-40B4-BE49-F238E27FC236}">
                    <a16:creationId xmlns:a16="http://schemas.microsoft.com/office/drawing/2014/main" id="{8623E56F-A27D-F7E7-D667-DB06C7907134}"/>
                  </a:ext>
                </a:extLst>
              </p:cNvPr>
              <p:cNvSpPr/>
              <p:nvPr/>
            </p:nvSpPr>
            <p:spPr>
              <a:xfrm>
                <a:off x="2860775" y="2152450"/>
                <a:ext cx="1127400" cy="1418700"/>
              </a:xfrm>
              <a:prstGeom prst="parallelogram">
                <a:avLst>
                  <a:gd name="adj" fmla="val 25000"/>
                </a:avLst>
              </a:prstGeom>
              <a:solidFill>
                <a:srgbClr val="97A7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lnSpc>
                    <a:spcPct val="115000"/>
                  </a:lnSpc>
                </a:pPr>
                <a:r>
                  <a:rPr lang="es-ES" sz="1100">
                    <a:effectLst/>
                    <a:latin typeface="Arial" panose="020B0604020202020204" pitchFamily="34" charset="0"/>
                    <a:ea typeface="Arial" panose="020B0604020202020204" pitchFamily="34" charset="0"/>
                  </a:rPr>
                  <a:t> </a:t>
                </a:r>
                <a:endParaRPr lang="es-MX" sz="1100">
                  <a:effectLst/>
                  <a:latin typeface="Arial" panose="020B0604020202020204" pitchFamily="34" charset="0"/>
                  <a:ea typeface="Arial" panose="020B0604020202020204" pitchFamily="34" charset="0"/>
                </a:endParaRPr>
              </a:p>
            </p:txBody>
          </p:sp>
        </p:grpSp>
      </p:grpSp>
      <p:sp>
        <p:nvSpPr>
          <p:cNvPr id="11" name="Cuadro de texto 3">
            <a:extLst>
              <a:ext uri="{FF2B5EF4-FFF2-40B4-BE49-F238E27FC236}">
                <a16:creationId xmlns:a16="http://schemas.microsoft.com/office/drawing/2014/main" id="{A928BFB0-6995-2B29-CDC2-F7D5286D22C5}"/>
              </a:ext>
            </a:extLst>
          </p:cNvPr>
          <p:cNvSpPr txBox="1"/>
          <p:nvPr/>
        </p:nvSpPr>
        <p:spPr>
          <a:xfrm>
            <a:off x="608605" y="98129"/>
            <a:ext cx="1308735" cy="478790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5000"/>
              </a:lnSpc>
            </a:pPr>
            <a:r>
              <a:rPr lang="es-ES_tradnl" sz="2200">
                <a:solidFill>
                  <a:srgbClr val="161E43"/>
                </a:solidFill>
                <a:effectLst/>
                <a:latin typeface="Century Gothic" panose="020B0502020202020204" pitchFamily="34" charset="0"/>
                <a:ea typeface="Arial" panose="020B0604020202020204" pitchFamily="34" charset="0"/>
              </a:rPr>
              <a:t>MNA</a:t>
            </a:r>
            <a:endParaRPr lang="es-MX" sz="110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13" name="Subtítulo 2">
            <a:extLst>
              <a:ext uri="{FF2B5EF4-FFF2-40B4-BE49-F238E27FC236}">
                <a16:creationId xmlns:a16="http://schemas.microsoft.com/office/drawing/2014/main" id="{30FF6E45-5264-8D11-EAC7-F180544307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6619" y="1501863"/>
            <a:ext cx="10844720" cy="3934690"/>
          </a:xfrm>
        </p:spPr>
        <p:txBody>
          <a:bodyPr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endParaRPr lang="es-MX" sz="2000" dirty="0">
              <a:latin typeface="Avenir Next Condensed" panose="020B05060202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s-MX" sz="2000" dirty="0">
              <a:latin typeface="Avenir Next Condensed" panose="020B05060202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s-MX" sz="2000" dirty="0">
              <a:latin typeface="Avenir Next Condensed" panose="020B05060202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s-MX" sz="2000" dirty="0">
              <a:latin typeface="Avenir Next Condensed" panose="020B05060202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s-MX" sz="2000" dirty="0">
              <a:latin typeface="Avenir Next Condensed" panose="020B05060202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s-MX" sz="2800" dirty="0">
              <a:latin typeface="Avenir Next Condensed" panose="020B0506020202020204" pitchFamily="34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65760" y="1638082"/>
            <a:ext cx="11521440" cy="4846320"/>
          </a:xfrm>
          <a:prstGeom prst="rect">
            <a:avLst/>
          </a:prstGeom>
          <a:solidFill>
            <a:srgbClr val="161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5760" y="2103120"/>
            <a:ext cx="11521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Century Gothic"/>
              </a:rPr>
              <a:t>Decision: GO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3200400"/>
            <a:ext cx="11521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00C896"/>
                </a:solidFill>
                <a:latin typeface="Avenir Next Condensed"/>
              </a:rPr>
              <a:t>El modelo cumple los 9 criterios de exito definidos en CRISP-ML(Q)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97280" y="3840480"/>
            <a:ext cx="2286000" cy="1188720"/>
          </a:xfrm>
          <a:prstGeom prst="rect">
            <a:avLst/>
          </a:prstGeom>
          <a:solidFill>
            <a:srgbClr val="1B2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88720" y="3886200"/>
            <a:ext cx="2103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0C896"/>
                </a:solidFill>
                <a:latin typeface="Century Gothic"/>
              </a:rPr>
              <a:t>RMSE 0.6117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43484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Avenir Next Condensed"/>
              </a:rPr>
              <a:t>g CH4/kg leche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0" y="3840480"/>
            <a:ext cx="2286000" cy="1188720"/>
          </a:xfrm>
          <a:prstGeom prst="rect">
            <a:avLst/>
          </a:prstGeom>
          <a:solidFill>
            <a:srgbClr val="1B2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749039" y="3886200"/>
            <a:ext cx="2103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0C896"/>
                </a:solidFill>
                <a:latin typeface="Century Gothic"/>
              </a:rPr>
              <a:t>R2 0.9779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49039" y="443484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Avenir Next Condensed"/>
              </a:rPr>
              <a:t>97.8% precision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3840480"/>
            <a:ext cx="2286000" cy="1188720"/>
          </a:xfrm>
          <a:prstGeom prst="rect">
            <a:avLst/>
          </a:prstGeom>
          <a:solidFill>
            <a:srgbClr val="1B2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09359" y="3886200"/>
            <a:ext cx="2103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0C896"/>
                </a:solidFill>
                <a:latin typeface="Century Gothic"/>
              </a:rPr>
              <a:t>7.3 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59" y="443484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Avenir Next Condensed"/>
              </a:rPr>
              <a:t>latencia real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778239" y="3840480"/>
            <a:ext cx="2286000" cy="1188720"/>
          </a:xfrm>
          <a:prstGeom prst="rect">
            <a:avLst/>
          </a:prstGeom>
          <a:solidFill>
            <a:srgbClr val="1B2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869679" y="3886200"/>
            <a:ext cx="2103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0C896"/>
                </a:solidFill>
                <a:latin typeface="Century Gothic"/>
              </a:rPr>
              <a:t>ROI 157%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69679" y="443484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Avenir Next Condensed"/>
              </a:rPr>
              <a:t>primer año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5394960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D4A017"/>
                </a:solidFill>
                <a:latin typeface="Avenir Next Condensed"/>
              </a:rPr>
              <a:t>Equipo 48  |  Machine Learning  |  Tecnologico de Monterrey  |  Junio 2026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D6BC9DE8-35D3-CA55-4088-A34FA6B29BDC}"/>
              </a:ext>
            </a:extLst>
          </p:cNvPr>
          <p:cNvSpPr/>
          <p:nvPr/>
        </p:nvSpPr>
        <p:spPr>
          <a:xfrm>
            <a:off x="2115507" y="99072"/>
            <a:ext cx="10070201" cy="6156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r">
              <a:lnSpc>
                <a:spcPct val="115000"/>
              </a:lnSpc>
            </a:pPr>
            <a:r>
              <a:rPr lang="es-MX" sz="1400" dirty="0">
                <a:solidFill>
                  <a:srgbClr val="FFFFFF"/>
                </a:solidFill>
                <a:effectLst/>
                <a:latin typeface="Gellix" pitchFamily="2" charset="77"/>
                <a:ea typeface="Fira Sans Extra Condensed"/>
                <a:cs typeface="Fira Sans Extra Condensed"/>
              </a:rPr>
              <a:t>Identificación espacio-temporal de compuestos nutracéuticos en ganado lechero mediante inteligencia artificial</a:t>
            </a:r>
            <a:endParaRPr lang="es-MX" sz="1100" dirty="0">
              <a:effectLst/>
              <a:latin typeface="Gellix" pitchFamily="2" charset="77"/>
              <a:ea typeface="Arial" panose="020B06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1596</Words>
  <Application>Microsoft Office PowerPoint</Application>
  <PresentationFormat>Panorámica</PresentationFormat>
  <Paragraphs>471</Paragraphs>
  <Slides>14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22" baseType="lpstr">
      <vt:lpstr>Albra Regular</vt:lpstr>
      <vt:lpstr>Arial</vt:lpstr>
      <vt:lpstr>Avenir Next Condensed</vt:lpstr>
      <vt:lpstr>Calibri</vt:lpstr>
      <vt:lpstr>Calibri Light</vt:lpstr>
      <vt:lpstr>Century Gothic</vt:lpstr>
      <vt:lpstr>Gellix</vt:lpstr>
      <vt:lpstr>Tema de Office</vt:lpstr>
      <vt:lpstr>Identificación espacio-temporal de compuestos nutracéuticos en ganado lechero mediante inteligencia artificial  Tecnológico de Monterrey</vt:lpstr>
      <vt:lpstr>Agenda</vt:lpstr>
      <vt:lpstr>01 | Problematica y Objetivo</vt:lpstr>
      <vt:lpstr>02 | Hallazgos del Analisis Exploratorio</vt:lpstr>
      <vt:lpstr>03 | Modelos Desarrollados</vt:lpstr>
      <vt:lpstr>04 | Solucion Final: StackingRegressor</vt:lpstr>
      <vt:lpstr>05 | Recomendaciones Comerciales</vt:lpstr>
      <vt:lpstr>06 | SLOs y Monitoreo en Produccion</vt:lpstr>
      <vt:lpstr>07 | Seguridad y Compliance (LFPDPPP)</vt:lpstr>
      <vt:lpstr>08 | Plan de Handoff y Operaciones</vt:lpstr>
      <vt:lpstr>09 | Analisis Costo-Beneficio</vt:lpstr>
      <vt:lpstr>10 | Riesgos y Desafios</vt:lpstr>
      <vt:lpstr>10 | Trabajos Futuros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Nombre del proyecto  Empresa / Organización</dc:title>
  <dc:creator>Grettel Barceló Alonso</dc:creator>
  <cp:lastModifiedBy>Oscar Luis Guadarrama Jimenez</cp:lastModifiedBy>
  <cp:revision>3</cp:revision>
  <dcterms:created xsi:type="dcterms:W3CDTF">2024-03-01T23:41:35Z</dcterms:created>
  <dcterms:modified xsi:type="dcterms:W3CDTF">2026-06-18T02:29:21Z</dcterms:modified>
</cp:coreProperties>
</file>