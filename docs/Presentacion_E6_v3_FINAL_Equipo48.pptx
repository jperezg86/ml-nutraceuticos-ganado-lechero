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202D9E-CAF9-4DE1-826E-CE4599FD6B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763179-ED42-4CA7-9B54-C7740B5D90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91381A-A5D5-481A-ABB9-D1E1B41DC9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4A6E5D-5CB8-4080-A1B5-E74183E800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4D5BB7-958F-4C67-A76C-29F2EF5FC1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775BF2-5AE0-4681-A6A5-70EE591C4E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B43E4A-1FCF-4171-981A-C6BFE879DE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9DC04-A4CB-4663-A4C8-48E3AC187A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30BDFC-014A-4E6D-B12B-81C92D460B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AFD606-B1BC-4458-BBE9-9389A0788C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D37ED-45AB-45E2-9198-290BCC6DC0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B234F2-5D49-4628-8D50-063F6FCAD0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Haz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clic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para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modifi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car el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estilo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de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título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del </a:t>
            </a:r>
            <a:r>
              <a:rPr b="0" lang="es-MX" sz="6000" spc="-1" strike="noStrike">
                <a:solidFill>
                  <a:srgbClr val="000000"/>
                </a:solidFill>
                <a:latin typeface="Calibri Light"/>
              </a:rPr>
              <a:t>patrón</a:t>
            </a:r>
            <a:endParaRPr b="0" lang="es-MX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s-MX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s-MX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829522-BDAE-4F92-BD70-CA8568F1C708}" type="slidenum">
              <a:rPr b="0" lang="es-MX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s-MX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s-MX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s-MX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s-MX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s-MX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88452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ES" sz="2800" spc="-1" strike="noStrike">
                <a:solidFill>
                  <a:srgbClr val="000000"/>
                </a:solidFill>
                <a:latin typeface="Century Gothic"/>
              </a:rPr>
              <a:t>Identificación espacio-temporal de compuestos</a:t>
            </a:r>
            <a:br>
              <a:rPr sz="2800"/>
            </a:br>
            <a:r>
              <a:rPr b="0" lang="es-ES" sz="2800" spc="-1" strike="noStrike">
                <a:solidFill>
                  <a:srgbClr val="000000"/>
                </a:solidFill>
                <a:latin typeface="Century Gothic"/>
              </a:rPr>
              <a:t>nutracéuticos en ganado lechero mediante</a:t>
            </a:r>
            <a:br>
              <a:rPr sz="2800"/>
            </a:br>
            <a:r>
              <a:rPr b="0" lang="es-ES" sz="2800" spc="-1" strike="noStrike">
                <a:solidFill>
                  <a:srgbClr val="000000"/>
                </a:solidFill>
                <a:latin typeface="Century Gothic"/>
              </a:rPr>
              <a:t>inteligencia artificial</a:t>
            </a:r>
            <a:br>
              <a:rPr sz="2800"/>
            </a:br>
            <a:br>
              <a:rPr sz="2800"/>
            </a:br>
            <a:r>
              <a:rPr b="0" lang="es-MX" sz="2000" spc="-1" strike="noStrike">
                <a:solidFill>
                  <a:srgbClr val="000000"/>
                </a:solidFill>
                <a:latin typeface="Gellix"/>
              </a:rPr>
              <a:t>Tecnológico de Monterrey</a:t>
            </a:r>
            <a:endParaRPr b="0" lang="es-MX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523880" y="2953440"/>
            <a:ext cx="9143640" cy="3606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pc="-1" strike="noStrike">
                <a:solidFill>
                  <a:srgbClr val="000000"/>
                </a:solidFill>
                <a:latin typeface="Gellix"/>
              </a:rPr>
              <a:t>Presenta(n):</a:t>
            </a:r>
            <a:endParaRPr b="0" lang="en-US" sz="20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venir Next Condensed"/>
              </a:rPr>
              <a:t>Oscar Luis Guadarrama </a:t>
            </a:r>
            <a:r>
              <a:rPr b="0" lang="es-ES" sz="1800" spc="-1" strike="noStrike">
                <a:solidFill>
                  <a:srgbClr val="000000"/>
                </a:solidFill>
                <a:latin typeface="Avenir Next Condensed"/>
              </a:rPr>
              <a:t>Jiménez - A01796245</a:t>
            </a:r>
            <a:endParaRPr b="0" lang="en-US" sz="18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venir Next Condensed"/>
              </a:rPr>
              <a:t>Luis Alejandro Juárez </a:t>
            </a:r>
            <a:r>
              <a:rPr b="0" lang="es-ES" sz="1800" spc="-1" strike="noStrike">
                <a:solidFill>
                  <a:srgbClr val="000000"/>
                </a:solidFill>
                <a:latin typeface="Avenir Next Condensed"/>
              </a:rPr>
              <a:t>Rodríguez - A01795463</a:t>
            </a:r>
            <a:endParaRPr b="0" lang="en-US" sz="18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800" spc="-1" strike="noStrike">
                <a:solidFill>
                  <a:srgbClr val="000000"/>
                </a:solidFill>
                <a:latin typeface="Avenir Next Condensed"/>
              </a:rPr>
              <a:t>José Manuel Pérez </a:t>
            </a:r>
            <a:r>
              <a:rPr b="0" lang="es-ES" sz="1800" spc="-1" strike="noStrike">
                <a:solidFill>
                  <a:srgbClr val="000000"/>
                </a:solidFill>
                <a:latin typeface="Avenir Next Condensed"/>
              </a:rPr>
              <a:t>González - A01795188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pc="-1" strike="noStrike">
                <a:solidFill>
                  <a:srgbClr val="000000"/>
                </a:solidFill>
                <a:latin typeface="Gellix"/>
              </a:rPr>
              <a:t>Asesor: </a:t>
            </a:r>
            <a:r>
              <a:rPr b="0" lang="es-MX" sz="2000" spc="-1" strike="noStrike">
                <a:solidFill>
                  <a:srgbClr val="000000"/>
                </a:solidFill>
                <a:latin typeface="Avenir Next Condensed"/>
              </a:rPr>
              <a:t>Dr. Horacio Martínez </a:t>
            </a:r>
            <a:r>
              <a:rPr b="0" lang="es-MX" sz="2000" spc="-1" strike="noStrike">
                <a:solidFill>
                  <a:srgbClr val="000000"/>
                </a:solidFill>
                <a:latin typeface="Avenir Next Condensed"/>
              </a:rPr>
              <a:t>Alfaro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pc="-1" strike="noStrike">
                <a:solidFill>
                  <a:srgbClr val="000000"/>
                </a:solidFill>
                <a:latin typeface="Gellix"/>
              </a:rPr>
              <a:t>Patrocinador(es): </a:t>
            </a:r>
            <a:r>
              <a:rPr b="0" lang="es-MX" sz="2000" spc="-1" strike="noStrike">
                <a:solidFill>
                  <a:srgbClr val="000000"/>
                </a:solidFill>
                <a:latin typeface="Avenir Next Condensed"/>
              </a:rPr>
              <a:t>Tecnológico de Monterrey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43" name="Imagen 11" descr=""/>
          <p:cNvPicPr/>
          <p:nvPr/>
        </p:nvPicPr>
        <p:blipFill>
          <a:blip r:embed="rId1"/>
          <a:stretch/>
        </p:blipFill>
        <p:spPr>
          <a:xfrm>
            <a:off x="876960" y="0"/>
            <a:ext cx="3606480" cy="1020240"/>
          </a:xfrm>
          <a:prstGeom prst="rect">
            <a:avLst/>
          </a:prstGeom>
          <a:ln w="0">
            <a:noFill/>
          </a:ln>
        </p:spPr>
      </p:pic>
      <p:grpSp>
        <p:nvGrpSpPr>
          <p:cNvPr id="44" name="Grupo 12"/>
          <p:cNvGrpSpPr/>
          <p:nvPr/>
        </p:nvGrpSpPr>
        <p:grpSpPr>
          <a:xfrm>
            <a:off x="-6840" y="0"/>
            <a:ext cx="654840" cy="6983640"/>
            <a:chOff x="-6840" y="0"/>
            <a:chExt cx="654840" cy="6983640"/>
          </a:xfrm>
        </p:grpSpPr>
        <p:sp>
          <p:nvSpPr>
            <p:cNvPr id="45" name="Rectángulo 13"/>
            <p:cNvSpPr/>
            <p:nvPr/>
          </p:nvSpPr>
          <p:spPr>
            <a:xfrm rot="5400000">
              <a:off x="-3171240" y="3164400"/>
              <a:ext cx="69836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46" name="Grupo 14"/>
            <p:cNvGrpSpPr/>
            <p:nvPr/>
          </p:nvGrpSpPr>
          <p:grpSpPr>
            <a:xfrm>
              <a:off x="-6840" y="0"/>
              <a:ext cx="654840" cy="6909480"/>
              <a:chOff x="-6840" y="0"/>
              <a:chExt cx="654840" cy="6909480"/>
            </a:xfrm>
          </p:grpSpPr>
          <p:sp>
            <p:nvSpPr>
              <p:cNvPr id="47" name="Rectángulo 15"/>
              <p:cNvSpPr/>
              <p:nvPr/>
            </p:nvSpPr>
            <p:spPr>
              <a:xfrm rot="5400000">
                <a:off x="-2152800" y="4108320"/>
                <a:ext cx="494928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8" name="Rectángulo 17"/>
              <p:cNvSpPr/>
              <p:nvPr/>
            </p:nvSpPr>
            <p:spPr>
              <a:xfrm rot="5400000">
                <a:off x="-496080" y="489240"/>
                <a:ext cx="163152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9" name="Paralelogramo 19"/>
              <p:cNvSpPr/>
              <p:nvPr/>
            </p:nvSpPr>
            <p:spPr>
              <a:xfrm rot="5400000">
                <a:off x="-52200" y="1479240"/>
                <a:ext cx="74772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50" name="CuadroTexto 36"/>
          <p:cNvSpPr/>
          <p:nvPr/>
        </p:nvSpPr>
        <p:spPr>
          <a:xfrm>
            <a:off x="8941680" y="129600"/>
            <a:ext cx="314820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000" spc="-1" strike="noStrike">
                <a:solidFill>
                  <a:srgbClr val="1b2749"/>
                </a:solidFill>
                <a:latin typeface="Albra Regular"/>
              </a:rPr>
              <a:t>Maestría en Inteligencia Artificial Aplicada (MNA)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CuadroTexto 40"/>
          <p:cNvSpPr/>
          <p:nvPr/>
        </p:nvSpPr>
        <p:spPr>
          <a:xfrm>
            <a:off x="5878800" y="6293520"/>
            <a:ext cx="610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s-MX" sz="1800" spc="-1" strike="noStrike">
                <a:solidFill>
                  <a:srgbClr val="000000"/>
                </a:solidFill>
                <a:latin typeface="Avenir Next Condensed"/>
              </a:rPr>
              <a:t>Junio 2026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Rectángulo 5"/>
          <p:cNvSpPr/>
          <p:nvPr/>
        </p:nvSpPr>
        <p:spPr>
          <a:xfrm rot="16200000">
            <a:off x="-1568160" y="4294440"/>
            <a:ext cx="39157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Presentación del Proyecto Integrador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o 3"/>
          <p:cNvGrpSpPr/>
          <p:nvPr/>
        </p:nvGrpSpPr>
        <p:grpSpPr>
          <a:xfrm>
            <a:off x="0" y="0"/>
            <a:ext cx="12322440" cy="714240"/>
            <a:chOff x="0" y="0"/>
            <a:chExt cx="12322440" cy="714240"/>
          </a:xfrm>
        </p:grpSpPr>
        <p:sp>
          <p:nvSpPr>
            <p:cNvPr id="54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55" name="Grupo 5"/>
            <p:cNvGrpSpPr/>
            <p:nvPr/>
          </p:nvGrpSpPr>
          <p:grpSpPr>
            <a:xfrm>
              <a:off x="0" y="0"/>
              <a:ext cx="12191400" cy="714240"/>
              <a:chOff x="0" y="0"/>
              <a:chExt cx="12191400" cy="714240"/>
            </a:xfrm>
          </p:grpSpPr>
          <p:sp>
            <p:nvSpPr>
              <p:cNvPr id="56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7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8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9" name="Rectángulo 9"/>
              <p:cNvSpPr/>
              <p:nvPr/>
            </p:nvSpPr>
            <p:spPr>
              <a:xfrm>
                <a:off x="2115360" y="99000"/>
                <a:ext cx="10069920" cy="615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t">
                <a:noAutofit/>
              </a:bodyPr>
              <a:p>
                <a:pPr algn="r">
                  <a:lnSpc>
                    <a:spcPct val="115000"/>
                  </a:lnSpc>
                  <a:buNone/>
                </a:pPr>
                <a:r>
                  <a:rPr b="0" lang="es-MX" sz="1400" spc="-1" strike="noStrike">
                    <a:solidFill>
                      <a:srgbClr val="ffffff"/>
                    </a:solidFill>
                    <a:latin typeface="Gellix"/>
                    <a:ea typeface="Fira Sans Extra Condensed"/>
                  </a:rPr>
                  <a:t>Identificación espacio-temporal de compuestos nutracéuticos en ganado lechero mediante inteligencia artificial</a:t>
                </a:r>
                <a:endParaRPr b="0" lang="en-US" sz="1400" spc="-1" strike="noStrike">
                  <a:latin typeface="Arial"/>
                </a:endParaRPr>
              </a:p>
            </p:txBody>
          </p:sp>
        </p:grpSp>
      </p:grpSp>
      <p:sp>
        <p:nvSpPr>
          <p:cNvPr id="60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Agenda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3" name="Rectangle 13"/>
          <p:cNvSpPr/>
          <p:nvPr/>
        </p:nvSpPr>
        <p:spPr>
          <a:xfrm>
            <a:off x="457200" y="155448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Box 14"/>
          <p:cNvSpPr/>
          <p:nvPr/>
        </p:nvSpPr>
        <p:spPr>
          <a:xfrm>
            <a:off x="567000" y="164592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01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5" name="TextBox 15"/>
          <p:cNvSpPr/>
          <p:nvPr/>
        </p:nvSpPr>
        <p:spPr>
          <a:xfrm>
            <a:off x="1298520" y="175572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Problemática y objetivo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6" name="Rectangle 16"/>
          <p:cNvSpPr/>
          <p:nvPr/>
        </p:nvSpPr>
        <p:spPr>
          <a:xfrm>
            <a:off x="6400800" y="155448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Box 17"/>
          <p:cNvSpPr/>
          <p:nvPr/>
        </p:nvSpPr>
        <p:spPr>
          <a:xfrm>
            <a:off x="6510600" y="164592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02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8" name="TextBox 18"/>
          <p:cNvSpPr/>
          <p:nvPr/>
        </p:nvSpPr>
        <p:spPr>
          <a:xfrm>
            <a:off x="7242120" y="175572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Hallazgos del EDA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Rectangle 19"/>
          <p:cNvSpPr/>
          <p:nvPr/>
        </p:nvSpPr>
        <p:spPr>
          <a:xfrm>
            <a:off x="457200" y="251460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Box 20"/>
          <p:cNvSpPr/>
          <p:nvPr/>
        </p:nvSpPr>
        <p:spPr>
          <a:xfrm>
            <a:off x="567000" y="260604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1" name="TextBox 21"/>
          <p:cNvSpPr/>
          <p:nvPr/>
        </p:nvSpPr>
        <p:spPr>
          <a:xfrm>
            <a:off x="1298520" y="271584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Modelos desarrollados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2" name="Rectangle 22"/>
          <p:cNvSpPr/>
          <p:nvPr/>
        </p:nvSpPr>
        <p:spPr>
          <a:xfrm>
            <a:off x="6400800" y="251460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Box 23"/>
          <p:cNvSpPr/>
          <p:nvPr/>
        </p:nvSpPr>
        <p:spPr>
          <a:xfrm>
            <a:off x="6510600" y="260604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04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4" name="TextBox 24"/>
          <p:cNvSpPr/>
          <p:nvPr/>
        </p:nvSpPr>
        <p:spPr>
          <a:xfrm>
            <a:off x="7242120" y="271584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Solución final: StackingRegressor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Rectangle 25"/>
          <p:cNvSpPr/>
          <p:nvPr/>
        </p:nvSpPr>
        <p:spPr>
          <a:xfrm>
            <a:off x="457200" y="347472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Box 26"/>
          <p:cNvSpPr/>
          <p:nvPr/>
        </p:nvSpPr>
        <p:spPr>
          <a:xfrm>
            <a:off x="567000" y="356616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05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7" name="TextBox 27"/>
          <p:cNvSpPr/>
          <p:nvPr/>
        </p:nvSpPr>
        <p:spPr>
          <a:xfrm>
            <a:off x="1298520" y="367596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Recomendaciones + Arquitectura GCP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Rectangle 28"/>
          <p:cNvSpPr/>
          <p:nvPr/>
        </p:nvSpPr>
        <p:spPr>
          <a:xfrm>
            <a:off x="6400800" y="347472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Box 29"/>
          <p:cNvSpPr/>
          <p:nvPr/>
        </p:nvSpPr>
        <p:spPr>
          <a:xfrm>
            <a:off x="6510600" y="356616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06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7242120" y="367596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SLOs y Monitoreo en Producción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1" name="Rectangle 31"/>
          <p:cNvSpPr/>
          <p:nvPr/>
        </p:nvSpPr>
        <p:spPr>
          <a:xfrm>
            <a:off x="457200" y="443484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Box 32"/>
          <p:cNvSpPr/>
          <p:nvPr/>
        </p:nvSpPr>
        <p:spPr>
          <a:xfrm>
            <a:off x="567000" y="452628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07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3" name="TextBox 33"/>
          <p:cNvSpPr/>
          <p:nvPr/>
        </p:nvSpPr>
        <p:spPr>
          <a:xfrm>
            <a:off x="1298520" y="463608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Seguridad y Compliance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Rectangle 34"/>
          <p:cNvSpPr/>
          <p:nvPr/>
        </p:nvSpPr>
        <p:spPr>
          <a:xfrm>
            <a:off x="6400800" y="443484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Box 35"/>
          <p:cNvSpPr/>
          <p:nvPr/>
        </p:nvSpPr>
        <p:spPr>
          <a:xfrm>
            <a:off x="6510600" y="452628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08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6" name="TextBox 36"/>
          <p:cNvSpPr/>
          <p:nvPr/>
        </p:nvSpPr>
        <p:spPr>
          <a:xfrm>
            <a:off x="7242120" y="463608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Handoff + Ejemplo de uso en campo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Rectangle 37"/>
          <p:cNvSpPr/>
          <p:nvPr/>
        </p:nvSpPr>
        <p:spPr>
          <a:xfrm>
            <a:off x="457200" y="539496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Box 38"/>
          <p:cNvSpPr/>
          <p:nvPr/>
        </p:nvSpPr>
        <p:spPr>
          <a:xfrm>
            <a:off x="567000" y="548640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09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TextBox 39"/>
          <p:cNvSpPr/>
          <p:nvPr/>
        </p:nvSpPr>
        <p:spPr>
          <a:xfrm>
            <a:off x="1298520" y="559620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Análisis costo-beneficio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0" name="Rectangle 40"/>
          <p:cNvSpPr/>
          <p:nvPr/>
        </p:nvSpPr>
        <p:spPr>
          <a:xfrm>
            <a:off x="6400800" y="5394960"/>
            <a:ext cx="5577480" cy="840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Box 41"/>
          <p:cNvSpPr/>
          <p:nvPr/>
        </p:nvSpPr>
        <p:spPr>
          <a:xfrm>
            <a:off x="6510600" y="5486400"/>
            <a:ext cx="63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d4a017"/>
                </a:solidFill>
                <a:latin typeface="Century Gothic"/>
              </a:rPr>
              <a:t>10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2" name="TextBox 42"/>
          <p:cNvSpPr/>
          <p:nvPr/>
        </p:nvSpPr>
        <p:spPr>
          <a:xfrm>
            <a:off x="7242120" y="5596200"/>
            <a:ext cx="4571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Avenir Next Condensed"/>
              </a:rPr>
              <a:t>Riesgos, Go/No-Go y Cierre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94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95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96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97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98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99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01 | Problemática y Objetivo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102" name="Rectangle 13"/>
          <p:cNvSpPr/>
          <p:nvPr/>
        </p:nvSpPr>
        <p:spPr>
          <a:xfrm>
            <a:off x="365760" y="1645920"/>
            <a:ext cx="5394600" cy="44802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Box 14"/>
          <p:cNvSpPr/>
          <p:nvPr/>
        </p:nvSpPr>
        <p:spPr>
          <a:xfrm>
            <a:off x="548640" y="1737360"/>
            <a:ext cx="4937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161e44"/>
                </a:solidFill>
                <a:latin typeface="Century Gothic"/>
              </a:rPr>
              <a:t>El problema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Rectangle 15"/>
          <p:cNvSpPr/>
          <p:nvPr/>
        </p:nvSpPr>
        <p:spPr>
          <a:xfrm>
            <a:off x="365760" y="221292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Box 16"/>
          <p:cNvSpPr/>
          <p:nvPr/>
        </p:nvSpPr>
        <p:spPr>
          <a:xfrm>
            <a:off x="548640" y="226764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El ganado bovino genera el 14.5% de los GEI globales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6" name="Rectangle 17"/>
          <p:cNvSpPr/>
          <p:nvPr/>
        </p:nvSpPr>
        <p:spPr>
          <a:xfrm>
            <a:off x="365760" y="317304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Box 18"/>
          <p:cNvSpPr/>
          <p:nvPr/>
        </p:nvSpPr>
        <p:spPr>
          <a:xfrm>
            <a:off x="548640" y="3227760"/>
            <a:ext cx="5028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Sin herramientas predictivas, la dosificación es empírica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8" name="Rectangle 19"/>
          <p:cNvSpPr/>
          <p:nvPr/>
        </p:nvSpPr>
        <p:spPr>
          <a:xfrm>
            <a:off x="365760" y="413316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Box 20"/>
          <p:cNvSpPr/>
          <p:nvPr/>
        </p:nvSpPr>
        <p:spPr>
          <a:xfrm>
            <a:off x="548640" y="4187880"/>
            <a:ext cx="5028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Exceso de suplemento: costo innecesario. Déficit: metano alto persistente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0" name="Rectangle 21"/>
          <p:cNvSpPr/>
          <p:nvPr/>
        </p:nvSpPr>
        <p:spPr>
          <a:xfrm>
            <a:off x="365760" y="509328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Box 22"/>
          <p:cNvSpPr/>
          <p:nvPr/>
        </p:nvSpPr>
        <p:spPr>
          <a:xfrm>
            <a:off x="548640" y="5148000"/>
            <a:ext cx="5028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Regulaciones ambientales exigen métricas verificables de carbono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Rectangle 23"/>
          <p:cNvSpPr/>
          <p:nvPr/>
        </p:nvSpPr>
        <p:spPr>
          <a:xfrm>
            <a:off x="6126480" y="1645920"/>
            <a:ext cx="5760360" cy="21027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Box 24"/>
          <p:cNvSpPr/>
          <p:nvPr/>
        </p:nvSpPr>
        <p:spPr>
          <a:xfrm>
            <a:off x="6309360" y="1719000"/>
            <a:ext cx="5303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d4a017"/>
                </a:solidFill>
                <a:latin typeface="Century Gothic"/>
              </a:rPr>
              <a:t>Objetivo del proyecto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" name="TextBox 25"/>
          <p:cNvSpPr/>
          <p:nvPr/>
        </p:nvSpPr>
        <p:spPr>
          <a:xfrm>
            <a:off x="6309360" y="2148840"/>
            <a:ext cx="539460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ffffff"/>
                </a:solidFill>
                <a:latin typeface="Avenir Next Condensed"/>
              </a:rPr>
              <a:t>Predecir la intensidad de emisión de metano (g CH4/kg leche) por vaca mediante ML para optimizar la dosis de nutracéuticos y reducir la huella de carbono.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5" name="Rectangle 26"/>
          <p:cNvSpPr/>
          <p:nvPr/>
        </p:nvSpPr>
        <p:spPr>
          <a:xfrm>
            <a:off x="6126480" y="3886200"/>
            <a:ext cx="576036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Box 27"/>
          <p:cNvSpPr/>
          <p:nvPr/>
        </p:nvSpPr>
        <p:spPr>
          <a:xfrm>
            <a:off x="6309360" y="3950280"/>
            <a:ext cx="5028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161e44"/>
                </a:solidFill>
                <a:latin typeface="Century Gothic"/>
              </a:rPr>
              <a:t>Dataset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TextBox 28"/>
          <p:cNvSpPr/>
          <p:nvPr/>
        </p:nvSpPr>
        <p:spPr>
          <a:xfrm>
            <a:off x="630936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73,000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8" name="TextBox 29"/>
          <p:cNvSpPr/>
          <p:nvPr/>
        </p:nvSpPr>
        <p:spPr>
          <a:xfrm>
            <a:off x="630936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registros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TextBox 30"/>
          <p:cNvSpPr/>
          <p:nvPr/>
        </p:nvSpPr>
        <p:spPr>
          <a:xfrm>
            <a:off x="769932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100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0" name="TextBox 31"/>
          <p:cNvSpPr/>
          <p:nvPr/>
        </p:nvSpPr>
        <p:spPr>
          <a:xfrm>
            <a:off x="769932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vacas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1" name="TextBox 32"/>
          <p:cNvSpPr/>
          <p:nvPr/>
        </p:nvSpPr>
        <p:spPr>
          <a:xfrm>
            <a:off x="908928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3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2" name="TextBox 33"/>
          <p:cNvSpPr/>
          <p:nvPr/>
        </p:nvSpPr>
        <p:spPr>
          <a:xfrm>
            <a:off x="908928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razas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3" name="TextBox 34"/>
          <p:cNvSpPr/>
          <p:nvPr/>
        </p:nvSpPr>
        <p:spPr>
          <a:xfrm>
            <a:off x="1047888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24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4" name="TextBox 35"/>
          <p:cNvSpPr/>
          <p:nvPr/>
        </p:nvSpPr>
        <p:spPr>
          <a:xfrm>
            <a:off x="1047888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meses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5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127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128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129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130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131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132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8000"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02 | Hallazgos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del Analisis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Exploratorio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135" name="Rectangle 13"/>
          <p:cNvSpPr/>
          <p:nvPr/>
        </p:nvSpPr>
        <p:spPr>
          <a:xfrm>
            <a:off x="365760" y="164592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Rectangle 14"/>
          <p:cNvSpPr/>
          <p:nvPr/>
        </p:nvSpPr>
        <p:spPr>
          <a:xfrm>
            <a:off x="365760" y="164592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Box 15"/>
          <p:cNvSpPr/>
          <p:nvPr/>
        </p:nvSpPr>
        <p:spPr>
          <a:xfrm>
            <a:off x="502920" y="170064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Distribución de metano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502920" y="2194560"/>
            <a:ext cx="53946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Media: 16.5 g CH4/kg leche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Rango: 8-35 g/kg · 23% en nivel "Alto" (&gt;25 g)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Distribución bimodal: dos perfiles de vaca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9" name="Rectangle 17"/>
          <p:cNvSpPr/>
          <p:nvPr/>
        </p:nvSpPr>
        <p:spPr>
          <a:xfrm>
            <a:off x="6355080" y="164592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Rectangle 18"/>
          <p:cNvSpPr/>
          <p:nvPr/>
        </p:nvSpPr>
        <p:spPr>
          <a:xfrm>
            <a:off x="6355080" y="164592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Box 19"/>
          <p:cNvSpPr/>
          <p:nvPr/>
        </p:nvSpPr>
        <p:spPr>
          <a:xfrm>
            <a:off x="6492240" y="170064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Diferencias por raza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2" name="TextBox 20"/>
          <p:cNvSpPr/>
          <p:nvPr/>
        </p:nvSpPr>
        <p:spPr>
          <a:xfrm>
            <a:off x="6492240" y="2194560"/>
            <a:ext cx="53946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Holstein: ~15.2 g/kg (mas eficiente)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Jersey: ~17.1 g/kg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Pardo Suizo: ~18.3 g/kg → raza es predictor clave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3" name="Rectangle 21"/>
          <p:cNvSpPr/>
          <p:nvPr/>
        </p:nvSpPr>
        <p:spPr>
          <a:xfrm>
            <a:off x="365760" y="406908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Rectangle 22"/>
          <p:cNvSpPr/>
          <p:nvPr/>
        </p:nvSpPr>
        <p:spPr>
          <a:xfrm>
            <a:off x="365760" y="40690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Box 23"/>
          <p:cNvSpPr/>
          <p:nvPr/>
        </p:nvSpPr>
        <p:spPr>
          <a:xfrm>
            <a:off x="502920" y="41238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Correlaciones clave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6" name="TextBox 24"/>
          <p:cNvSpPr/>
          <p:nvPr/>
        </p:nvSpPr>
        <p:spPr>
          <a:xfrm>
            <a:off x="502920" y="4617720"/>
            <a:ext cx="53946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Leche vs CH4: r = -0.72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Dosis nutracéutico: r = -0.61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DIMS vs CH4: r = +0.45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7" name="Rectangle 25"/>
          <p:cNvSpPr/>
          <p:nvPr/>
        </p:nvSpPr>
        <p:spPr>
          <a:xfrm>
            <a:off x="6355080" y="406908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Rectangle 26"/>
          <p:cNvSpPr/>
          <p:nvPr/>
        </p:nvSpPr>
        <p:spPr>
          <a:xfrm>
            <a:off x="6355080" y="40690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Box 27"/>
          <p:cNvSpPr/>
          <p:nvPr/>
        </p:nvSpPr>
        <p:spPr>
          <a:xfrm>
            <a:off x="6492240" y="41238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Ventana critica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0" name="TextBox 28"/>
          <p:cNvSpPr/>
          <p:nvPr/>
        </p:nvSpPr>
        <p:spPr>
          <a:xfrm>
            <a:off x="6492240" y="4617720"/>
            <a:ext cx="53946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Alertas concentradas en meses 8-14 de lactación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Intervención preventiva debe ser antes del mes 7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Justifica el modelo como herramienta de anticipación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1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153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154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155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156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157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158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03 | Modelos Desarrollados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365760" y="1645920"/>
            <a:ext cx="11521080" cy="45684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Box 14"/>
          <p:cNvSpPr/>
          <p:nvPr/>
        </p:nvSpPr>
        <p:spPr>
          <a:xfrm>
            <a:off x="365760" y="167328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Avance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1554480" y="167328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Modelo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5669280" y="167328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RMSE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5" name="TextBox 17"/>
          <p:cNvSpPr/>
          <p:nvPr/>
        </p:nvSpPr>
        <p:spPr>
          <a:xfrm>
            <a:off x="7772400" y="167328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R2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9875520" y="167328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Latencia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7" name="Rectangle 19"/>
          <p:cNvSpPr/>
          <p:nvPr/>
        </p:nvSpPr>
        <p:spPr>
          <a:xfrm>
            <a:off x="365760" y="2176200"/>
            <a:ext cx="11521080" cy="6397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Box 20"/>
          <p:cNvSpPr/>
          <p:nvPr/>
        </p:nvSpPr>
        <p:spPr>
          <a:xfrm>
            <a:off x="365760" y="228600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9" name="TextBox 21"/>
          <p:cNvSpPr/>
          <p:nvPr/>
        </p:nvSpPr>
        <p:spPr>
          <a:xfrm>
            <a:off x="1554480" y="228600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Ridge Regression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5669280" y="228600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0.7268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7772400" y="228600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0.9688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2" name="TextBox 24"/>
          <p:cNvSpPr/>
          <p:nvPr/>
        </p:nvSpPr>
        <p:spPr>
          <a:xfrm>
            <a:off x="9875520" y="228600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3" name="Rectangle 25"/>
          <p:cNvSpPr/>
          <p:nvPr/>
        </p:nvSpPr>
        <p:spPr>
          <a:xfrm>
            <a:off x="365760" y="2889360"/>
            <a:ext cx="11521080" cy="6397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Box 26"/>
          <p:cNvSpPr/>
          <p:nvPr/>
        </p:nvSpPr>
        <p:spPr>
          <a:xfrm>
            <a:off x="365760" y="299916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5" name="TextBox 27"/>
          <p:cNvSpPr/>
          <p:nvPr/>
        </p:nvSpPr>
        <p:spPr>
          <a:xfrm>
            <a:off x="1554480" y="299916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MLP Neural Net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6" name="TextBox 28"/>
          <p:cNvSpPr/>
          <p:nvPr/>
        </p:nvSpPr>
        <p:spPr>
          <a:xfrm>
            <a:off x="5669280" y="299916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0.6555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7" name="TextBox 29"/>
          <p:cNvSpPr/>
          <p:nvPr/>
        </p:nvSpPr>
        <p:spPr>
          <a:xfrm>
            <a:off x="7772400" y="299916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0.9746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8" name="TextBox 30"/>
          <p:cNvSpPr/>
          <p:nvPr/>
        </p:nvSpPr>
        <p:spPr>
          <a:xfrm>
            <a:off x="9875520" y="299916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5.7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9" name="Rectangle 31"/>
          <p:cNvSpPr/>
          <p:nvPr/>
        </p:nvSpPr>
        <p:spPr>
          <a:xfrm>
            <a:off x="365760" y="3602880"/>
            <a:ext cx="11521080" cy="6397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Box 32"/>
          <p:cNvSpPr/>
          <p:nvPr/>
        </p:nvSpPr>
        <p:spPr>
          <a:xfrm>
            <a:off x="365760" y="371232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E4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1" name="TextBox 33"/>
          <p:cNvSpPr/>
          <p:nvPr/>
        </p:nvSpPr>
        <p:spPr>
          <a:xfrm>
            <a:off x="1554480" y="371232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k-NN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2" name="TextBox 34"/>
          <p:cNvSpPr/>
          <p:nvPr/>
        </p:nvSpPr>
        <p:spPr>
          <a:xfrm>
            <a:off x="5669280" y="371232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0.8121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3" name="TextBox 35"/>
          <p:cNvSpPr/>
          <p:nvPr/>
        </p:nvSpPr>
        <p:spPr>
          <a:xfrm>
            <a:off x="7772400" y="371232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0.9602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4" name="TextBox 36"/>
          <p:cNvSpPr/>
          <p:nvPr/>
        </p:nvSpPr>
        <p:spPr>
          <a:xfrm>
            <a:off x="9875520" y="371232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12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5" name="Rectangle 37"/>
          <p:cNvSpPr/>
          <p:nvPr/>
        </p:nvSpPr>
        <p:spPr>
          <a:xfrm>
            <a:off x="365760" y="4316040"/>
            <a:ext cx="11521080" cy="6397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Box 38"/>
          <p:cNvSpPr/>
          <p:nvPr/>
        </p:nvSpPr>
        <p:spPr>
          <a:xfrm>
            <a:off x="365760" y="442584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E4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7" name="TextBox 39"/>
          <p:cNvSpPr/>
          <p:nvPr/>
        </p:nvSpPr>
        <p:spPr>
          <a:xfrm>
            <a:off x="1554480" y="442584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Random Forest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TextBox 40"/>
          <p:cNvSpPr/>
          <p:nvPr/>
        </p:nvSpPr>
        <p:spPr>
          <a:xfrm>
            <a:off x="5669280" y="442584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1.4754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9" name="TextBox 41"/>
          <p:cNvSpPr/>
          <p:nvPr/>
        </p:nvSpPr>
        <p:spPr>
          <a:xfrm>
            <a:off x="7772400" y="442584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0.8714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TextBox 42"/>
          <p:cNvSpPr/>
          <p:nvPr/>
        </p:nvSpPr>
        <p:spPr>
          <a:xfrm>
            <a:off x="9875520" y="442584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556580"/>
                </a:solidFill>
                <a:latin typeface="Avenir Next Condensed"/>
              </a:rPr>
              <a:t>8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1" name="Rectangle 43"/>
          <p:cNvSpPr/>
          <p:nvPr/>
        </p:nvSpPr>
        <p:spPr>
          <a:xfrm>
            <a:off x="365760" y="5029200"/>
            <a:ext cx="11521080" cy="6397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Box 44"/>
          <p:cNvSpPr/>
          <p:nvPr/>
        </p:nvSpPr>
        <p:spPr>
          <a:xfrm>
            <a:off x="365760" y="513900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3" name="TextBox 45"/>
          <p:cNvSpPr/>
          <p:nvPr/>
        </p:nvSpPr>
        <p:spPr>
          <a:xfrm>
            <a:off x="1554480" y="513900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VotingRegressor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4" name="TextBox 46"/>
          <p:cNvSpPr/>
          <p:nvPr/>
        </p:nvSpPr>
        <p:spPr>
          <a:xfrm>
            <a:off x="5669280" y="513900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0.6485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5" name="TextBox 47"/>
          <p:cNvSpPr/>
          <p:nvPr/>
        </p:nvSpPr>
        <p:spPr>
          <a:xfrm>
            <a:off x="7772400" y="513900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0.9752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6" name="TextBox 48"/>
          <p:cNvSpPr/>
          <p:nvPr/>
        </p:nvSpPr>
        <p:spPr>
          <a:xfrm>
            <a:off x="9875520" y="513900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6.7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7" name="Rectangle 49"/>
          <p:cNvSpPr/>
          <p:nvPr/>
        </p:nvSpPr>
        <p:spPr>
          <a:xfrm>
            <a:off x="365760" y="5742360"/>
            <a:ext cx="11521080" cy="639720"/>
          </a:xfrm>
          <a:prstGeom prst="rect">
            <a:avLst/>
          </a:prstGeom>
          <a:solidFill>
            <a:srgbClr val="e6fa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Box 50"/>
          <p:cNvSpPr/>
          <p:nvPr/>
        </p:nvSpPr>
        <p:spPr>
          <a:xfrm>
            <a:off x="365760" y="5852160"/>
            <a:ext cx="10969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Avenir Next Condensed"/>
              </a:rPr>
              <a:t>E5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" name="TextBox 51"/>
          <p:cNvSpPr/>
          <p:nvPr/>
        </p:nvSpPr>
        <p:spPr>
          <a:xfrm>
            <a:off x="1554480" y="5852160"/>
            <a:ext cx="40230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Avenir Next Condensed"/>
              </a:rPr>
              <a:t>StackingRegressor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0" name="TextBox 52"/>
          <p:cNvSpPr/>
          <p:nvPr/>
        </p:nvSpPr>
        <p:spPr>
          <a:xfrm>
            <a:off x="5669280" y="585216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Avenir Next Condensed"/>
              </a:rPr>
              <a:t>0.6117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1" name="TextBox 53"/>
          <p:cNvSpPr/>
          <p:nvPr/>
        </p:nvSpPr>
        <p:spPr>
          <a:xfrm>
            <a:off x="7772400" y="5852160"/>
            <a:ext cx="2011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Avenir Next Condensed"/>
              </a:rPr>
              <a:t>0.9779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2" name="TextBox 54"/>
          <p:cNvSpPr/>
          <p:nvPr/>
        </p:nvSpPr>
        <p:spPr>
          <a:xfrm>
            <a:off x="9875520" y="5852160"/>
            <a:ext cx="1828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Avenir Next Condensed"/>
              </a:rPr>
              <a:t>7.3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3" name="TextBox 55"/>
          <p:cNvSpPr/>
          <p:nvPr/>
        </p:nvSpPr>
        <p:spPr>
          <a:xfrm>
            <a:off x="365760" y="6400800"/>
            <a:ext cx="11521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★ </a:t>
            </a: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Modelo seleccionado — RMSE 0.6117 cumple todos los criterios de éxito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4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206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207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208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09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10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211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04 | Solucion Final: StackingRegressor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214" name="Rectangle 13"/>
          <p:cNvSpPr/>
          <p:nvPr/>
        </p:nvSpPr>
        <p:spPr>
          <a:xfrm>
            <a:off x="365760" y="1691640"/>
            <a:ext cx="2742840" cy="127980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Box 14"/>
          <p:cNvSpPr/>
          <p:nvPr/>
        </p:nvSpPr>
        <p:spPr>
          <a:xfrm>
            <a:off x="475560" y="1737360"/>
            <a:ext cx="2523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MLP Neural Net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6" name="TextBox 15"/>
          <p:cNvSpPr/>
          <p:nvPr/>
        </p:nvSpPr>
        <p:spPr>
          <a:xfrm>
            <a:off x="475560" y="2212920"/>
            <a:ext cx="25232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ccddff"/>
                </a:solidFill>
                <a:latin typeface="Avenir Next Condensed"/>
              </a:rPr>
              <a:t>RMSE 0.6555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ccddff"/>
                </a:solidFill>
                <a:latin typeface="Avenir Next Condensed"/>
              </a:rPr>
              <a:t>Captura no-linealidades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7" name="Rectangle 16"/>
          <p:cNvSpPr/>
          <p:nvPr/>
        </p:nvSpPr>
        <p:spPr>
          <a:xfrm>
            <a:off x="3291840" y="1691640"/>
            <a:ext cx="2742840" cy="127980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Box 17"/>
          <p:cNvSpPr/>
          <p:nvPr/>
        </p:nvSpPr>
        <p:spPr>
          <a:xfrm>
            <a:off x="3401640" y="1737360"/>
            <a:ext cx="2523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BayesianRidge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9" name="TextBox 18"/>
          <p:cNvSpPr/>
          <p:nvPr/>
        </p:nvSpPr>
        <p:spPr>
          <a:xfrm>
            <a:off x="3401640" y="2212920"/>
            <a:ext cx="25232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ccddff"/>
                </a:solidFill>
                <a:latin typeface="Avenir Next Condensed"/>
              </a:rPr>
              <a:t>RMSE 0.6832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ccddff"/>
                </a:solidFill>
                <a:latin typeface="Avenir Next Condensed"/>
              </a:rPr>
              <a:t>Robustez con incertidumbre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0" name="Rectangle 19"/>
          <p:cNvSpPr/>
          <p:nvPr/>
        </p:nvSpPr>
        <p:spPr>
          <a:xfrm>
            <a:off x="6217920" y="1691640"/>
            <a:ext cx="2742840" cy="127980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Box 20"/>
          <p:cNvSpPr/>
          <p:nvPr/>
        </p:nvSpPr>
        <p:spPr>
          <a:xfrm>
            <a:off x="6327720" y="1737360"/>
            <a:ext cx="25232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ElasticNet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2" name="TextBox 21"/>
          <p:cNvSpPr/>
          <p:nvPr/>
        </p:nvSpPr>
        <p:spPr>
          <a:xfrm>
            <a:off x="6327720" y="2212920"/>
            <a:ext cx="25232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ccddff"/>
                </a:solidFill>
                <a:latin typeface="Avenir Next Condensed"/>
              </a:rPr>
              <a:t>RMSE 0.7021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ccddff"/>
                </a:solidFill>
                <a:latin typeface="Avenir Next Condensed"/>
              </a:rPr>
              <a:t>Regularización combinada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3" name="TextBox 22"/>
          <p:cNvSpPr/>
          <p:nvPr/>
        </p:nvSpPr>
        <p:spPr>
          <a:xfrm>
            <a:off x="365760" y="3063240"/>
            <a:ext cx="88693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d4a017"/>
                </a:solidFill>
                <a:latin typeface="Avenir Next Condensed"/>
              </a:rPr>
              <a:t>predicciones como features →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4" name="Rectangle 23"/>
          <p:cNvSpPr/>
          <p:nvPr/>
        </p:nvSpPr>
        <p:spPr>
          <a:xfrm>
            <a:off x="2286000" y="3493080"/>
            <a:ext cx="4571640" cy="9597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Box 24"/>
          <p:cNvSpPr/>
          <p:nvPr/>
        </p:nvSpPr>
        <p:spPr>
          <a:xfrm>
            <a:off x="2423160" y="3538800"/>
            <a:ext cx="42973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00c896"/>
                </a:solidFill>
                <a:latin typeface="Century Gothic"/>
              </a:rPr>
              <a:t>Meta-modelo: Ridge Regression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6" name="TextBox 25"/>
          <p:cNvSpPr/>
          <p:nvPr/>
        </p:nvSpPr>
        <p:spPr>
          <a:xfrm>
            <a:off x="2423160" y="4005000"/>
            <a:ext cx="4297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ffffff"/>
                </a:solidFill>
                <a:latin typeface="Avenir Next Condensed"/>
              </a:rPr>
              <a:t>Aprende el peso optimo de cada predictor base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7" name="Rectangle 26"/>
          <p:cNvSpPr/>
          <p:nvPr/>
        </p:nvSpPr>
        <p:spPr>
          <a:xfrm>
            <a:off x="9326880" y="1691640"/>
            <a:ext cx="2651400" cy="10512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Box 27"/>
          <p:cNvSpPr/>
          <p:nvPr/>
        </p:nvSpPr>
        <p:spPr>
          <a:xfrm>
            <a:off x="9418320" y="173736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RMSE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9" name="TextBox 28"/>
          <p:cNvSpPr/>
          <p:nvPr/>
        </p:nvSpPr>
        <p:spPr>
          <a:xfrm>
            <a:off x="9418320" y="1984320"/>
            <a:ext cx="2468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00c896"/>
                </a:solidFill>
                <a:latin typeface="Century Gothic"/>
              </a:rPr>
              <a:t>0.6117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0" name="TextBox 29"/>
          <p:cNvSpPr/>
          <p:nvPr/>
        </p:nvSpPr>
        <p:spPr>
          <a:xfrm>
            <a:off x="9418320" y="242316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error ~0.6 g CH4/kg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1" name="Rectangle 30"/>
          <p:cNvSpPr/>
          <p:nvPr/>
        </p:nvSpPr>
        <p:spPr>
          <a:xfrm>
            <a:off x="9326880" y="2880360"/>
            <a:ext cx="2651400" cy="10512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Box 31"/>
          <p:cNvSpPr/>
          <p:nvPr/>
        </p:nvSpPr>
        <p:spPr>
          <a:xfrm>
            <a:off x="9418320" y="292608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R²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3" name="TextBox 32"/>
          <p:cNvSpPr/>
          <p:nvPr/>
        </p:nvSpPr>
        <p:spPr>
          <a:xfrm>
            <a:off x="9418320" y="3173040"/>
            <a:ext cx="2468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00c896"/>
                </a:solidFill>
                <a:latin typeface="Century Gothic"/>
              </a:rPr>
              <a:t>0.9779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4" name="TextBox 33"/>
          <p:cNvSpPr/>
          <p:nvPr/>
        </p:nvSpPr>
        <p:spPr>
          <a:xfrm>
            <a:off x="9418320" y="361188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97.8% varianza explicada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5" name="Rectangle 34"/>
          <p:cNvSpPr/>
          <p:nvPr/>
        </p:nvSpPr>
        <p:spPr>
          <a:xfrm>
            <a:off x="9326880" y="4069080"/>
            <a:ext cx="2651400" cy="10512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Box 35"/>
          <p:cNvSpPr/>
          <p:nvPr/>
        </p:nvSpPr>
        <p:spPr>
          <a:xfrm>
            <a:off x="9418320" y="411480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Latencia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7" name="TextBox 36"/>
          <p:cNvSpPr/>
          <p:nvPr/>
        </p:nvSpPr>
        <p:spPr>
          <a:xfrm>
            <a:off x="9418320" y="4361760"/>
            <a:ext cx="2468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00c896"/>
                </a:solidFill>
                <a:latin typeface="Century Gothic"/>
              </a:rPr>
              <a:t>7.3 ms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8" name="TextBox 37"/>
          <p:cNvSpPr/>
          <p:nvPr/>
        </p:nvSpPr>
        <p:spPr>
          <a:xfrm>
            <a:off x="9418320" y="480060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tiempo real en campo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9" name="Rectangle 38"/>
          <p:cNvSpPr/>
          <p:nvPr/>
        </p:nvSpPr>
        <p:spPr>
          <a:xfrm>
            <a:off x="9326880" y="5257800"/>
            <a:ext cx="2651400" cy="10512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Box 39"/>
          <p:cNvSpPr/>
          <p:nvPr/>
        </p:nvSpPr>
        <p:spPr>
          <a:xfrm>
            <a:off x="9418320" y="530352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Mejora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1" name="TextBox 40"/>
          <p:cNvSpPr/>
          <p:nvPr/>
        </p:nvSpPr>
        <p:spPr>
          <a:xfrm>
            <a:off x="9418320" y="5550480"/>
            <a:ext cx="24685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00c896"/>
                </a:solidFill>
                <a:latin typeface="Century Gothic"/>
              </a:rPr>
              <a:t>-15.8%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2" name="TextBox 41"/>
          <p:cNvSpPr/>
          <p:nvPr/>
        </p:nvSpPr>
        <p:spPr>
          <a:xfrm>
            <a:off x="9418320" y="598932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vs baseline Ridge E3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3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245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246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247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48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49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250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05 |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Rec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ome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nda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cion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es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Co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mer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cial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es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253" name="Rectangle 13"/>
          <p:cNvSpPr/>
          <p:nvPr/>
        </p:nvSpPr>
        <p:spPr>
          <a:xfrm>
            <a:off x="365760" y="1691640"/>
            <a:ext cx="3748680" cy="5025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Box 14"/>
          <p:cNvSpPr/>
          <p:nvPr/>
        </p:nvSpPr>
        <p:spPr>
          <a:xfrm>
            <a:off x="502920" y="1719000"/>
            <a:ext cx="347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0-3 meses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55" name="Rectangle 15"/>
          <p:cNvSpPr/>
          <p:nvPr/>
        </p:nvSpPr>
        <p:spPr>
          <a:xfrm>
            <a:off x="365760" y="228600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Box 16"/>
          <p:cNvSpPr/>
          <p:nvPr/>
        </p:nvSpPr>
        <p:spPr>
          <a:xfrm>
            <a:off x="530280" y="2340720"/>
            <a:ext cx="3428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Desplegar API REST en GCP Cloud Run ($31/mes)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7" name="Rectangle 17"/>
          <p:cNvSpPr/>
          <p:nvPr/>
        </p:nvSpPr>
        <p:spPr>
          <a:xfrm>
            <a:off x="365760" y="356616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Box 18"/>
          <p:cNvSpPr/>
          <p:nvPr/>
        </p:nvSpPr>
        <p:spPr>
          <a:xfrm>
            <a:off x="530280" y="3620880"/>
            <a:ext cx="3428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Integrar dashboard con sistema de gestión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59" name="Rectangle 19"/>
          <p:cNvSpPr/>
          <p:nvPr/>
        </p:nvSpPr>
        <p:spPr>
          <a:xfrm>
            <a:off x="365760" y="484632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Box 20"/>
          <p:cNvSpPr/>
          <p:nvPr/>
        </p:nvSpPr>
        <p:spPr>
          <a:xfrm>
            <a:off x="530280" y="4901040"/>
            <a:ext cx="3428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Capacitar 2-3 operadores / veterinarios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1" name="Rectangle 21"/>
          <p:cNvSpPr/>
          <p:nvPr/>
        </p:nvSpPr>
        <p:spPr>
          <a:xfrm>
            <a:off x="4343400" y="1691640"/>
            <a:ext cx="3748680" cy="50256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Box 22"/>
          <p:cNvSpPr/>
          <p:nvPr/>
        </p:nvSpPr>
        <p:spPr>
          <a:xfrm>
            <a:off x="4480560" y="1719000"/>
            <a:ext cx="347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3-6 meses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63" name="Rectangle 23"/>
          <p:cNvSpPr/>
          <p:nvPr/>
        </p:nvSpPr>
        <p:spPr>
          <a:xfrm>
            <a:off x="4343400" y="228600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Box 24"/>
          <p:cNvSpPr/>
          <p:nvPr/>
        </p:nvSpPr>
        <p:spPr>
          <a:xfrm>
            <a:off x="4507920" y="2340720"/>
            <a:ext cx="3428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Ampliar dataset con 3+ granjas adicionales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5" name="Rectangle 25"/>
          <p:cNvSpPr/>
          <p:nvPr/>
        </p:nvSpPr>
        <p:spPr>
          <a:xfrm>
            <a:off x="4343400" y="356616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Box 26"/>
          <p:cNvSpPr/>
          <p:nvPr/>
        </p:nvSpPr>
        <p:spPr>
          <a:xfrm>
            <a:off x="4507920" y="3620880"/>
            <a:ext cx="3428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Reentrenamiento mensual automatizado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7" name="Rectangle 27"/>
          <p:cNvSpPr/>
          <p:nvPr/>
        </p:nvSpPr>
        <p:spPr>
          <a:xfrm>
            <a:off x="4343400" y="484632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Box 28"/>
          <p:cNvSpPr/>
          <p:nvPr/>
        </p:nvSpPr>
        <p:spPr>
          <a:xfrm>
            <a:off x="4507920" y="4901040"/>
            <a:ext cx="3428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Establecer KPIs de reducción de metano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69" name="Rectangle 29"/>
          <p:cNvSpPr/>
          <p:nvPr/>
        </p:nvSpPr>
        <p:spPr>
          <a:xfrm>
            <a:off x="8321040" y="1691640"/>
            <a:ext cx="3748680" cy="50256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Box 30"/>
          <p:cNvSpPr/>
          <p:nvPr/>
        </p:nvSpPr>
        <p:spPr>
          <a:xfrm>
            <a:off x="8458200" y="1719000"/>
            <a:ext cx="3474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6-12 meses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71" name="Rectangle 31"/>
          <p:cNvSpPr/>
          <p:nvPr/>
        </p:nvSpPr>
        <p:spPr>
          <a:xfrm>
            <a:off x="8321040" y="228600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Box 32"/>
          <p:cNvSpPr/>
          <p:nvPr/>
        </p:nvSpPr>
        <p:spPr>
          <a:xfrm>
            <a:off x="8485560" y="2340720"/>
            <a:ext cx="3428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Certificación de créditos de carbono (Verra)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3" name="Rectangle 33"/>
          <p:cNvSpPr/>
          <p:nvPr/>
        </p:nvSpPr>
        <p:spPr>
          <a:xfrm>
            <a:off x="8321040" y="356616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Box 34"/>
          <p:cNvSpPr/>
          <p:nvPr/>
        </p:nvSpPr>
        <p:spPr>
          <a:xfrm>
            <a:off x="8485560" y="3620880"/>
            <a:ext cx="3428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Expansión a modulo predicción de leche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5" name="Rectangle 35"/>
          <p:cNvSpPr/>
          <p:nvPr/>
        </p:nvSpPr>
        <p:spPr>
          <a:xfrm>
            <a:off x="8321040" y="4846320"/>
            <a:ext cx="3748680" cy="1170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Box 36"/>
          <p:cNvSpPr/>
          <p:nvPr/>
        </p:nvSpPr>
        <p:spPr>
          <a:xfrm>
            <a:off x="8485560" y="4901040"/>
            <a:ext cx="3428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Alianza con proveedores de nutracéuticos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7" name="Rectangle 37"/>
          <p:cNvSpPr/>
          <p:nvPr/>
        </p:nvSpPr>
        <p:spPr>
          <a:xfrm>
            <a:off x="466200" y="6192720"/>
            <a:ext cx="11521080" cy="3470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Box 38"/>
          <p:cNvSpPr/>
          <p:nvPr/>
        </p:nvSpPr>
        <p:spPr>
          <a:xfrm>
            <a:off x="649080" y="6210720"/>
            <a:ext cx="2742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161e44"/>
                </a:solidFill>
                <a:latin typeface="Century Gothic"/>
              </a:rPr>
              <a:t>Plataforma cloud recomendada: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9" name="Rectangle 39"/>
          <p:cNvSpPr/>
          <p:nvPr/>
        </p:nvSpPr>
        <p:spPr>
          <a:xfrm>
            <a:off x="3575160" y="6210720"/>
            <a:ext cx="1965600" cy="3106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GCP 8.85 ★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0" name="Rectangle 40"/>
          <p:cNvSpPr/>
          <p:nvPr/>
        </p:nvSpPr>
        <p:spPr>
          <a:xfrm>
            <a:off x="5678280" y="6210720"/>
            <a:ext cx="1965600" cy="310680"/>
          </a:xfrm>
          <a:prstGeom prst="rect">
            <a:avLst/>
          </a:prstGeom>
          <a:solidFill>
            <a:srgbClr val="ccccc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AWS 8.55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1" name="Rectangle 41"/>
          <p:cNvSpPr/>
          <p:nvPr/>
        </p:nvSpPr>
        <p:spPr>
          <a:xfrm>
            <a:off x="7781400" y="6210720"/>
            <a:ext cx="1965600" cy="310680"/>
          </a:xfrm>
          <a:prstGeom prst="rect">
            <a:avLst/>
          </a:prstGeom>
          <a:solidFill>
            <a:srgbClr val="ccccc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Azure 8.50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2" name="Rectangle 42"/>
          <p:cNvSpPr/>
          <p:nvPr/>
        </p:nvSpPr>
        <p:spPr>
          <a:xfrm>
            <a:off x="9884520" y="6210720"/>
            <a:ext cx="1965600" cy="310680"/>
          </a:xfrm>
          <a:prstGeom prst="rect">
            <a:avLst/>
          </a:prstGeom>
          <a:solidFill>
            <a:srgbClr val="dddddd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IBM Watson 6.55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83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285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286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287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88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289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290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8000"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05B |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Arquitectura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Técnica en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GCP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(Producción)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293" name="Rectangle 13"/>
          <p:cNvSpPr/>
          <p:nvPr/>
        </p:nvSpPr>
        <p:spPr>
          <a:xfrm>
            <a:off x="365760" y="164592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Rectangle 14"/>
          <p:cNvSpPr/>
          <p:nvPr/>
        </p:nvSpPr>
        <p:spPr>
          <a:xfrm>
            <a:off x="365760" y="164592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Box 15"/>
          <p:cNvSpPr/>
          <p:nvPr/>
        </p:nvSpPr>
        <p:spPr>
          <a:xfrm>
            <a:off x="502920" y="170064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Frontend — Veterinario / Web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96" name="TextBox 16"/>
          <p:cNvSpPr/>
          <p:nvPr/>
        </p:nvSpPr>
        <p:spPr>
          <a:xfrm>
            <a:off x="502920" y="2194560"/>
            <a:ext cx="5394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Dashboard web (Firebase Hosting — gratuito)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App móvil en roadmap (prioridad alta)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Interfaz: ingresa datos → ve predicción en 1 seg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Modo offline con sincronización posterior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7" name="Rectangle 17"/>
          <p:cNvSpPr/>
          <p:nvPr/>
        </p:nvSpPr>
        <p:spPr>
          <a:xfrm>
            <a:off x="6355080" y="164592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Rectangle 18"/>
          <p:cNvSpPr/>
          <p:nvPr/>
        </p:nvSpPr>
        <p:spPr>
          <a:xfrm>
            <a:off x="6355080" y="164592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Box 19"/>
          <p:cNvSpPr/>
          <p:nvPr/>
        </p:nvSpPr>
        <p:spPr>
          <a:xfrm>
            <a:off x="6492240" y="170064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API — Cloud Run (FastAPI)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0" name="TextBox 20"/>
          <p:cNvSpPr/>
          <p:nvPr/>
        </p:nvSpPr>
        <p:spPr>
          <a:xfrm>
            <a:off x="6492240" y="2194560"/>
            <a:ext cx="5394600" cy="10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Containerizada en Docker — imagen &lt; 200 MB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Serverless: 0-10 instancias según demanda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Endpoint: POST /predict — latencia: 7.3 ms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HTTPS + TLS 1.3 · JWT auth (24h) · Rate limit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Costo: $126/ano (min-instances=1)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1" name="Rectangle 21"/>
          <p:cNvSpPr/>
          <p:nvPr/>
        </p:nvSpPr>
        <p:spPr>
          <a:xfrm>
            <a:off x="365760" y="406908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Rectangle 22"/>
          <p:cNvSpPr/>
          <p:nvPr/>
        </p:nvSpPr>
        <p:spPr>
          <a:xfrm>
            <a:off x="365760" y="40690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Box 23"/>
          <p:cNvSpPr/>
          <p:nvPr/>
        </p:nvSpPr>
        <p:spPr>
          <a:xfrm>
            <a:off x="502920" y="41238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Modelo — Vertex AI + MLflow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4" name="TextBox 24"/>
          <p:cNvSpPr/>
          <p:nvPr/>
        </p:nvSpPr>
        <p:spPr>
          <a:xfrm>
            <a:off x="502920" y="4617720"/>
            <a:ext cx="5394600" cy="10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StackingRegressor sklearn serializado (pickle)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Reentrenamiento automático mensual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Drift detection: KS test (p&lt;0.05) + RMSE +10%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Versionado de modelos con rollback inmediato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Costo: $315/ano (4 reentrenamientos/ano)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5" name="Rectangle 25"/>
          <p:cNvSpPr/>
          <p:nvPr/>
        </p:nvSpPr>
        <p:spPr>
          <a:xfrm>
            <a:off x="6355080" y="406908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Rectangle 26"/>
          <p:cNvSpPr/>
          <p:nvPr/>
        </p:nvSpPr>
        <p:spPr>
          <a:xfrm>
            <a:off x="6355080" y="40690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Box 27"/>
          <p:cNvSpPr/>
          <p:nvPr/>
        </p:nvSpPr>
        <p:spPr>
          <a:xfrm>
            <a:off x="6492240" y="41238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Datos y Monitoreo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08" name="TextBox 28"/>
          <p:cNvSpPr/>
          <p:nvPr/>
        </p:nvSpPr>
        <p:spPr>
          <a:xfrm>
            <a:off x="6492240" y="4617720"/>
            <a:ext cx="5394600" cy="10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Cloud SQL PostgreSQL: historial de predicciones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Cloud Storage: datasets, artefactos, backups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Cloud Monitoring: SLOs, alertas, uptime checks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Logs de auditoria (retención 90 días — LFPDPPP)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Costo total datos+monitoreo: $261/ano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9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311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312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313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314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315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316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5845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8000"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06 |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SLOs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y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Monit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oreo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en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Produ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cción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subTitle"/>
          </p:nvPr>
        </p:nvSpPr>
        <p:spPr>
          <a:xfrm>
            <a:off x="326880" y="148896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319" name="Rectangle 13"/>
          <p:cNvSpPr/>
          <p:nvPr/>
        </p:nvSpPr>
        <p:spPr>
          <a:xfrm>
            <a:off x="365760" y="1664280"/>
            <a:ext cx="55774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SERVICE SLOs — API en Produccion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20" name="Rectangle 14"/>
          <p:cNvSpPr/>
          <p:nvPr/>
        </p:nvSpPr>
        <p:spPr>
          <a:xfrm>
            <a:off x="365760" y="2176200"/>
            <a:ext cx="557748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Box 15"/>
          <p:cNvSpPr/>
          <p:nvPr/>
        </p:nvSpPr>
        <p:spPr>
          <a:xfrm>
            <a:off x="502920" y="2221920"/>
            <a:ext cx="2194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P50 Latencia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2" name="TextBox 16"/>
          <p:cNvSpPr/>
          <p:nvPr/>
        </p:nvSpPr>
        <p:spPr>
          <a:xfrm>
            <a:off x="2697480" y="2221920"/>
            <a:ext cx="1371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≤ </a:t>
            </a: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50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3" name="TextBox 17"/>
          <p:cNvSpPr/>
          <p:nvPr/>
        </p:nvSpPr>
        <p:spPr>
          <a:xfrm>
            <a:off x="4114800" y="2221920"/>
            <a:ext cx="1828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mediana de requests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4" name="Rectangle 18"/>
          <p:cNvSpPr/>
          <p:nvPr/>
        </p:nvSpPr>
        <p:spPr>
          <a:xfrm>
            <a:off x="365760" y="2853000"/>
            <a:ext cx="5577480" cy="603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Box 19"/>
          <p:cNvSpPr/>
          <p:nvPr/>
        </p:nvSpPr>
        <p:spPr>
          <a:xfrm>
            <a:off x="502920" y="2898720"/>
            <a:ext cx="2194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P95 Latencia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26" name="TextBox 20"/>
          <p:cNvSpPr/>
          <p:nvPr/>
        </p:nvSpPr>
        <p:spPr>
          <a:xfrm>
            <a:off x="2697480" y="2898720"/>
            <a:ext cx="1371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≤ </a:t>
            </a: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200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7" name="TextBox 21"/>
          <p:cNvSpPr/>
          <p:nvPr/>
        </p:nvSpPr>
        <p:spPr>
          <a:xfrm>
            <a:off x="4114800" y="2898720"/>
            <a:ext cx="1828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percentíl 95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8" name="Rectangle 22"/>
          <p:cNvSpPr/>
          <p:nvPr/>
        </p:nvSpPr>
        <p:spPr>
          <a:xfrm>
            <a:off x="365760" y="3529440"/>
            <a:ext cx="557748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Box 23"/>
          <p:cNvSpPr/>
          <p:nvPr/>
        </p:nvSpPr>
        <p:spPr>
          <a:xfrm>
            <a:off x="502920" y="3575160"/>
            <a:ext cx="2194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P99 Latencia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0" name="TextBox 24"/>
          <p:cNvSpPr/>
          <p:nvPr/>
        </p:nvSpPr>
        <p:spPr>
          <a:xfrm>
            <a:off x="2697480" y="3575160"/>
            <a:ext cx="1371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≤ </a:t>
            </a: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500 ms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1" name="TextBox 25"/>
          <p:cNvSpPr/>
          <p:nvPr/>
        </p:nvSpPr>
        <p:spPr>
          <a:xfrm>
            <a:off x="4114800" y="3575160"/>
            <a:ext cx="1828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percentíl 99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2" name="Rectangle 26"/>
          <p:cNvSpPr/>
          <p:nvPr/>
        </p:nvSpPr>
        <p:spPr>
          <a:xfrm>
            <a:off x="365760" y="4206240"/>
            <a:ext cx="5577480" cy="603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Box 27"/>
          <p:cNvSpPr/>
          <p:nvPr/>
        </p:nvSpPr>
        <p:spPr>
          <a:xfrm>
            <a:off x="502920" y="4251960"/>
            <a:ext cx="2194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Uptime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4" name="TextBox 28"/>
          <p:cNvSpPr/>
          <p:nvPr/>
        </p:nvSpPr>
        <p:spPr>
          <a:xfrm>
            <a:off x="2697480" y="4251960"/>
            <a:ext cx="1371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99.5 %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5" name="TextBox 29"/>
          <p:cNvSpPr/>
          <p:nvPr/>
        </p:nvSpPr>
        <p:spPr>
          <a:xfrm>
            <a:off x="4114800" y="4251960"/>
            <a:ext cx="1828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≤ </a:t>
            </a: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43.8 h downtime/año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6" name="Rectangle 30"/>
          <p:cNvSpPr/>
          <p:nvPr/>
        </p:nvSpPr>
        <p:spPr>
          <a:xfrm>
            <a:off x="365760" y="4883040"/>
            <a:ext cx="557748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Box 31"/>
          <p:cNvSpPr/>
          <p:nvPr/>
        </p:nvSpPr>
        <p:spPr>
          <a:xfrm>
            <a:off x="502920" y="4928760"/>
            <a:ext cx="2194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Error Rate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38" name="TextBox 32"/>
          <p:cNvSpPr/>
          <p:nvPr/>
        </p:nvSpPr>
        <p:spPr>
          <a:xfrm>
            <a:off x="2697480" y="4928760"/>
            <a:ext cx="1371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&lt; 1 %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39" name="TextBox 33"/>
          <p:cNvSpPr/>
          <p:nvPr/>
        </p:nvSpPr>
        <p:spPr>
          <a:xfrm>
            <a:off x="4114800" y="4928760"/>
            <a:ext cx="1828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errores HTTP 5xx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0" name="Rectangle 34"/>
          <p:cNvSpPr/>
          <p:nvPr/>
        </p:nvSpPr>
        <p:spPr>
          <a:xfrm>
            <a:off x="365760" y="5559480"/>
            <a:ext cx="5577480" cy="603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Box 35"/>
          <p:cNvSpPr/>
          <p:nvPr/>
        </p:nvSpPr>
        <p:spPr>
          <a:xfrm>
            <a:off x="502920" y="5605200"/>
            <a:ext cx="2194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Error Budget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2" name="TextBox 36"/>
          <p:cNvSpPr/>
          <p:nvPr/>
        </p:nvSpPr>
        <p:spPr>
          <a:xfrm>
            <a:off x="2697480" y="5605200"/>
            <a:ext cx="1371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00c896"/>
                </a:solidFill>
                <a:latin typeface="Century Gothic"/>
              </a:rPr>
              <a:t>0.5 %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3" name="TextBox 37"/>
          <p:cNvSpPr/>
          <p:nvPr/>
        </p:nvSpPr>
        <p:spPr>
          <a:xfrm>
            <a:off x="4114800" y="5605200"/>
            <a:ext cx="18284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556580"/>
                </a:solidFill>
                <a:latin typeface="Avenir Next Condensed"/>
              </a:rPr>
              <a:t>~43.8 h/año para mantenimiento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4" name="Rectangle 38"/>
          <p:cNvSpPr/>
          <p:nvPr/>
        </p:nvSpPr>
        <p:spPr>
          <a:xfrm>
            <a:off x="6263640" y="1124640"/>
            <a:ext cx="5668920" cy="43848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MONITOREO DE MODELO (ML Drift)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45" name="Rectangle 39"/>
          <p:cNvSpPr/>
          <p:nvPr/>
        </p:nvSpPr>
        <p:spPr>
          <a:xfrm>
            <a:off x="6263640" y="1636920"/>
            <a:ext cx="566892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Rectangle 40"/>
          <p:cNvSpPr/>
          <p:nvPr/>
        </p:nvSpPr>
        <p:spPr>
          <a:xfrm>
            <a:off x="6263640" y="1636920"/>
            <a:ext cx="5668920" cy="34704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Box 41"/>
          <p:cNvSpPr/>
          <p:nvPr/>
        </p:nvSpPr>
        <p:spPr>
          <a:xfrm>
            <a:off x="6400800" y="1673280"/>
            <a:ext cx="53946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KPIs del modelo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48" name="TextBox 42"/>
          <p:cNvSpPr/>
          <p:nvPr/>
        </p:nvSpPr>
        <p:spPr>
          <a:xfrm>
            <a:off x="6400800" y="2057400"/>
            <a:ext cx="5394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RMSE degradation &gt; 10% → trigger retraining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KS test p &lt; 0.05 → data drift detectado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Feature importance shift → revisar pipeline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49" name="Rectangle 43"/>
          <p:cNvSpPr/>
          <p:nvPr/>
        </p:nvSpPr>
        <p:spPr>
          <a:xfrm>
            <a:off x="6263640" y="2862000"/>
            <a:ext cx="566892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Rectangle 44"/>
          <p:cNvSpPr/>
          <p:nvPr/>
        </p:nvSpPr>
        <p:spPr>
          <a:xfrm>
            <a:off x="6263640" y="2862000"/>
            <a:ext cx="5668920" cy="34704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Box 45"/>
          <p:cNvSpPr/>
          <p:nvPr/>
        </p:nvSpPr>
        <p:spPr>
          <a:xfrm>
            <a:off x="6400800" y="2898720"/>
            <a:ext cx="53946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Alert Policies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2" name="TextBox 46"/>
          <p:cNvSpPr/>
          <p:nvPr/>
        </p:nvSpPr>
        <p:spPr>
          <a:xfrm>
            <a:off x="6400800" y="3282840"/>
            <a:ext cx="5394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P95 &gt; 150 ms por 5 min → alerta Tier 1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Error rate &gt; 0.5% en 10 min → alerta Tier 1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RMSE &gt; 0.673 (10% above baseline) → alerta Tier 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3" name="Rectangle 47"/>
          <p:cNvSpPr/>
          <p:nvPr/>
        </p:nvSpPr>
        <p:spPr>
          <a:xfrm>
            <a:off x="6263640" y="4087440"/>
            <a:ext cx="566892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Rectangle 48"/>
          <p:cNvSpPr/>
          <p:nvPr/>
        </p:nvSpPr>
        <p:spPr>
          <a:xfrm>
            <a:off x="6263640" y="4087440"/>
            <a:ext cx="5668920" cy="34704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Box 49"/>
          <p:cNvSpPr/>
          <p:nvPr/>
        </p:nvSpPr>
        <p:spPr>
          <a:xfrm>
            <a:off x="6400800" y="4124160"/>
            <a:ext cx="53946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Dashboard GCP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56" name="TextBox 50"/>
          <p:cNvSpPr/>
          <p:nvPr/>
        </p:nvSpPr>
        <p:spPr>
          <a:xfrm>
            <a:off x="6400800" y="4507920"/>
            <a:ext cx="5394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Cloud Monitoring: latencia, throughput, errors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Vertex AI: drift metrics, model versions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MLflow: experimentos y artefactos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57" name="Rectangle 51"/>
          <p:cNvSpPr/>
          <p:nvPr/>
        </p:nvSpPr>
        <p:spPr>
          <a:xfrm>
            <a:off x="6263640" y="5312880"/>
            <a:ext cx="566892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Rectangle 52"/>
          <p:cNvSpPr/>
          <p:nvPr/>
        </p:nvSpPr>
        <p:spPr>
          <a:xfrm>
            <a:off x="6263640" y="5312880"/>
            <a:ext cx="5668920" cy="34704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Box 53"/>
          <p:cNvSpPr/>
          <p:nvPr/>
        </p:nvSpPr>
        <p:spPr>
          <a:xfrm>
            <a:off x="6400800" y="5349240"/>
            <a:ext cx="53946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Reentrenamiento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60" name="TextBox 54"/>
          <p:cNvSpPr/>
          <p:nvPr/>
        </p:nvSpPr>
        <p:spPr>
          <a:xfrm>
            <a:off x="6400800" y="5733360"/>
            <a:ext cx="5394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Trigger automático o manual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Revalidación con hold-out reciente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Promoción con aprobación del equipo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61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363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364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365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366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367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368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8000"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07 | Seguridad y Compliance (LFPDPPP)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371" name="Rectangle 13"/>
          <p:cNvSpPr/>
          <p:nvPr/>
        </p:nvSpPr>
        <p:spPr>
          <a:xfrm>
            <a:off x="365760" y="1664280"/>
            <a:ext cx="713196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ROLES IAM — Control de Acceso (GCP)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72" name="Rectangle 14"/>
          <p:cNvSpPr/>
          <p:nvPr/>
        </p:nvSpPr>
        <p:spPr>
          <a:xfrm>
            <a:off x="365760" y="2176200"/>
            <a:ext cx="713196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Box 15"/>
          <p:cNvSpPr/>
          <p:nvPr/>
        </p:nvSpPr>
        <p:spPr>
          <a:xfrm>
            <a:off x="502920" y="2221920"/>
            <a:ext cx="2377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161e44"/>
                </a:solidFill>
                <a:latin typeface="Avenir Next Condensed"/>
              </a:rPr>
              <a:t>Admin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4" name="TextBox 16"/>
          <p:cNvSpPr/>
          <p:nvPr/>
        </p:nvSpPr>
        <p:spPr>
          <a:xfrm>
            <a:off x="2880360" y="222192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Equipo ML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5" name="TextBox 17"/>
          <p:cNvSpPr/>
          <p:nvPr/>
        </p:nvSpPr>
        <p:spPr>
          <a:xfrm>
            <a:off x="4937760" y="222192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Gestión total del stack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6" name="Rectangle 18"/>
          <p:cNvSpPr/>
          <p:nvPr/>
        </p:nvSpPr>
        <p:spPr>
          <a:xfrm>
            <a:off x="365760" y="2853000"/>
            <a:ext cx="7131960" cy="603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TextBox 19"/>
          <p:cNvSpPr/>
          <p:nvPr/>
        </p:nvSpPr>
        <p:spPr>
          <a:xfrm>
            <a:off x="502920" y="2898720"/>
            <a:ext cx="2377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161e44"/>
                </a:solidFill>
                <a:latin typeface="Avenir Next Condensed"/>
              </a:rPr>
              <a:t>Veterinario / Operador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8" name="TextBox 20"/>
          <p:cNvSpPr/>
          <p:nvPr/>
        </p:nvSpPr>
        <p:spPr>
          <a:xfrm>
            <a:off x="2880360" y="289872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Usuarios de campo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79" name="TextBox 21"/>
          <p:cNvSpPr/>
          <p:nvPr/>
        </p:nvSpPr>
        <p:spPr>
          <a:xfrm>
            <a:off x="4937760" y="289872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Consulta de predicciones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0" name="Rectangle 22"/>
          <p:cNvSpPr/>
          <p:nvPr/>
        </p:nvSpPr>
        <p:spPr>
          <a:xfrm>
            <a:off x="365760" y="3529440"/>
            <a:ext cx="713196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Box 23"/>
          <p:cNvSpPr/>
          <p:nvPr/>
        </p:nvSpPr>
        <p:spPr>
          <a:xfrm>
            <a:off x="502920" y="3575160"/>
            <a:ext cx="2377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161e44"/>
                </a:solidFill>
                <a:latin typeface="Avenir Next Condensed"/>
              </a:rPr>
              <a:t>Pipeline SA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2" name="TextBox 24"/>
          <p:cNvSpPr/>
          <p:nvPr/>
        </p:nvSpPr>
        <p:spPr>
          <a:xfrm>
            <a:off x="2880360" y="357516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Service Account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3" name="TextBox 25"/>
          <p:cNvSpPr/>
          <p:nvPr/>
        </p:nvSpPr>
        <p:spPr>
          <a:xfrm>
            <a:off x="4937760" y="357516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Reentrenamiento automatizado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4" name="Rectangle 26"/>
          <p:cNvSpPr/>
          <p:nvPr/>
        </p:nvSpPr>
        <p:spPr>
          <a:xfrm>
            <a:off x="365760" y="4206240"/>
            <a:ext cx="7131960" cy="6030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Box 27"/>
          <p:cNvSpPr/>
          <p:nvPr/>
        </p:nvSpPr>
        <p:spPr>
          <a:xfrm>
            <a:off x="502920" y="4251960"/>
            <a:ext cx="2377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161e44"/>
                </a:solidFill>
                <a:latin typeface="Avenir Next Condensed"/>
              </a:rPr>
              <a:t>Sponsor / Readonly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6" name="TextBox 28"/>
          <p:cNvSpPr/>
          <p:nvPr/>
        </p:nvSpPr>
        <p:spPr>
          <a:xfrm>
            <a:off x="2880360" y="425196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Dirección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87" name="TextBox 29"/>
          <p:cNvSpPr/>
          <p:nvPr/>
        </p:nvSpPr>
        <p:spPr>
          <a:xfrm>
            <a:off x="4937760" y="425196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Reportes y dashboard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8" name="Rectangle 30"/>
          <p:cNvSpPr/>
          <p:nvPr/>
        </p:nvSpPr>
        <p:spPr>
          <a:xfrm>
            <a:off x="365760" y="4883040"/>
            <a:ext cx="713196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Box 31"/>
          <p:cNvSpPr/>
          <p:nvPr/>
        </p:nvSpPr>
        <p:spPr>
          <a:xfrm>
            <a:off x="502920" y="4928760"/>
            <a:ext cx="2377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161e44"/>
                </a:solidFill>
                <a:latin typeface="Avenir Next Condensed"/>
              </a:rPr>
              <a:t>Auditor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0" name="TextBox 32"/>
          <p:cNvSpPr/>
          <p:nvPr/>
        </p:nvSpPr>
        <p:spPr>
          <a:xfrm>
            <a:off x="2880360" y="4928760"/>
            <a:ext cx="20113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Cumplimiento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1" name="TextBox 33"/>
          <p:cNvSpPr/>
          <p:nvPr/>
        </p:nvSpPr>
        <p:spPr>
          <a:xfrm>
            <a:off x="4937760" y="4928760"/>
            <a:ext cx="24685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Acceso solo-lectura a logs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2" name="Rectangle 34"/>
          <p:cNvSpPr/>
          <p:nvPr/>
        </p:nvSpPr>
        <p:spPr>
          <a:xfrm>
            <a:off x="7772400" y="1325880"/>
            <a:ext cx="4114440" cy="43848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Seguridad y Compliance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93" name="Rectangle 35"/>
          <p:cNvSpPr/>
          <p:nvPr/>
        </p:nvSpPr>
        <p:spPr>
          <a:xfrm>
            <a:off x="7772400" y="1837800"/>
            <a:ext cx="411444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Rectangle 36"/>
          <p:cNvSpPr/>
          <p:nvPr/>
        </p:nvSpPr>
        <p:spPr>
          <a:xfrm>
            <a:off x="7772400" y="1837800"/>
            <a:ext cx="4114440" cy="34704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Box 37"/>
          <p:cNvSpPr/>
          <p:nvPr/>
        </p:nvSpPr>
        <p:spPr>
          <a:xfrm>
            <a:off x="7909560" y="187452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Transporte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396" name="TextBox 38"/>
          <p:cNvSpPr/>
          <p:nvPr/>
        </p:nvSpPr>
        <p:spPr>
          <a:xfrm>
            <a:off x="7909560" y="2258640"/>
            <a:ext cx="38401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HTTPS + TLS 1.3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Certificados GCP-managed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97" name="Rectangle 39"/>
          <p:cNvSpPr/>
          <p:nvPr/>
        </p:nvSpPr>
        <p:spPr>
          <a:xfrm>
            <a:off x="7772400" y="3063240"/>
            <a:ext cx="411444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Rectangle 40"/>
          <p:cNvSpPr/>
          <p:nvPr/>
        </p:nvSpPr>
        <p:spPr>
          <a:xfrm>
            <a:off x="7772400" y="3063240"/>
            <a:ext cx="4114440" cy="34704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Box 41"/>
          <p:cNvSpPr/>
          <p:nvPr/>
        </p:nvSpPr>
        <p:spPr>
          <a:xfrm>
            <a:off x="7909560" y="309996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Autenticacion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0" name="TextBox 42"/>
          <p:cNvSpPr/>
          <p:nvPr/>
        </p:nvSpPr>
        <p:spPr>
          <a:xfrm>
            <a:off x="7909560" y="3483720"/>
            <a:ext cx="38401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JWT tokens (24h expiry)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OAuth 2.0 con Google IAP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1" name="Rectangle 43"/>
          <p:cNvSpPr/>
          <p:nvPr/>
        </p:nvSpPr>
        <p:spPr>
          <a:xfrm>
            <a:off x="7772400" y="4288680"/>
            <a:ext cx="411444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Rectangle 44"/>
          <p:cNvSpPr/>
          <p:nvPr/>
        </p:nvSpPr>
        <p:spPr>
          <a:xfrm>
            <a:off x="7772400" y="4288680"/>
            <a:ext cx="4114440" cy="34704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TextBox 45"/>
          <p:cNvSpPr/>
          <p:nvPr/>
        </p:nvSpPr>
        <p:spPr>
          <a:xfrm>
            <a:off x="7909560" y="432504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API Protection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4" name="TextBox 46"/>
          <p:cNvSpPr/>
          <p:nvPr/>
        </p:nvSpPr>
        <p:spPr>
          <a:xfrm>
            <a:off x="7909560" y="4709160"/>
            <a:ext cx="38401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Rate limiting: 100 req/min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Input validation + sanitizacion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5" name="Rectangle 47"/>
          <p:cNvSpPr/>
          <p:nvPr/>
        </p:nvSpPr>
        <p:spPr>
          <a:xfrm>
            <a:off x="7772400" y="5513760"/>
            <a:ext cx="4114440" cy="1142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Rectangle 48"/>
          <p:cNvSpPr/>
          <p:nvPr/>
        </p:nvSpPr>
        <p:spPr>
          <a:xfrm>
            <a:off x="7772400" y="5513760"/>
            <a:ext cx="4114440" cy="34704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Box 49"/>
          <p:cNvSpPr/>
          <p:nvPr/>
        </p:nvSpPr>
        <p:spPr>
          <a:xfrm>
            <a:off x="7909560" y="555048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Century Gothic"/>
              </a:rPr>
              <a:t>LFPDPPP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08" name="TextBox 50"/>
          <p:cNvSpPr/>
          <p:nvPr/>
        </p:nvSpPr>
        <p:spPr>
          <a:xfrm>
            <a:off x="7909560" y="5934600"/>
            <a:ext cx="38401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Aplica si se almacenan nombres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Aviso privacidad obligatorio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00" spc="-1" strike="noStrike">
                <a:solidFill>
                  <a:srgbClr val="161e44"/>
                </a:solidFill>
                <a:latin typeface="Avenir Next Condensed"/>
              </a:rPr>
              <a:t>Minimización de datos PII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09" name="Rectangle 51"/>
          <p:cNvSpPr/>
          <p:nvPr/>
        </p:nvSpPr>
        <p:spPr>
          <a:xfrm>
            <a:off x="365760" y="6309360"/>
            <a:ext cx="7216920" cy="3470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Box 52"/>
          <p:cNvSpPr/>
          <p:nvPr/>
        </p:nvSpPr>
        <p:spPr>
          <a:xfrm>
            <a:off x="502920" y="6327720"/>
            <a:ext cx="71319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Incident Response (7 fases):  Detectar → Contener → Erradicar → Recuperar → Postmortem → Documentar → Prevenir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11" name="Rectángulo 54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413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414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415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16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17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418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08 |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Plan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de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Hand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off y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Opera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ciones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421" name="Rectangle 13"/>
          <p:cNvSpPr/>
          <p:nvPr/>
        </p:nvSpPr>
        <p:spPr>
          <a:xfrm>
            <a:off x="365760" y="1664280"/>
            <a:ext cx="5714640" cy="23313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Rectangle 14"/>
          <p:cNvSpPr/>
          <p:nvPr/>
        </p:nvSpPr>
        <p:spPr>
          <a:xfrm>
            <a:off x="365760" y="16642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TextBox 15"/>
          <p:cNvSpPr/>
          <p:nvPr/>
        </p:nvSpPr>
        <p:spPr>
          <a:xfrm>
            <a:off x="502920" y="17190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IaC — Terraform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4" name="TextBox 16"/>
          <p:cNvSpPr/>
          <p:nvPr/>
        </p:nvSpPr>
        <p:spPr>
          <a:xfrm>
            <a:off x="502920" y="2194560"/>
            <a:ext cx="5394600" cy="10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7 módulos: cloudrun.tf, storage.tf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sql.tf, monitoring.tf, iam.tf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vertex.tf, variables.tf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Deployment: terraform init → plan → apply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Rollback: terraform destroy + restore backup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25" name="Rectangle 17"/>
          <p:cNvSpPr/>
          <p:nvPr/>
        </p:nvSpPr>
        <p:spPr>
          <a:xfrm>
            <a:off x="6355080" y="1664280"/>
            <a:ext cx="5714640" cy="23313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Rectangle 18"/>
          <p:cNvSpPr/>
          <p:nvPr/>
        </p:nvSpPr>
        <p:spPr>
          <a:xfrm>
            <a:off x="6355080" y="1664280"/>
            <a:ext cx="5714640" cy="438480"/>
          </a:xfrm>
          <a:prstGeom prst="rect">
            <a:avLst/>
          </a:prstGeom>
          <a:solidFill>
            <a:srgbClr val="1b3a6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Box 19"/>
          <p:cNvSpPr/>
          <p:nvPr/>
        </p:nvSpPr>
        <p:spPr>
          <a:xfrm>
            <a:off x="6492240" y="17190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Runbook Operaciones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28" name="TextBox 20"/>
          <p:cNvSpPr/>
          <p:nvPr/>
        </p:nvSpPr>
        <p:spPr>
          <a:xfrm>
            <a:off x="6492240" y="2194560"/>
            <a:ext cx="5394600" cy="8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4 secciones documentadas: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Deploy inicial (30 min)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Rollback a versión anterior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Escalado horizontal (max 10 instancias)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Procedimiento de monitoreo diario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29" name="Rectangle 21"/>
          <p:cNvSpPr/>
          <p:nvPr/>
        </p:nvSpPr>
        <p:spPr>
          <a:xfrm>
            <a:off x="365760" y="4133160"/>
            <a:ext cx="5714640" cy="23313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Rectangle 22"/>
          <p:cNvSpPr/>
          <p:nvPr/>
        </p:nvSpPr>
        <p:spPr>
          <a:xfrm>
            <a:off x="365760" y="4133160"/>
            <a:ext cx="5714640" cy="438480"/>
          </a:xfrm>
          <a:prstGeom prst="rect">
            <a:avLst/>
          </a:prstGeom>
          <a:solidFill>
            <a:srgbClr val="2d4a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Box 23"/>
          <p:cNvSpPr/>
          <p:nvPr/>
        </p:nvSpPr>
        <p:spPr>
          <a:xfrm>
            <a:off x="502920" y="418788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Knowledge Transfer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2" name="TextBox 24"/>
          <p:cNvSpPr/>
          <p:nvPr/>
        </p:nvSpPr>
        <p:spPr>
          <a:xfrm>
            <a:off x="502920" y="4663440"/>
            <a:ext cx="5394600" cy="10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Plan de 3 sesiones de 2 horas: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Sesión 1: Arquitectura y GCP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Sesión 2: Operaciones y runbook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•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Sesión 3: ML monitoring y retraining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Documentación completa en Confluence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33" name="Rectangle 25"/>
          <p:cNvSpPr/>
          <p:nvPr/>
        </p:nvSpPr>
        <p:spPr>
          <a:xfrm>
            <a:off x="6355080" y="4133160"/>
            <a:ext cx="5714640" cy="23313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Rectangle 26"/>
          <p:cNvSpPr/>
          <p:nvPr/>
        </p:nvSpPr>
        <p:spPr>
          <a:xfrm>
            <a:off x="6355080" y="413316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Box 27"/>
          <p:cNvSpPr/>
          <p:nvPr/>
        </p:nvSpPr>
        <p:spPr>
          <a:xfrm>
            <a:off x="6492240" y="418788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d4a017"/>
                </a:solidFill>
                <a:latin typeface="Century Gothic"/>
              </a:rPr>
              <a:t>Decommissioning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36" name="TextBox 28"/>
          <p:cNvSpPr/>
          <p:nvPr/>
        </p:nvSpPr>
        <p:spPr>
          <a:xfrm>
            <a:off x="6492240" y="4663440"/>
            <a:ext cx="5394600" cy="12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30 días antes: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  →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Backup completo de datos y modelos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15 días antes: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  →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Redirect de trafico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Dia 0: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  →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Shutdown + terraform destroy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  → </a:t>
            </a: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Evidencia archivada 5 años (LFPDPPP)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37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439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440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441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42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43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444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8000"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08B | Como lo Usa el Veterinario en Campo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447" name="Rectangle 13"/>
          <p:cNvSpPr/>
          <p:nvPr/>
        </p:nvSpPr>
        <p:spPr>
          <a:xfrm>
            <a:off x="365760" y="1645920"/>
            <a:ext cx="5394600" cy="448020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Box 14"/>
          <p:cNvSpPr/>
          <p:nvPr/>
        </p:nvSpPr>
        <p:spPr>
          <a:xfrm>
            <a:off x="548640" y="1737360"/>
            <a:ext cx="49374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161e44"/>
                </a:solidFill>
                <a:latin typeface="Century Gothic"/>
              </a:rPr>
              <a:t>Flujo de uso — 4 pasos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49" name="Rectangle 15"/>
          <p:cNvSpPr/>
          <p:nvPr/>
        </p:nvSpPr>
        <p:spPr>
          <a:xfrm>
            <a:off x="365760" y="221292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Box 16"/>
          <p:cNvSpPr/>
          <p:nvPr/>
        </p:nvSpPr>
        <p:spPr>
          <a:xfrm>
            <a:off x="548640" y="2267640"/>
            <a:ext cx="5028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1. Veterinario ingresa: ID vaca, mes de lactacion,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  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litros/dia producidos y raza (Holstein / Jersey / PS)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1" name="Rectangle 17"/>
          <p:cNvSpPr/>
          <p:nvPr/>
        </p:nvSpPr>
        <p:spPr>
          <a:xfrm>
            <a:off x="365760" y="317304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TextBox 18"/>
          <p:cNvSpPr/>
          <p:nvPr/>
        </p:nvSpPr>
        <p:spPr>
          <a:xfrm>
            <a:off x="548640" y="3227760"/>
            <a:ext cx="5028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2. API recibe datos → StackingRegressor predice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  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intensidad de metano en 7 milisegundos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3" name="Rectangle 19"/>
          <p:cNvSpPr/>
          <p:nvPr/>
        </p:nvSpPr>
        <p:spPr>
          <a:xfrm>
            <a:off x="365760" y="413316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Box 20"/>
          <p:cNvSpPr/>
          <p:nvPr/>
        </p:nvSpPr>
        <p:spPr>
          <a:xfrm>
            <a:off x="548640" y="4187880"/>
            <a:ext cx="5028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3. Sistema responde: "Vaca #A47 → 18.3 g CH4/kg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  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Nivel: MEDIO — supera promedio del hato"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5" name="Rectangle 21"/>
          <p:cNvSpPr/>
          <p:nvPr/>
        </p:nvSpPr>
        <p:spPr>
          <a:xfrm>
            <a:off x="365760" y="5093280"/>
            <a:ext cx="5394600" cy="84096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TextBox 22"/>
          <p:cNvSpPr/>
          <p:nvPr/>
        </p:nvSpPr>
        <p:spPr>
          <a:xfrm>
            <a:off x="548640" y="5148000"/>
            <a:ext cx="50288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4. Recomendación: "Reducir dosis nutracéutico 15%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   </a:t>
            </a: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Re-evaluar en 7 días — alerta activada en dashboard"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57" name="Rectangle 23"/>
          <p:cNvSpPr/>
          <p:nvPr/>
        </p:nvSpPr>
        <p:spPr>
          <a:xfrm>
            <a:off x="6126480" y="1645920"/>
            <a:ext cx="5760360" cy="21027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TextBox 24"/>
          <p:cNvSpPr/>
          <p:nvPr/>
        </p:nvSpPr>
        <p:spPr>
          <a:xfrm>
            <a:off x="6309360" y="1719000"/>
            <a:ext cx="53031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d4a017"/>
                </a:solidFill>
                <a:latin typeface="Century Gothic"/>
              </a:rPr>
              <a:t>Sin modelo vs Con modelo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9" name="TextBox 25"/>
          <p:cNvSpPr/>
          <p:nvPr/>
        </p:nvSpPr>
        <p:spPr>
          <a:xfrm>
            <a:off x="6309360" y="2148840"/>
            <a:ext cx="539460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ffffff"/>
                </a:solidFill>
                <a:latin typeface="Avenir Next Condensed"/>
              </a:rPr>
              <a:t>Sin modelo: 1 dosis estándar fija para las 100 vacas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ffffff"/>
                </a:solidFill>
                <a:latin typeface="Avenir Next Condensed"/>
              </a:rPr>
              <a:t>Resultado actual: 23% en nivel critico de forma permanente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ffffff"/>
                </a:solidFill>
                <a:latin typeface="Avenir Next Condensed"/>
              </a:rPr>
              <a:t>Con modelo: dosis personalizada por vaca cada día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ffffff"/>
                </a:solidFill>
                <a:latin typeface="Avenir Next Condensed"/>
              </a:rPr>
              <a:t>Resultado esperado: -50% dosis excedentes | +1% eficiencia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ffffff"/>
                </a:solidFill>
                <a:latin typeface="Avenir Next Condensed"/>
              </a:rPr>
              <a:t>Ahorro proyectado: $100/vaca/ano = $10,000 para el hato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60" name="Rectangle 26"/>
          <p:cNvSpPr/>
          <p:nvPr/>
        </p:nvSpPr>
        <p:spPr>
          <a:xfrm>
            <a:off x="6126480" y="3886200"/>
            <a:ext cx="576036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Box 27"/>
          <p:cNvSpPr/>
          <p:nvPr/>
        </p:nvSpPr>
        <p:spPr>
          <a:xfrm>
            <a:off x="6309360" y="3950280"/>
            <a:ext cx="50288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400" spc="-1" strike="noStrike">
                <a:solidFill>
                  <a:srgbClr val="161e44"/>
                </a:solidFill>
                <a:latin typeface="Century Gothic"/>
              </a:rPr>
              <a:t>Impacto en numeros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2" name="TextBox 28"/>
          <p:cNvSpPr/>
          <p:nvPr/>
        </p:nvSpPr>
        <p:spPr>
          <a:xfrm>
            <a:off x="6309360" y="4434840"/>
            <a:ext cx="12798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$10,000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3" name="TextBox 29"/>
          <p:cNvSpPr/>
          <p:nvPr/>
        </p:nvSpPr>
        <p:spPr>
          <a:xfrm>
            <a:off x="630936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ahorro ano 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4" name="TextBox 30"/>
          <p:cNvSpPr/>
          <p:nvPr/>
        </p:nvSpPr>
        <p:spPr>
          <a:xfrm>
            <a:off x="769932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7.3 ms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5" name="TextBox 31"/>
          <p:cNvSpPr/>
          <p:nvPr/>
        </p:nvSpPr>
        <p:spPr>
          <a:xfrm>
            <a:off x="769932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por prediccion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6" name="TextBox 32"/>
          <p:cNvSpPr/>
          <p:nvPr/>
        </p:nvSpPr>
        <p:spPr>
          <a:xfrm>
            <a:off x="908928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149%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7" name="TextBox 33"/>
          <p:cNvSpPr/>
          <p:nvPr/>
        </p:nvSpPr>
        <p:spPr>
          <a:xfrm>
            <a:off x="908928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ROI primer ano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68" name="TextBox 34"/>
          <p:cNvSpPr/>
          <p:nvPr/>
        </p:nvSpPr>
        <p:spPr>
          <a:xfrm>
            <a:off x="10478880" y="4434840"/>
            <a:ext cx="1279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200" spc="-1" strike="noStrike">
                <a:solidFill>
                  <a:srgbClr val="161e44"/>
                </a:solidFill>
                <a:latin typeface="Century Gothic"/>
              </a:rPr>
              <a:t>99.5%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9" name="TextBox 35"/>
          <p:cNvSpPr/>
          <p:nvPr/>
        </p:nvSpPr>
        <p:spPr>
          <a:xfrm>
            <a:off x="10478880" y="4956120"/>
            <a:ext cx="1279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556580"/>
                </a:solidFill>
                <a:latin typeface="Avenir Next Condensed"/>
              </a:rPr>
              <a:t>uptime SLO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70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472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473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474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75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476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477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09 |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Anál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isis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Cos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to-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Ben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efici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o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480" name="Rectangle 13"/>
          <p:cNvSpPr/>
          <p:nvPr/>
        </p:nvSpPr>
        <p:spPr>
          <a:xfrm>
            <a:off x="365760" y="1664280"/>
            <a:ext cx="566892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COSTOS — Ano 1 (por fase CRISP-ML)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1" name="Rectangle 14"/>
          <p:cNvSpPr/>
          <p:nvPr/>
        </p:nvSpPr>
        <p:spPr>
          <a:xfrm>
            <a:off x="365760" y="2176200"/>
            <a:ext cx="5668920" cy="52992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TextBox 15"/>
          <p:cNvSpPr/>
          <p:nvPr/>
        </p:nvSpPr>
        <p:spPr>
          <a:xfrm>
            <a:off x="502920" y="2212920"/>
            <a:ext cx="4023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Desarrollo e integración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83" name="TextBox 16"/>
          <p:cNvSpPr/>
          <p:nvPr/>
        </p:nvSpPr>
        <p:spPr>
          <a:xfrm>
            <a:off x="4434840" y="221292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$3,200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4" name="Rectangle 17"/>
          <p:cNvSpPr/>
          <p:nvPr/>
        </p:nvSpPr>
        <p:spPr>
          <a:xfrm>
            <a:off x="365760" y="2770560"/>
            <a:ext cx="5668920" cy="52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TextBox 18"/>
          <p:cNvSpPr/>
          <p:nvPr/>
        </p:nvSpPr>
        <p:spPr>
          <a:xfrm>
            <a:off x="502920" y="2807280"/>
            <a:ext cx="4023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Infraestructura GCP (Cloud Run + Vertex AI + SQL + Monitoring)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86" name="TextBox 19"/>
          <p:cNvSpPr/>
          <p:nvPr/>
        </p:nvSpPr>
        <p:spPr>
          <a:xfrm>
            <a:off x="4434840" y="280728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$732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87" name="Rectangle 20"/>
          <p:cNvSpPr/>
          <p:nvPr/>
        </p:nvSpPr>
        <p:spPr>
          <a:xfrm>
            <a:off x="365760" y="3364920"/>
            <a:ext cx="5668920" cy="52992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TextBox 21"/>
          <p:cNvSpPr/>
          <p:nvPr/>
        </p:nvSpPr>
        <p:spPr>
          <a:xfrm>
            <a:off x="502920" y="3401640"/>
            <a:ext cx="4023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Adquisición de datos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89" name="TextBox 22"/>
          <p:cNvSpPr/>
          <p:nvPr/>
        </p:nvSpPr>
        <p:spPr>
          <a:xfrm>
            <a:off x="4434840" y="340164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$800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0" name="Rectangle 23"/>
          <p:cNvSpPr/>
          <p:nvPr/>
        </p:nvSpPr>
        <p:spPr>
          <a:xfrm>
            <a:off x="365760" y="3959280"/>
            <a:ext cx="5668920" cy="52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TextBox 24"/>
          <p:cNvSpPr/>
          <p:nvPr/>
        </p:nvSpPr>
        <p:spPr>
          <a:xfrm>
            <a:off x="502920" y="3996000"/>
            <a:ext cx="4023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Capacitación de personal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92" name="TextBox 25"/>
          <p:cNvSpPr/>
          <p:nvPr/>
        </p:nvSpPr>
        <p:spPr>
          <a:xfrm>
            <a:off x="4434840" y="39960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$500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3" name="Rectangle 26"/>
          <p:cNvSpPr/>
          <p:nvPr/>
        </p:nvSpPr>
        <p:spPr>
          <a:xfrm>
            <a:off x="365760" y="4553640"/>
            <a:ext cx="5668920" cy="52992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Box 27"/>
          <p:cNvSpPr/>
          <p:nvPr/>
        </p:nvSpPr>
        <p:spPr>
          <a:xfrm>
            <a:off x="502920" y="4590360"/>
            <a:ext cx="4023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Mantenimiento y reentrenamiento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95" name="TextBox 28"/>
          <p:cNvSpPr/>
          <p:nvPr/>
        </p:nvSpPr>
        <p:spPr>
          <a:xfrm>
            <a:off x="4434840" y="459036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$720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6" name="Rectangle 29"/>
          <p:cNvSpPr/>
          <p:nvPr/>
        </p:nvSpPr>
        <p:spPr>
          <a:xfrm>
            <a:off x="365760" y="5148000"/>
            <a:ext cx="5668920" cy="52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Box 30"/>
          <p:cNvSpPr/>
          <p:nvPr/>
        </p:nvSpPr>
        <p:spPr>
          <a:xfrm>
            <a:off x="502920" y="5184720"/>
            <a:ext cx="4023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050" spc="-1" strike="noStrike">
                <a:solidFill>
                  <a:srgbClr val="161e44"/>
                </a:solidFill>
                <a:latin typeface="Avenir Next Condensed"/>
              </a:rPr>
              <a:t>Seg. + Compliance (incluido en GCP)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498" name="TextBox 31"/>
          <p:cNvSpPr/>
          <p:nvPr/>
        </p:nvSpPr>
        <p:spPr>
          <a:xfrm>
            <a:off x="4434840" y="518472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9" name="Rectangle 32"/>
          <p:cNvSpPr/>
          <p:nvPr/>
        </p:nvSpPr>
        <p:spPr>
          <a:xfrm>
            <a:off x="365760" y="5742360"/>
            <a:ext cx="5668920" cy="52992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TextBox 33"/>
          <p:cNvSpPr/>
          <p:nvPr/>
        </p:nvSpPr>
        <p:spPr>
          <a:xfrm>
            <a:off x="502920" y="5779080"/>
            <a:ext cx="402300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050" spc="-1" strike="noStrike">
                <a:solidFill>
                  <a:srgbClr val="ffffff"/>
                </a:solidFill>
                <a:latin typeface="Avenir Next Condensed"/>
              </a:rPr>
              <a:t>TOTAL COSTOS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01" name="TextBox 34"/>
          <p:cNvSpPr/>
          <p:nvPr/>
        </p:nvSpPr>
        <p:spPr>
          <a:xfrm>
            <a:off x="4434840" y="577908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d4a017"/>
                </a:solidFill>
                <a:latin typeface="Avenir Next Condensed"/>
              </a:rPr>
              <a:t>$5,952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2" name="Rectangle 35"/>
          <p:cNvSpPr/>
          <p:nvPr/>
        </p:nvSpPr>
        <p:spPr>
          <a:xfrm>
            <a:off x="6309360" y="1664280"/>
            <a:ext cx="5577480" cy="438480"/>
          </a:xfrm>
          <a:prstGeom prst="rect">
            <a:avLst/>
          </a:prstGeom>
          <a:solidFill>
            <a:srgbClr val="00a0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BENEFICIOS — Ano 1 (estimados)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3" name="Rectangle 36"/>
          <p:cNvSpPr/>
          <p:nvPr/>
        </p:nvSpPr>
        <p:spPr>
          <a:xfrm>
            <a:off x="6309360" y="2176200"/>
            <a:ext cx="557748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TextBox 37"/>
          <p:cNvSpPr/>
          <p:nvPr/>
        </p:nvSpPr>
        <p:spPr>
          <a:xfrm>
            <a:off x="6446520" y="222192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Ahorro en suplementación optima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5" name="TextBox 38"/>
          <p:cNvSpPr/>
          <p:nvPr/>
        </p:nvSpPr>
        <p:spPr>
          <a:xfrm>
            <a:off x="10241280" y="222192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$10,000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6" name="Rectangle 39"/>
          <p:cNvSpPr/>
          <p:nvPr/>
        </p:nvSpPr>
        <p:spPr>
          <a:xfrm>
            <a:off x="6309360" y="2853000"/>
            <a:ext cx="5577480" cy="603000"/>
          </a:xfrm>
          <a:prstGeom prst="rect">
            <a:avLst/>
          </a:prstGeom>
          <a:solidFill>
            <a:srgbClr val="f0fbf6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TextBox 40"/>
          <p:cNvSpPr/>
          <p:nvPr/>
        </p:nvSpPr>
        <p:spPr>
          <a:xfrm>
            <a:off x="6446520" y="289872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Mejora eficiencia producción (+5%)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8" name="TextBox 41"/>
          <p:cNvSpPr/>
          <p:nvPr/>
        </p:nvSpPr>
        <p:spPr>
          <a:xfrm>
            <a:off x="10241280" y="289872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$2,500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09" name="Rectangle 42"/>
          <p:cNvSpPr/>
          <p:nvPr/>
        </p:nvSpPr>
        <p:spPr>
          <a:xfrm>
            <a:off x="6309360" y="3529440"/>
            <a:ext cx="557748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Box 43"/>
          <p:cNvSpPr/>
          <p:nvPr/>
        </p:nvSpPr>
        <p:spPr>
          <a:xfrm>
            <a:off x="6446520" y="357516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Créditos de carbono (~50 ton CH4)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1" name="TextBox 44"/>
          <p:cNvSpPr/>
          <p:nvPr/>
        </p:nvSpPr>
        <p:spPr>
          <a:xfrm>
            <a:off x="10241280" y="357516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$1,500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2" name="Rectangle 45"/>
          <p:cNvSpPr/>
          <p:nvPr/>
        </p:nvSpPr>
        <p:spPr>
          <a:xfrm>
            <a:off x="6309360" y="4206240"/>
            <a:ext cx="5577480" cy="603000"/>
          </a:xfrm>
          <a:prstGeom prst="rect">
            <a:avLst/>
          </a:prstGeom>
          <a:solidFill>
            <a:srgbClr val="f0fbf6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TextBox 46"/>
          <p:cNvSpPr/>
          <p:nvPr/>
        </p:nvSpPr>
        <p:spPr>
          <a:xfrm>
            <a:off x="6446520" y="425196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Reducción costos veterinarios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4" name="TextBox 47"/>
          <p:cNvSpPr/>
          <p:nvPr/>
        </p:nvSpPr>
        <p:spPr>
          <a:xfrm>
            <a:off x="10241280" y="425196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$800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5" name="Rectangle 48"/>
          <p:cNvSpPr/>
          <p:nvPr/>
        </p:nvSpPr>
        <p:spPr>
          <a:xfrm>
            <a:off x="6309360" y="4883040"/>
            <a:ext cx="5577480" cy="603000"/>
          </a:xfrm>
          <a:prstGeom prst="rect">
            <a:avLst/>
          </a:prstGeom>
          <a:solidFill>
            <a:srgbClr val="ffff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TextBox 49"/>
          <p:cNvSpPr/>
          <p:nvPr/>
        </p:nvSpPr>
        <p:spPr>
          <a:xfrm>
            <a:off x="6446520" y="492876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Potencial adicional (no contabilizado)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7" name="TextBox 50"/>
          <p:cNvSpPr/>
          <p:nvPr/>
        </p:nvSpPr>
        <p:spPr>
          <a:xfrm>
            <a:off x="10241280" y="492876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Avenir Next Condensed"/>
              </a:rPr>
              <a:t>$0 *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8" name="Rectangle 51"/>
          <p:cNvSpPr/>
          <p:nvPr/>
        </p:nvSpPr>
        <p:spPr>
          <a:xfrm>
            <a:off x="6309360" y="5559480"/>
            <a:ext cx="5577480" cy="603000"/>
          </a:xfrm>
          <a:prstGeom prst="rect">
            <a:avLst/>
          </a:prstGeom>
          <a:solidFill>
            <a:srgbClr val="00a07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TextBox 52"/>
          <p:cNvSpPr/>
          <p:nvPr/>
        </p:nvSpPr>
        <p:spPr>
          <a:xfrm>
            <a:off x="6446520" y="5605200"/>
            <a:ext cx="38401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Avenir Next Condensed"/>
              </a:rPr>
              <a:t>TOTAL BENEFICIOS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0" name="TextBox 53"/>
          <p:cNvSpPr/>
          <p:nvPr/>
        </p:nvSpPr>
        <p:spPr>
          <a:xfrm>
            <a:off x="10241280" y="5605200"/>
            <a:ext cx="14626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ffffff"/>
                </a:solidFill>
                <a:latin typeface="Avenir Next Condensed"/>
              </a:rPr>
              <a:t>$14,800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21" name="Rectangle 54"/>
          <p:cNvSpPr/>
          <p:nvPr/>
        </p:nvSpPr>
        <p:spPr>
          <a:xfrm>
            <a:off x="365760" y="6327720"/>
            <a:ext cx="11521080" cy="328680"/>
          </a:xfrm>
          <a:prstGeom prst="rect">
            <a:avLst/>
          </a:prstGeom>
          <a:solidFill>
            <a:srgbClr val="e6fa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161e44"/>
                </a:solidFill>
                <a:latin typeface="Century Gothic"/>
              </a:rPr>
              <a:t>ROI Ano 1: 149%   |   Periodo de recuperación: ~5.0 meses   |   TCO 12 meses: $5,952 USD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2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524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525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526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27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28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529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10 | Riesgos y Desafíos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532" name="Rectangle 13"/>
          <p:cNvSpPr/>
          <p:nvPr/>
        </p:nvSpPr>
        <p:spPr>
          <a:xfrm>
            <a:off x="365760" y="1664280"/>
            <a:ext cx="5714640" cy="2285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Rectangle 14"/>
          <p:cNvSpPr/>
          <p:nvPr/>
        </p:nvSpPr>
        <p:spPr>
          <a:xfrm>
            <a:off x="365760" y="16642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TextBox 15"/>
          <p:cNvSpPr/>
          <p:nvPr/>
        </p:nvSpPr>
        <p:spPr>
          <a:xfrm>
            <a:off x="502920" y="17190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DATOS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5" name="TextBox 16"/>
          <p:cNvSpPr/>
          <p:nvPr/>
        </p:nvSpPr>
        <p:spPr>
          <a:xfrm>
            <a:off x="502920" y="219456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cc4444"/>
                </a:solidFill>
                <a:latin typeface="Century Gothic"/>
              </a:rPr>
              <a:t>Riesgo: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6" name="TextBox 17"/>
          <p:cNvSpPr/>
          <p:nvPr/>
        </p:nvSpPr>
        <p:spPr>
          <a:xfrm>
            <a:off x="502920" y="246888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Sesgo en sensores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Datos faltantes en calor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Drift estacional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7" name="TextBox 18"/>
          <p:cNvSpPr/>
          <p:nvPr/>
        </p:nvSpPr>
        <p:spPr>
          <a:xfrm>
            <a:off x="3383280" y="219456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Century Gothic"/>
              </a:rPr>
              <a:t>Mitigación: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8" name="TextBox 19"/>
          <p:cNvSpPr/>
          <p:nvPr/>
        </p:nvSpPr>
        <p:spPr>
          <a:xfrm>
            <a:off x="3383280" y="246888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Pipeline detección anomalías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Reentrenamiento trimestral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Validación cruzada temporal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39" name="Rectangle 20"/>
          <p:cNvSpPr/>
          <p:nvPr/>
        </p:nvSpPr>
        <p:spPr>
          <a:xfrm>
            <a:off x="6355080" y="1664280"/>
            <a:ext cx="5714640" cy="2285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Rectangle 21"/>
          <p:cNvSpPr/>
          <p:nvPr/>
        </p:nvSpPr>
        <p:spPr>
          <a:xfrm>
            <a:off x="6355080" y="16642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TextBox 22"/>
          <p:cNvSpPr/>
          <p:nvPr/>
        </p:nvSpPr>
        <p:spPr>
          <a:xfrm>
            <a:off x="6492240" y="17190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SEGURIDAD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2" name="TextBox 23"/>
          <p:cNvSpPr/>
          <p:nvPr/>
        </p:nvSpPr>
        <p:spPr>
          <a:xfrm>
            <a:off x="6492240" y="219456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cc4444"/>
                </a:solidFill>
                <a:latin typeface="Century Gothic"/>
              </a:rPr>
              <a:t>Riesgo: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3" name="TextBox 24"/>
          <p:cNvSpPr/>
          <p:nvPr/>
        </p:nvSpPr>
        <p:spPr>
          <a:xfrm>
            <a:off x="6492240" y="246888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Ataques adversariales a API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Data poisoning en retrain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Filtración de datos PII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4" name="TextBox 25"/>
          <p:cNvSpPr/>
          <p:nvPr/>
        </p:nvSpPr>
        <p:spPr>
          <a:xfrm>
            <a:off x="9372600" y="219456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Century Gothic"/>
              </a:rPr>
              <a:t>Mitigación: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5" name="TextBox 26"/>
          <p:cNvSpPr/>
          <p:nvPr/>
        </p:nvSpPr>
        <p:spPr>
          <a:xfrm>
            <a:off x="9372600" y="246888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Auth + rate limiting API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Validación estricta de inputs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Encriptación GCP end-to-end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6" name="Rectangle 27"/>
          <p:cNvSpPr/>
          <p:nvPr/>
        </p:nvSpPr>
        <p:spPr>
          <a:xfrm>
            <a:off x="365760" y="4133160"/>
            <a:ext cx="5714640" cy="2285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Rectangle 28"/>
          <p:cNvSpPr/>
          <p:nvPr/>
        </p:nvSpPr>
        <p:spPr>
          <a:xfrm>
            <a:off x="365760" y="413316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Box 29"/>
          <p:cNvSpPr/>
          <p:nvPr/>
        </p:nvSpPr>
        <p:spPr>
          <a:xfrm>
            <a:off x="502920" y="418788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CONFIANZA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49" name="TextBox 30"/>
          <p:cNvSpPr/>
          <p:nvPr/>
        </p:nvSpPr>
        <p:spPr>
          <a:xfrm>
            <a:off x="502920" y="466344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cc4444"/>
                </a:solidFill>
                <a:latin typeface="Century Gothic"/>
              </a:rPr>
              <a:t>Riesgo: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0" name="TextBox 31"/>
          <p:cNvSpPr/>
          <p:nvPr/>
        </p:nvSpPr>
        <p:spPr>
          <a:xfrm>
            <a:off x="502920" y="493776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Baja adopción (veterinarios)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Sobreconfianza en predicciones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Falta de explicabilidad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1" name="TextBox 32"/>
          <p:cNvSpPr/>
          <p:nvPr/>
        </p:nvSpPr>
        <p:spPr>
          <a:xfrm>
            <a:off x="3383280" y="466344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Century Gothic"/>
              </a:rPr>
              <a:t>Mitigación: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2" name="TextBox 33"/>
          <p:cNvSpPr/>
          <p:nvPr/>
        </p:nvSpPr>
        <p:spPr>
          <a:xfrm>
            <a:off x="3383280" y="493776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SHAP para explicar alertas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Intervalos de confianza visibles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Capacitación y onboarding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3" name="Rectangle 34"/>
          <p:cNvSpPr/>
          <p:nvPr/>
        </p:nvSpPr>
        <p:spPr>
          <a:xfrm>
            <a:off x="6355080" y="4133160"/>
            <a:ext cx="5714640" cy="228564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Rectangle 35"/>
          <p:cNvSpPr/>
          <p:nvPr/>
        </p:nvSpPr>
        <p:spPr>
          <a:xfrm>
            <a:off x="6355080" y="413316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TextBox 36"/>
          <p:cNvSpPr/>
          <p:nvPr/>
        </p:nvSpPr>
        <p:spPr>
          <a:xfrm>
            <a:off x="6492240" y="418788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CUMPLIMIENTO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6" name="TextBox 37"/>
          <p:cNvSpPr/>
          <p:nvPr/>
        </p:nvSpPr>
        <p:spPr>
          <a:xfrm>
            <a:off x="6492240" y="466344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cc4444"/>
                </a:solidFill>
                <a:latin typeface="Century Gothic"/>
              </a:rPr>
              <a:t>Riesgo: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7" name="TextBox 38"/>
          <p:cNvSpPr/>
          <p:nvPr/>
        </p:nvSpPr>
        <p:spPr>
          <a:xfrm>
            <a:off x="6492240" y="493776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Regulación datos agropecuarios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Normas NOM-SEMARNAT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LFPDPPP — PII de propietarios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8" name="TextBox 39"/>
          <p:cNvSpPr/>
          <p:nvPr/>
        </p:nvSpPr>
        <p:spPr>
          <a:xfrm>
            <a:off x="9372600" y="4663440"/>
            <a:ext cx="2468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100" spc="-1" strike="noStrike">
                <a:solidFill>
                  <a:srgbClr val="00c896"/>
                </a:solidFill>
                <a:latin typeface="Century Gothic"/>
              </a:rPr>
              <a:t>Mitigación: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59" name="TextBox 40"/>
          <p:cNvSpPr/>
          <p:nvPr/>
        </p:nvSpPr>
        <p:spPr>
          <a:xfrm>
            <a:off x="9372600" y="4937760"/>
            <a:ext cx="25599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Documentación CRISP-ML(Q)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Versionado en MLflow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100" spc="-1" strike="noStrike">
                <a:solidFill>
                  <a:srgbClr val="161e44"/>
                </a:solidFill>
                <a:latin typeface="Avenir Next Condensed"/>
              </a:rPr>
              <a:t>Aviso de privacidad obligatorio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0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562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563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564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65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66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567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10 |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Trab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ajos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Futu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ros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570" name="Rectangle 13"/>
          <p:cNvSpPr/>
          <p:nvPr/>
        </p:nvSpPr>
        <p:spPr>
          <a:xfrm>
            <a:off x="365760" y="1664280"/>
            <a:ext cx="3748680" cy="22125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Rectangle 14"/>
          <p:cNvSpPr/>
          <p:nvPr/>
        </p:nvSpPr>
        <p:spPr>
          <a:xfrm>
            <a:off x="365760" y="1664280"/>
            <a:ext cx="37486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TextBox 15"/>
          <p:cNvSpPr/>
          <p:nvPr/>
        </p:nvSpPr>
        <p:spPr>
          <a:xfrm>
            <a:off x="502920" y="172836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AutoML &amp; Series Temporales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3" name="TextBox 16"/>
          <p:cNvSpPr/>
          <p:nvPr/>
        </p:nvSpPr>
        <p:spPr>
          <a:xfrm>
            <a:off x="502920" y="2212920"/>
            <a:ext cx="347436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XGBoost, LightGBM y redes LSTM para capturar patrones de lactación con mayor precisión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4" name="Rectangle 17"/>
          <p:cNvSpPr/>
          <p:nvPr/>
        </p:nvSpPr>
        <p:spPr>
          <a:xfrm>
            <a:off x="4343400" y="1664280"/>
            <a:ext cx="3748680" cy="22125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Rectangle 18"/>
          <p:cNvSpPr/>
          <p:nvPr/>
        </p:nvSpPr>
        <p:spPr>
          <a:xfrm>
            <a:off x="4343400" y="1664280"/>
            <a:ext cx="37486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Box 19"/>
          <p:cNvSpPr/>
          <p:nvPr/>
        </p:nvSpPr>
        <p:spPr>
          <a:xfrm>
            <a:off x="4480560" y="172836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IoT Tiempo Real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7" name="TextBox 20"/>
          <p:cNvSpPr/>
          <p:nvPr/>
        </p:nvSpPr>
        <p:spPr>
          <a:xfrm>
            <a:off x="4480560" y="2212920"/>
            <a:ext cx="347436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Sensores wearables (collar o rumen bolus) para predicción continua y alertas automáticas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78" name="Rectangle 21"/>
          <p:cNvSpPr/>
          <p:nvPr/>
        </p:nvSpPr>
        <p:spPr>
          <a:xfrm>
            <a:off x="8321040" y="1664280"/>
            <a:ext cx="3748680" cy="22125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Rectangle 22"/>
          <p:cNvSpPr/>
          <p:nvPr/>
        </p:nvSpPr>
        <p:spPr>
          <a:xfrm>
            <a:off x="8321040" y="1664280"/>
            <a:ext cx="37486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TextBox 23"/>
          <p:cNvSpPr/>
          <p:nvPr/>
        </p:nvSpPr>
        <p:spPr>
          <a:xfrm>
            <a:off x="8458200" y="172836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Multi-granja Escalable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1" name="TextBox 24"/>
          <p:cNvSpPr/>
          <p:nvPr/>
        </p:nvSpPr>
        <p:spPr>
          <a:xfrm>
            <a:off x="8458200" y="2212920"/>
            <a:ext cx="347436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Federated Learning para entrenar con multiples granjas sin compartir datos sensibles.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2" name="Rectangle 25"/>
          <p:cNvSpPr/>
          <p:nvPr/>
        </p:nvSpPr>
        <p:spPr>
          <a:xfrm>
            <a:off x="365760" y="4041720"/>
            <a:ext cx="3748680" cy="22125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Rectangle 26"/>
          <p:cNvSpPr/>
          <p:nvPr/>
        </p:nvSpPr>
        <p:spPr>
          <a:xfrm>
            <a:off x="365760" y="4041720"/>
            <a:ext cx="37486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TextBox 27"/>
          <p:cNvSpPr/>
          <p:nvPr/>
        </p:nvSpPr>
        <p:spPr>
          <a:xfrm>
            <a:off x="502920" y="410580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Modulo de Carbono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5" name="TextBox 28"/>
          <p:cNvSpPr/>
          <p:nvPr/>
        </p:nvSpPr>
        <p:spPr>
          <a:xfrm>
            <a:off x="502920" y="4590360"/>
            <a:ext cx="347436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Certificación automática de créditos usando el modelo como evidencia (Verra, Gold Standard).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6" name="Rectangle 29"/>
          <p:cNvSpPr/>
          <p:nvPr/>
        </p:nvSpPr>
        <p:spPr>
          <a:xfrm>
            <a:off x="4343400" y="4041720"/>
            <a:ext cx="3748680" cy="22125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Rectangle 30"/>
          <p:cNvSpPr/>
          <p:nvPr/>
        </p:nvSpPr>
        <p:spPr>
          <a:xfrm>
            <a:off x="4343400" y="4041720"/>
            <a:ext cx="37486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TextBox 31"/>
          <p:cNvSpPr/>
          <p:nvPr/>
        </p:nvSpPr>
        <p:spPr>
          <a:xfrm>
            <a:off x="4480560" y="410580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Dashboard Predictivo Avanzado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89" name="TextBox 32"/>
          <p:cNvSpPr/>
          <p:nvPr/>
        </p:nvSpPr>
        <p:spPr>
          <a:xfrm>
            <a:off x="4480560" y="4590360"/>
            <a:ext cx="3474360" cy="11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Panel de control en tiempo real con histórico por vaca,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tendencias del hato y reportes de cumplimiento ambiental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automatizados. Integración con sistemas ERP agropecuarios.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0" name="Rectangle 33"/>
          <p:cNvSpPr/>
          <p:nvPr/>
        </p:nvSpPr>
        <p:spPr>
          <a:xfrm>
            <a:off x="8321040" y="4041720"/>
            <a:ext cx="3748680" cy="221256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Rectangle 34"/>
          <p:cNvSpPr/>
          <p:nvPr/>
        </p:nvSpPr>
        <p:spPr>
          <a:xfrm>
            <a:off x="8321040" y="4041720"/>
            <a:ext cx="374868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TextBox 35"/>
          <p:cNvSpPr/>
          <p:nvPr/>
        </p:nvSpPr>
        <p:spPr>
          <a:xfrm>
            <a:off x="8458200" y="4105800"/>
            <a:ext cx="3474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200" spc="-1" strike="noStrike">
                <a:solidFill>
                  <a:srgbClr val="ffffff"/>
                </a:solidFill>
                <a:latin typeface="Century Gothic"/>
              </a:rPr>
              <a:t>App Móvil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3" name="TextBox 36"/>
          <p:cNvSpPr/>
          <p:nvPr/>
        </p:nvSpPr>
        <p:spPr>
          <a:xfrm>
            <a:off x="8458200" y="4590360"/>
            <a:ext cx="34743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Versión móvil con modo offline y sincronización para uso en campo.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4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596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597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598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599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600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601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326880" y="570600"/>
            <a:ext cx="6970320" cy="9306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 fontScale="98000"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11 | Criterios Go / No-Go — </a:t>
            </a:r>
            <a:r>
              <a:rPr b="0" lang="es-MX" sz="2800" spc="-1" strike="noStrike">
                <a:solidFill>
                  <a:srgbClr val="000000"/>
                </a:solidFill>
                <a:latin typeface="Gellix"/>
              </a:rPr>
              <a:t>CRISP-ML(Q)</a:t>
            </a:r>
            <a:endParaRPr b="0" lang="es-MX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04" name="Rectangle 13"/>
          <p:cNvSpPr/>
          <p:nvPr/>
        </p:nvSpPr>
        <p:spPr>
          <a:xfrm>
            <a:off x="365760" y="164592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Rectangle 14"/>
          <p:cNvSpPr/>
          <p:nvPr/>
        </p:nvSpPr>
        <p:spPr>
          <a:xfrm>
            <a:off x="365760" y="164592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TextBox 15"/>
          <p:cNvSpPr/>
          <p:nvPr/>
        </p:nvSpPr>
        <p:spPr>
          <a:xfrm>
            <a:off x="502920" y="170064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Precisión del Modelo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07" name="TextBox 16"/>
          <p:cNvSpPr/>
          <p:nvPr/>
        </p:nvSpPr>
        <p:spPr>
          <a:xfrm>
            <a:off x="502920" y="2194560"/>
            <a:ext cx="5394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RMSE &lt; 0.70 g CH4/kg  →  0.6117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R2 &gt; 0.97             →  0.9779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Latencia &lt; 100 ms     →  7.3 ms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Test estadístico: p &lt; 0.0001 vs baseline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8" name="Rectangle 17"/>
          <p:cNvSpPr/>
          <p:nvPr/>
        </p:nvSpPr>
        <p:spPr>
          <a:xfrm>
            <a:off x="6355080" y="164592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Rectangle 18"/>
          <p:cNvSpPr/>
          <p:nvPr/>
        </p:nvSpPr>
        <p:spPr>
          <a:xfrm>
            <a:off x="6355080" y="164592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0" name="TextBox 19"/>
          <p:cNvSpPr/>
          <p:nvPr/>
        </p:nvSpPr>
        <p:spPr>
          <a:xfrm>
            <a:off x="6492240" y="170064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Infraestructura y SLOs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1" name="TextBox 20"/>
          <p:cNvSpPr/>
          <p:nvPr/>
        </p:nvSpPr>
        <p:spPr>
          <a:xfrm>
            <a:off x="6492240" y="2194560"/>
            <a:ext cx="5394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Plataforma cloud evaluada   →  GCP 8.85/10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SLO Uptime 99.5% definido  →  configurado 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Pipeline reentrenamiento   →  automatizado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IaC Terraform: 7 módulos listos para deploy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2" name="Rectangle 21"/>
          <p:cNvSpPr/>
          <p:nvPr/>
        </p:nvSpPr>
        <p:spPr>
          <a:xfrm>
            <a:off x="365760" y="406908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Rectangle 22"/>
          <p:cNvSpPr/>
          <p:nvPr/>
        </p:nvSpPr>
        <p:spPr>
          <a:xfrm>
            <a:off x="365760" y="40690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4" name="TextBox 23"/>
          <p:cNvSpPr/>
          <p:nvPr/>
        </p:nvSpPr>
        <p:spPr>
          <a:xfrm>
            <a:off x="502920" y="41238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Seguridad y Cumplimiento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5" name="TextBox 24"/>
          <p:cNvSpPr/>
          <p:nvPr/>
        </p:nvSpPr>
        <p:spPr>
          <a:xfrm>
            <a:off x="502920" y="4617720"/>
            <a:ext cx="5394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IAM 5 roles mínimo privilegio  →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Compliance LFPDPPP             →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Incident Response 7 fases      →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Encriptación TLS1.3 + AES-256  →  [GO]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6" name="Rectangle 25"/>
          <p:cNvSpPr/>
          <p:nvPr/>
        </p:nvSpPr>
        <p:spPr>
          <a:xfrm>
            <a:off x="6355080" y="4069080"/>
            <a:ext cx="5714640" cy="2239920"/>
          </a:xfrm>
          <a:prstGeom prst="rect">
            <a:avLst/>
          </a:prstGeom>
          <a:solidFill>
            <a:srgbClr val="f4f6fa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Rectangle 26"/>
          <p:cNvSpPr/>
          <p:nvPr/>
        </p:nvSpPr>
        <p:spPr>
          <a:xfrm>
            <a:off x="6355080" y="4069080"/>
            <a:ext cx="5714640" cy="43848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TextBox 27"/>
          <p:cNvSpPr/>
          <p:nvPr/>
        </p:nvSpPr>
        <p:spPr>
          <a:xfrm>
            <a:off x="6492240" y="4123800"/>
            <a:ext cx="53946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MX" sz="1300" spc="-1" strike="noStrike">
                <a:solidFill>
                  <a:srgbClr val="ffffff"/>
                </a:solidFill>
                <a:latin typeface="Century Gothic"/>
              </a:rPr>
              <a:t>Viabilidad de Negocio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9" name="TextBox 28"/>
          <p:cNvSpPr/>
          <p:nvPr/>
        </p:nvSpPr>
        <p:spPr>
          <a:xfrm>
            <a:off x="6492240" y="4617720"/>
            <a:ext cx="539460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ROI &gt; 100% en ano 1   →  149% 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Plan de handoff       →  Terraform + Runbook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8 riesgos clasificados en 4 categorías  [GO]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161e44"/>
                </a:solidFill>
                <a:latin typeface="Avenir Next Condensed"/>
              </a:rPr>
              <a:t>Dataset representativo: 73K registros  [GO]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0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rupo 3"/>
          <p:cNvGrpSpPr/>
          <p:nvPr/>
        </p:nvGrpSpPr>
        <p:grpSpPr>
          <a:xfrm>
            <a:off x="0" y="0"/>
            <a:ext cx="12322440" cy="654840"/>
            <a:chOff x="0" y="0"/>
            <a:chExt cx="12322440" cy="654840"/>
          </a:xfrm>
        </p:grpSpPr>
        <p:sp>
          <p:nvSpPr>
            <p:cNvPr id="622" name="Rectángulo 4"/>
            <p:cNvSpPr/>
            <p:nvPr/>
          </p:nvSpPr>
          <p:spPr>
            <a:xfrm>
              <a:off x="0" y="0"/>
              <a:ext cx="123224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15000"/>
                </a:lnSpc>
                <a:buNone/>
              </a:pPr>
              <a:r>
                <a:rPr b="0" lang="es-ES" sz="1100" spc="-1" strike="noStrike">
                  <a:solidFill>
                    <a:srgbClr val="000000"/>
                  </a:solidFill>
                  <a:latin typeface="Arial"/>
                  <a:ea typeface="Arial"/>
                </a:rPr>
                <a:t> </a:t>
              </a:r>
              <a:endParaRPr b="0" lang="en-US" sz="1100" spc="-1" strike="noStrike">
                <a:latin typeface="Arial"/>
              </a:endParaRPr>
            </a:p>
          </p:txBody>
        </p:sp>
        <p:grpSp>
          <p:nvGrpSpPr>
            <p:cNvPr id="623" name="Grupo 5"/>
            <p:cNvGrpSpPr/>
            <p:nvPr/>
          </p:nvGrpSpPr>
          <p:grpSpPr>
            <a:xfrm>
              <a:off x="0" y="0"/>
              <a:ext cx="12191400" cy="654840"/>
              <a:chOff x="0" y="0"/>
              <a:chExt cx="12191400" cy="654840"/>
            </a:xfrm>
          </p:grpSpPr>
          <p:sp>
            <p:nvSpPr>
              <p:cNvPr id="624" name="Rectángulo 6"/>
              <p:cNvSpPr/>
              <p:nvPr/>
            </p:nvSpPr>
            <p:spPr>
              <a:xfrm>
                <a:off x="3458880" y="0"/>
                <a:ext cx="8732520" cy="652680"/>
              </a:xfrm>
              <a:prstGeom prst="rect">
                <a:avLst/>
              </a:prstGeom>
              <a:solidFill>
                <a:srgbClr val="161e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625" name="Rectángulo 7"/>
              <p:cNvSpPr/>
              <p:nvPr/>
            </p:nvSpPr>
            <p:spPr>
              <a:xfrm>
                <a:off x="0" y="2160"/>
                <a:ext cx="2878560" cy="652680"/>
              </a:xfrm>
              <a:prstGeom prst="rect">
                <a:avLst/>
              </a:prstGeom>
              <a:solidFill>
                <a:srgbClr val="d9d9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  <p:sp>
            <p:nvSpPr>
              <p:cNvPr id="626" name="Paralelogramo 8"/>
              <p:cNvSpPr/>
              <p:nvPr/>
            </p:nvSpPr>
            <p:spPr>
              <a:xfrm>
                <a:off x="2526120" y="0"/>
                <a:ext cx="1319760" cy="652680"/>
              </a:xfrm>
              <a:prstGeom prst="parallelogram">
                <a:avLst>
                  <a:gd name="adj" fmla="val 25000"/>
                </a:avLst>
              </a:prstGeom>
              <a:solidFill>
                <a:srgbClr val="97a7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15000"/>
                  </a:lnSpc>
                  <a:buNone/>
                </a:pPr>
                <a:r>
                  <a:rPr b="0" lang="es-ES" sz="1100" spc="-1" strike="noStrike">
                    <a:solidFill>
                      <a:srgbClr val="000000"/>
                    </a:solidFill>
                    <a:latin typeface="Arial"/>
                    <a:ea typeface="Arial"/>
                  </a:rPr>
                  <a:t> </a:t>
                </a:r>
                <a:endParaRPr b="0" lang="en-US" sz="1100" spc="-1" strike="noStrike">
                  <a:latin typeface="Arial"/>
                </a:endParaRPr>
              </a:p>
            </p:txBody>
          </p:sp>
        </p:grpSp>
      </p:grpSp>
      <p:sp>
        <p:nvSpPr>
          <p:cNvPr id="627" name="Cuadro de texto 3"/>
          <p:cNvSpPr/>
          <p:nvPr/>
        </p:nvSpPr>
        <p:spPr>
          <a:xfrm>
            <a:off x="608760" y="98280"/>
            <a:ext cx="1308240" cy="478440"/>
          </a:xfrm>
          <a:prstGeom prst="rect">
            <a:avLst/>
          </a:prstGeom>
          <a:noFill/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s-ES_tradnl" sz="2200" spc="-1" strike="noStrike">
                <a:solidFill>
                  <a:srgbClr val="161e43"/>
                </a:solidFill>
                <a:latin typeface="Century Gothic"/>
                <a:ea typeface="Arial"/>
              </a:rPr>
              <a:t>MNA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28" name="PlaceHolder 1"/>
          <p:cNvSpPr>
            <a:spLocks noGrp="1"/>
          </p:cNvSpPr>
          <p:nvPr>
            <p:ph type="subTitle"/>
          </p:nvPr>
        </p:nvSpPr>
        <p:spPr>
          <a:xfrm>
            <a:off x="366480" y="1501920"/>
            <a:ext cx="10844280" cy="393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29" name="Rectangle 13"/>
          <p:cNvSpPr/>
          <p:nvPr/>
        </p:nvSpPr>
        <p:spPr>
          <a:xfrm>
            <a:off x="365760" y="1638000"/>
            <a:ext cx="11521080" cy="4845960"/>
          </a:xfrm>
          <a:prstGeom prst="rect">
            <a:avLst/>
          </a:prstGeom>
          <a:solidFill>
            <a:srgbClr val="161e44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0" name="TextBox 14"/>
          <p:cNvSpPr/>
          <p:nvPr/>
        </p:nvSpPr>
        <p:spPr>
          <a:xfrm>
            <a:off x="365760" y="2103120"/>
            <a:ext cx="115210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4400" spc="-1" strike="noStrike">
                <a:solidFill>
                  <a:srgbClr val="ffffff"/>
                </a:solidFill>
                <a:latin typeface="Century Gothic"/>
              </a:rPr>
              <a:t>Decisión: GO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31" name="TextBox 15"/>
          <p:cNvSpPr/>
          <p:nvPr/>
        </p:nvSpPr>
        <p:spPr>
          <a:xfrm>
            <a:off x="365760" y="3200400"/>
            <a:ext cx="1152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800" spc="-1" strike="noStrike">
                <a:solidFill>
                  <a:srgbClr val="00c896"/>
                </a:solidFill>
                <a:latin typeface="Avenir Next Condensed"/>
              </a:rPr>
              <a:t>El modelo cumple los 9 criterios de éxito definidos en CRISP-ML(Q)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2" name="Rectangle 16"/>
          <p:cNvSpPr/>
          <p:nvPr/>
        </p:nvSpPr>
        <p:spPr>
          <a:xfrm>
            <a:off x="1097280" y="3840480"/>
            <a:ext cx="2285640" cy="1188360"/>
          </a:xfrm>
          <a:prstGeom prst="rect">
            <a:avLst/>
          </a:prstGeom>
          <a:solidFill>
            <a:srgbClr val="1b2749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3" name="TextBox 17"/>
          <p:cNvSpPr/>
          <p:nvPr/>
        </p:nvSpPr>
        <p:spPr>
          <a:xfrm>
            <a:off x="1188720" y="3886200"/>
            <a:ext cx="210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000" spc="-1" strike="noStrike">
                <a:solidFill>
                  <a:srgbClr val="00c896"/>
                </a:solidFill>
                <a:latin typeface="Century Gothic"/>
              </a:rPr>
              <a:t>RMSE 0.6117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34" name="TextBox 18"/>
          <p:cNvSpPr/>
          <p:nvPr/>
        </p:nvSpPr>
        <p:spPr>
          <a:xfrm>
            <a:off x="1188720" y="4434840"/>
            <a:ext cx="2102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ffffff"/>
                </a:solidFill>
                <a:latin typeface="Avenir Next Condensed"/>
              </a:rPr>
              <a:t>g CH4/kg leche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5" name="Rectangle 19"/>
          <p:cNvSpPr/>
          <p:nvPr/>
        </p:nvSpPr>
        <p:spPr>
          <a:xfrm>
            <a:off x="3657600" y="3840480"/>
            <a:ext cx="2285640" cy="1188360"/>
          </a:xfrm>
          <a:prstGeom prst="rect">
            <a:avLst/>
          </a:prstGeom>
          <a:solidFill>
            <a:srgbClr val="1b2749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TextBox 20"/>
          <p:cNvSpPr/>
          <p:nvPr/>
        </p:nvSpPr>
        <p:spPr>
          <a:xfrm>
            <a:off x="3749040" y="3886200"/>
            <a:ext cx="210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000" spc="-1" strike="noStrike">
                <a:solidFill>
                  <a:srgbClr val="00c896"/>
                </a:solidFill>
                <a:latin typeface="Century Gothic"/>
              </a:rPr>
              <a:t>R2 0.9779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37" name="TextBox 21"/>
          <p:cNvSpPr/>
          <p:nvPr/>
        </p:nvSpPr>
        <p:spPr>
          <a:xfrm>
            <a:off x="3749040" y="4434840"/>
            <a:ext cx="2102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ffffff"/>
                </a:solidFill>
                <a:latin typeface="Avenir Next Condensed"/>
              </a:rPr>
              <a:t>97.8% precisión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8" name="Rectangle 22"/>
          <p:cNvSpPr/>
          <p:nvPr/>
        </p:nvSpPr>
        <p:spPr>
          <a:xfrm>
            <a:off x="6217920" y="3840480"/>
            <a:ext cx="2285640" cy="1188360"/>
          </a:xfrm>
          <a:prstGeom prst="rect">
            <a:avLst/>
          </a:prstGeom>
          <a:solidFill>
            <a:srgbClr val="1b2749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TextBox 23"/>
          <p:cNvSpPr/>
          <p:nvPr/>
        </p:nvSpPr>
        <p:spPr>
          <a:xfrm>
            <a:off x="6309360" y="3886200"/>
            <a:ext cx="210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000" spc="-1" strike="noStrike">
                <a:solidFill>
                  <a:srgbClr val="00c896"/>
                </a:solidFill>
                <a:latin typeface="Century Gothic"/>
              </a:rPr>
              <a:t>7.3 ms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40" name="TextBox 24"/>
          <p:cNvSpPr/>
          <p:nvPr/>
        </p:nvSpPr>
        <p:spPr>
          <a:xfrm>
            <a:off x="6309360" y="4434840"/>
            <a:ext cx="2102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ffffff"/>
                </a:solidFill>
                <a:latin typeface="Avenir Next Condensed"/>
              </a:rPr>
              <a:t>latencia real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1" name="Rectangle 25"/>
          <p:cNvSpPr/>
          <p:nvPr/>
        </p:nvSpPr>
        <p:spPr>
          <a:xfrm>
            <a:off x="8778240" y="3840480"/>
            <a:ext cx="2285640" cy="1188360"/>
          </a:xfrm>
          <a:prstGeom prst="rect">
            <a:avLst/>
          </a:prstGeom>
          <a:solidFill>
            <a:srgbClr val="1b2749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TextBox 26"/>
          <p:cNvSpPr/>
          <p:nvPr/>
        </p:nvSpPr>
        <p:spPr>
          <a:xfrm>
            <a:off x="8869680" y="3886200"/>
            <a:ext cx="210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MX" sz="2000" spc="-1" strike="noStrike">
                <a:solidFill>
                  <a:srgbClr val="00c896"/>
                </a:solidFill>
                <a:latin typeface="Century Gothic"/>
              </a:rPr>
              <a:t>ROI 149%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43" name="TextBox 27"/>
          <p:cNvSpPr/>
          <p:nvPr/>
        </p:nvSpPr>
        <p:spPr>
          <a:xfrm>
            <a:off x="8869680" y="4434840"/>
            <a:ext cx="2102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200" spc="-1" strike="noStrike">
                <a:solidFill>
                  <a:srgbClr val="ffffff"/>
                </a:solidFill>
                <a:latin typeface="Avenir Next Condensed"/>
              </a:rPr>
              <a:t>primer año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4" name="TextBox 28"/>
          <p:cNvSpPr/>
          <p:nvPr/>
        </p:nvSpPr>
        <p:spPr>
          <a:xfrm>
            <a:off x="365760" y="5394960"/>
            <a:ext cx="115210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MX" sz="1300" spc="-1" strike="noStrike">
                <a:solidFill>
                  <a:srgbClr val="d4a017"/>
                </a:solidFill>
                <a:latin typeface="Avenir Next Condensed"/>
              </a:rPr>
              <a:t>Equipo 48  |  Machine Learning  |  Tecnológico de Monterrey  |  Junio 2026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45" name="Rectángulo 2"/>
          <p:cNvSpPr/>
          <p:nvPr/>
        </p:nvSpPr>
        <p:spPr>
          <a:xfrm>
            <a:off x="2115360" y="99000"/>
            <a:ext cx="10069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15000"/>
              </a:lnSpc>
              <a:buNone/>
            </a:pPr>
            <a:r>
              <a:rPr b="0" lang="es-MX" sz="1400" spc="-1" strike="noStrike">
                <a:solidFill>
                  <a:srgbClr val="ffffff"/>
                </a:solidFill>
                <a:latin typeface="Gellix"/>
                <a:ea typeface="Fira Sans Extra Condensed"/>
              </a:rPr>
              <a:t>Identificación espacio-temporal de compuestos nutracéuticos en ganado lechero mediante inteligencia artificial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2024-03-01T23:41:35Z</dcterms:created>
  <dc:creator>Grettel Barceló Alonso</dc:creator>
  <dc:description/>
  <dc:language>en-US</dc:language>
  <cp:lastModifiedBy/>
  <dcterms:modified xsi:type="dcterms:W3CDTF">2026-06-19T10:56:51Z</dcterms:modified>
  <cp:revision>17</cp:revision>
  <dc:subject/>
  <dc:title>Nombre del proyecto  Empresa / Organización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r8>14</vt:r8>
  </property>
</Properties>
</file>